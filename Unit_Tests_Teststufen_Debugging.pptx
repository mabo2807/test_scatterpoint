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Heute nehme ich euch mit in ein Thema, das in der Softwareentwicklung jeden Tag eine Rolle spielt: Testen und Debugging. Jeder, der schon einmal programmiert hat, kennt das Gefühl: Der Code sieht gut aus, er läuft – und trotzdem steckt irgendwo ein Fehler drin. Genau darum geht es heute: Wie finden wir solche Fehler systematisch, und zwar möglichst bevor sie Schaden anrichten?
Wir schauen uns dafür drei große Bausteine an: Erstens Unit Tests, also das Testen der kleinsten Codeeinheiten. Zweitens die weiteren Teststufen, die immer größere Teile des Systems prüfen – bis hin zum Abnahmetest. Und drittens das Debugging, also die gezielte Suche nach der Fehlerursache.
Kleiner Hinweis zur Orientierung: Unten auf jeder Folie seht ihr eine Navigationsleiste mit den fünf Stationen des Vortrags. Der hervorgehobene Punkt zeigt euch jederzeit, wo wir gerade sind. Los geht es mit der Grundfrage: Warum testen wir überhaupt?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Fangen wir ganz vorne an: Warum überhaupt testen? Vielleicht denkt der ein oder andere: „Ich programmiere einfach sorgfältig, dann brauche ich keine Tests.“ Die Realität sieht anders aus: Fehler beim Programmieren sind völlig normal – sie passieren jedem, auch sehr erfahrenen Entwicklern. Die Frage ist also nicht, OB Fehler entstehen, sondern WANN wir sie finden.
Und genau da helfen Tests. Sie entdecken Fehler früh, am besten schon während der Entwicklung – dort sind sie am billigsten zu beheben. Ein Fehler, der erst beim Kunden im Betrieb auffällt, kostet ein Vielfaches an Zeit, Geld und Vertrauen.
Schaut euch das Beispiel rechts an: Ein Entwickler ändert eine Stelle im Code, zum Beispiel für ein neues Feature. Dabei geht unbemerkt etwas kaputt, das vorher funktioniert hat – so etwas nennt man Regression. Ohne Tests fällt das vielleicht erst Wochen später auf. Mit Tests passiert Folgendes: Ich führe nach meiner Änderung einfach alle Tests aus, und der betroffene Test schlägt sofort fehl. Ich weiß also innerhalb von Sekunden: Meine Änderung hat etwas beschädigt – und kann es direkt reparieren.
Tests sind damit wie ein Sicherheitsnetz: Sie geben uns den Mut, Code zu verändern und zu verbessern, ohne Angst haben zu müssen, unbemerkt etwas zu zerstören. Schauen wir uns jetzt die kleinste Form dieser Tests an: den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Kommen wir zum ersten großen Baustein: den Unit Tests. Das Wort „Unit“ bedeutet Einheit – gemeint ist die kleinste sinnvoll testbare Einheit unseres Programms. In der Praxis ist das meistens eine einzelne Methode oder Funktion, manchmal auch eine kleine Klasse.
Die Grafik zeigt den Grundgedanken: Wir zoomen sozusagen in die Anwendung hinein. Ganz links die gesamte Anwendung – zum Beispiel ein Onlineshop. Darin eine einzelne Klasse, etwa der Warenkorb. Und darin eine einzelne Methode, zum Beispiel eine Berechnung. Genau diese eine Methode nimmt sich der Unit Test vor – nicht mehr und nicht weniger.
Wichtig ist dabei das Prinzip der Isolation: Ein Unit Test soll wirklich nur diese eine Einheit prüfen – ohne Datenbank, ohne Netzwerk, ohne andere Komponenten. Warum ist das so wichtig? Wenn der Test fehlschlägt, will ich sicher sein, dass der Fehler in genau dieser Methode liegt und nicht irgendwo anders im System. Je isolierter der Test, desto präziser zeigt er auf die Fehlerquelle – wie ein Fingerzeig direkt auf die kaputte Stelle.
Das klingt jetzt noch etwas abstrakt – schauen wir uns so einen Unit Test deshalb einmal ganz konkret im Code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seht ihr ein bewusst einfaches Beispiel in C#. Links der Produktivcode: eine Methode Addieren, die zwei ganze Zahlen entgegennimmt und ihre Summe zurückgibt. Rechts daneben der zugehörige Unit Test – gehen wir ihn einmal durch.
Ganz oben steht das Attribut [Test]. Das ist eine Markierung für das Test-Framework, zum Beispiel NUnit. Sie sagt: „Diese Methode ist ein Test – führe sie beim Testlauf automatisch aus.“
Der Methodenname ist bewusst sprechend gewählt: Addieren_2Und3_Ergibt5. Man liest sofort: Was wird getestet, mit welchen Werten, und welches Ergebnis erwarten wir. Im Test rufen wir dann Addieren mit 2 und 3 auf und speichern das Ergebnis.
Dann kommt die entscheidende Zeile: das Assert. „To assert“ heißt so viel wie „behaupten“ oder „sicherstellen“. Assert.AreEqual(5, ergebnis) bedeutet: Ich behaupte, dass das Ergebnis 5 ist. Das Framework vergleicht den erwarteten Wert mit dem tatsächlichen. Stimmen beide überein, ist der Test grün – bestanden. Weichen sie ab, schlägt der Test fehl, mit einer klaren Meldung: „erwartet 5, tatsächlich war es etwas anderes.“
Das ist das Grundprinzip jedes Unit Tests: bekannte Eingabe hinein, tatsächliches Ergebnis mit dem erwarteten vergleichen. Damit solche Tests immer gleich aufgebaut und gut lesbar sind, gibt es ein bewährtes Schema – das AAA-Prinzip.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 steht für Arrange, Act, Assert – drei Schritte, die fast jeder Unit Test durchläuft. Die Farben der drei Karten findet ihr unten im Code als Kommentare wieder.
Erstens: Arrange, auf Deutsch etwa „vorbereiten“. Hier legen wir alles an, was der Test braucht – Testdaten, Variablen, Objekte. In unserem Beispiel sind das einfach die Werte 5 und 10.
Zweitens: Act, also „handeln“. Jetzt führen wir genau die eine Aktion aus, die wir testen wollen – hier der Aufruf von Addieren. Idealerweise ist das wirklich nur ein einziger Methodenaufruf.
Drittens: Assert, „überprüfen“. Wir vergleichen das tatsächliche Ergebnis mit unserer Erwartung – in diesem Fall 15.
Der große Vorteil dieses Musters ist die Lesbarkeit: Jeder im Team kann jeden Test sofort verstehen, weil immer klar ist, wo die Vorbereitung steht, wo die Aktion passiert und wo geprüft wird. Gerade wenn ein Projekt hunderte Tests hat, ist diese Einheitlichkeit Gold wert. Und wenn ein Test fehlschlägt, findet man sich sofort zurecht.
Jetzt wissen wir, wie ein Unit Test aufgebaut ist. Aber was unterscheidet einen guten Test von einem schlechten? Das schauen wir uns als Nächstes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jeder Test ist automatisch ein guter Test. Diese sechs Eigenschaften machen einen guten Unit Test aus.
Schnell: Ein Unit Test läuft in Millisekunden. Nur dann kann ich hunderte Tests nach jeder kleinen Änderung ausführen, ohne dass es nervt.
Unabhängig: Er braucht keine Datenbank, kein Netzwerk und hängt nicht von anderen Tests ab – jeder Test läuft für sich allein, in beliebiger Reihenfolge.
Wiederholbar: Egal ob ich ihn heute, morgen oder tausendmal hintereinander ausführe – das Ergebnis ist immer dasselbe. Ein Test, der mal rot und mal grün ist, ohne dass sich der Code geändert hat, ist wertlos – ihm vertraut irgendwann niemand mehr.
Eindeutig: Es gibt nur bestanden oder fehlgeschlagen, kein „vielleicht“ und keine Interpretation.
Verständlich: Schon der Testname verrät, was geprüft wird – wie vorhin bei Addieren_2Und3_Ergibt5.
Und fokussiert: Ein Test prüft genau einen Sachverhalt. Der Grund ist praktisch: Wenn er fehlschlägt, weiß ich sofort, WAS kaputt ist – und muss nicht erst rätseln, welcher von fünf gleichzeitig geprüften Fällen es war.
Eine Sache fehlt aber noch: WAS sollte man eigentlich alles testen? Nur den Normalfall? Eben nicht – und das zeigt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typischer Anfängerfehler beim Testen: Man testet nur den Normalfall – also den Fall, in dem sowieso alles gut geht. Viel spannender sind aber die Grenzfälle.
Nehmen wir eine einfache Division. 10 geteilt durch 2 ist 5 – das ist der Normalfall, keine Überraschung. Aber was ist mit 0 geteilt durch 2? Funktioniert die Methode auch mit negativen Zahlen, also minus 10 durch 2? Und jetzt der wichtigste Fall: 10 geteilt durch 0. Das ist mathematisch nicht definiert – und ohne eine saubere Behandlung stürzt das Programm an dieser Stelle schlicht ab.
Ein guter Test prüft deshalb genau das: Reagiert meine Methode hier kontrolliert – zum Beispiel mit einer verständlichen Fehlermeldung – statt einfach abzustürzen? Der Test zwingt mich als Entwickler also dazu, über diesen Fall überhaupt erst nachzudenken.
Die Erfahrung zeigt: Die meisten Fehler in echter Software passieren genau an solchen Rändern – bei null, bei leeren Eingaben, bei negativen Werten, bei ungültigen Daten. Wer nur den Idealfall testet, testet am eigentlichen Risiko vorbei.
So – damit wissen wir, wie man einzelne Methoden gut testet. Aber reicht das für eine ganze Anwendung? Selbst wenn jede Methode für sich funktioniert, kann ihr Zusammenspiel schiefgehen. Deshalb gibt es weitere Teststufen – unsere nächste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einer echten Anwendung reicht es nicht, nur einzelne Methoden zu testen. Denn selbst wenn jede Methode für sich perfekt funktioniert, kann das Zusammenspiel trotzdem schiefgehen. Deshalb gibt es aufeinander aufbauende Teststufen.
Die Basis kennen wir schon: der Unit Test. Er prüft eine einzelne Methode isoliert – berechnet Addieren richtig?
Eine Stufe darüber liegt der Integrationstest. Hier prüfen wir, ob mehrere Komponenten korrekt zusammenarbeiten. Das klassische Beispiel: Spricht mein Backend richtig mit der Datenbank? Werden Daten korrekt gespeichert und wieder ausgelesen? Beide Teile können einzeln einwandfrei funktionieren – und trotzdem passt die Verbindung nicht, etwa weil ein Datenformat nicht übereinstimmt. Genau solche Schnittstellenfehler findet der Integrationstest.
Die nächste Stufe ist der Systemtest. Jetzt wird die komplette Anwendung getestet, so wie sie später wirklich läuft – zum Beispiel der gesamte Ablauf vom Login über den Warenkorb bis zur abgeschlossenen Bestellung, aus Sicht eines echten Nutzers.
Und ganz oben steht der Abnahmetest. Hier geht es nicht mehr um Technik, sondern um die fachliche Sicht: Erfüllt die Software die vereinbarten Anforderungen? Kann der Kunde das Produkt so bestellen, wie es vereinbart wurde? Oft testet hier der Kunde selbst oder eine Fachabteilung – und erst wenn dieser Test bestanden ist, gilt die Software als abgenommen.
Man sieht: Von Stufe zu Stufe wird der Blick breiter – vom einzelnen Baustein bis zum fertigen Produkt.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sehen wir alle vier Stufen noch einmal im direkten Vergleich. Achtet vor allem auf die beiden mittleren Spalten: Testumfang und Geschwindigkeit – die hängen nämlich direkt zusammen.
Beim Unit Test ist der Umfang klein – eine einzelne Methode – und dafür ist er sehr schnell. Wir reden hier von Millisekunden pro Test; tausende Unit Tests laufen in wenigen Sekunden durch.
Beim Integrationstest sind schon mehrere Komponenten beteiligt, zum Beispiel Backend und Datenbank. Da muss vielleicht eine Testdatenbank gestartet werden – das dauert entsprechend länger.
Der Systemtest fährt die komplette Anwendung hoch und spielt echte Abläufe durch, oft sogar über die Benutzeroberfläche. Das ist deutlich langsamer und auch aufwendiger zu pflegen, denn jede Änderung an der Oberfläche kann den Test brechen.
Und der Abnahmetest ist keine rein technische Stufe: Hier zählt die fachliche Sicht des Kunden, und die Dauer hängt stark davon ab, wie und von wem getestet wird – manchmal automatisiert, oft auch manuell nach Testplan.
Die Faustregel aus dieser Tabelle: Je größer der Testumfang, desto langsamer und teurer der Test. Und genau aus dieser Beobachtung ergibt sich ein bekanntes Modell dafür, wie viele Tests man auf welcher Stufe haben sollte – die Testpyramide.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Testpyramide beschreibt, in welchem Verhältnis die Teststufen in einem gesunden Projekt stehen sollten.
Unten, ganz breit: viele Unit Tests. Sie sind schnell, günstig und leicht zu automatisieren – deshalb kann und sollte man sich davon viele leisten, oft hunderte oder tausende. Sie bilden das Fundament.
In der Mitte: weniger Integrationstests. Sie sichern die wichtigsten Schnittstellen ab, zum Beispiel die Verbindung zur Datenbank.
Und an der Spitze: nur wenige System- oder End-to-End-Tests für die wirklich zentralen Abläufe – zum Beispiel den kompletten Bestellprozess.
Warum diese Form? Ganz pragmatisch: Ein Systemtest ist komplex, langsam und geht schnell kaputt, wenn sich Kleinigkeiten an der Oberfläche ändern. Würde ich alles über Systemtests absichern, würde jeder Testlauf Stunden dauern – und Tests, die Stunden dauern, führt in der Praxis niemand regelmäßig aus. Unit Tests dagegen laufen in Sekunden nebenbei, nach jeder Änderung.
Deshalb die Regel: Die Masse der Absicherung passiert unten in der Pyramide, die teuren großen Tests setzt man gezielt und sparsam ein.
Damit haben wir das Testen komplett durch. Aber jetzt die entscheidende Frage: Was passiert eigentlich, wenn ein Test tatsächlich fehlschlägt? Dann beginnt die Detektivarbeit – das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Stellen wir uns also vor: Ein Test schlägt fehl. Was jetzt? Hier ist eine Unterscheidung wichtig, die gerne durcheinandergerät: Testing und Debugging beantworten zwei völlig unterschiedliche Fragen.
Ein Test beantwortet nur die Frage: Gibt es einen Fehler? Ja oder nein. Schaut auf das Beispiel unten: Der Test erwartet 15, tatsächlich kommt 10 heraus. Der Test wird rot und sagt mir: Da stimmt etwas nicht.
Aber – und das ist der entscheidende Punkt – der Test sagt mir nicht, WARUM. Liegt es an einer falsch belegten Variablen? An einer vertauschten Rechenoperation? Geht irgendwo unterwegs ein Wert verloren? Das weiß der Test nicht.
Genau hier beginnt das Debugging: die systematische Suche nach dem Ort und der Ursache eines Fehlers. Kleine Randnotiz: „Bug“ ist das englische Wort für Käfer und steht seit Jahrzehnten für einen Programmfehler – Debugging heißt also wörtlich „entwanzen“.
Und wichtig: Debugging bedeutet nicht, wild Vermutungen anzustellen oder den Code mit Konsolenausgaben vollzustopfen. Dafür gibt es ein richtig mächtiges Werkzeug, das in jeder modernen Entwicklungsumgebung eingebaut ist: den Debugger. Den schauen wir uns jetzt genauer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Debugger steckt in jeder modernen Entwicklungsumgebung – zum Beispiel in Visual Studio. Die Grundidee: Ich kann mein Programm anhalten und dann in Zeitlupe, Zeile für Zeile, bei der Arbeit beobachten.
Links seht ihr ein kleines Beispiel. Das wichtigste Werkzeug ist der Breakpoint – der rote Punkt am Zeilenrand. Damit markiere ich eine Zeile, und sobald das Programm sie erreicht, hält es an. Es ist dann sozusagen mitten in der Ausführung eingefroren.
Jetzt kann ich in Ruhe nachsehen: Welche Werte haben meine Variablen in genau diesem Moment? Dafür gibt es das Watch-Fenster – hier unten sehen wir live: preis ist 10, menge ist 3, und gesamt wurde noch nicht berechnet.
Ab dem Breakpoint steuere ich das Programm dann schrittweise weiter. Step Over führt die aktuelle Zeile aus und geht zur nächsten – steckt in der Zeile ein Methodenaufruf, wird er komplett ausgeführt, ohne dass ich hineinschaue. Step Into macht das Gegenteil: Es springt in die aufgerufene Methode hinein – das nutze ich, wenn ich vermute, dass der Fehler genau dort drinsteckt. Mit Step Out verlasse ich die aktuelle Methode wieder und lande beim Aufrufer.
Und der Call Stack schließlich zeigt mir die komplette Aufrufkette: Welche Methode hat welche aufgerufen, bis das Programm an dieser Stelle gelandet ist? Das ist besonders wertvoll, wenn der Fehler tief in verschachtelten Aufrufen sitzt.
Mit diesen Werkzeugen finde ich Schritt für Schritt den Moment, in dem aus einem richtigen Wert ein falscher wird – und damit die Ursache des Fehlers.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damit schließt sich der Kreis – im wahrsten Sinne des Wortes. So sieht der Arbeitsalltag in der Softwareentwicklung aus:
Ich schreibe Code und führe danach die Tests aus. Schlägt ein Test fehl, weiß ich sofort: Es gibt ein Problem. Jetzt setze ich einen Breakpoint an der verdächtigen Stelle und starte den Debugger – ich verfolge die Ausführung Schritt für Schritt, finde den Fehler und verstehe seine Ursache. Dann behebe ich ihn.
Und jetzt kommt ein Schritt, der gerne vergessen wird: Danach führe ich die Tests ERNEUT aus. Erst wenn sie grün sind, weiß ich zwei Dinge: Erstens, meine Korrektur funktioniert wirklich. Und zweitens, ich habe beim Reparieren nichts anderes kaputt gemacht – das prüfen ja alle übrigen Tests gleich mit.
Dann geht es weiter mit dem nächsten Stück Code, und der Kreislauf beginnt von vorn. Genau so entsteht Stück für Stück verlässliche Software.
Testing und Debugging sind also keine Konkurrenten, sondern ein eingespieltes Team mit klarer Arbeitsteilung – der Satz unten bringt es auf den Punkt: Tests finden Probleme, Debugging findet die Ursache.
Kommen wir zum Schluss und fassen alles noch einmal zusammen.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Fassen wir zusammen, was wir heute gesehen haben.
Unit Tests prüfen die kleinsten Bausteine unserer Software – einzelne Methoden, isoliert und blitzschnell, sauber aufgebaut nach dem AAA-Prinzip: Arrange, Act, Assert. Und sie testen nicht nur den Normalfall, sondern gerade auch die Grenzfälle.
Die weiteren Teststufen – Integrationstest, Systemtest und Abnahmetest – weiten den Blick Schritt für Schritt: vom Zusammenspiel einzelner Komponenten über die komplette Anwendung bis zur Frage, ob das Produkt die Anforderungen des Kunden erfüllt. Die Testpyramide sagt uns dabei, in welchem Verhältnis: viele kleine, schnelle Tests unten – wenige große, teure oben.
Automatisierte Tests sind unser dauerhaftes Sicherheitsnetz: Sie laufen nach jeder Änderung mit und schützen uns vor Regressionen – also davor, dass Neues unbemerkt Altes kaputt macht.
Und wenn ein Test anschlägt, übernimmt das Debugging: Mit Breakpoints, schrittweiser Ausführung, dem Watch-Fenster und dem Call Stack finden wir gezielt die Ursache statt nur das Symptom.
Wenn ihr euch einen einzigen Satz aus diesem Vortrag merkt, dann diesen: Tests zeigen uns, DASS etwas nicht funktioniert – Debugging hilft uns herauszufinden, WARUM.
Vielen Dank fürs Zuhören – ich freue mich auf eure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0"/>
        </a:solidFill>
      </p:bgPr>
    </p:bg>
    <p:spTree>
      <p:nvGrpSpPr>
        <p:cNvPr id="1" name=""/>
        <p:cNvGrpSpPr/>
        <p:nvPr/>
      </p:nvGrpSpPr>
      <p:grpSpPr>
        <a:xfrm>
          <a:off x="0" y="0"/>
          <a:ext cx="0" cy="0"/>
          <a:chOff x="0" y="0"/>
          <a:chExt cx="0" cy="0"/>
        </a:xfrm>
      </p:grpSpPr>
      <p:sp>
        <p:nvSpPr>
          <p:cNvPr id="2" name="Shape 0"/>
          <p:cNvSpPr/>
          <p:nvPr/>
        </p:nvSpPr>
        <p:spPr>
          <a:xfrm>
            <a:off x="-1097280" y="-1371600"/>
            <a:ext cx="5029200" cy="5029200"/>
          </a:xfrm>
          <a:prstGeom prst="roundRect">
            <a:avLst>
              <a:gd name="adj" fmla="val 7273"/>
            </a:avLst>
          </a:prstGeom>
          <a:solidFill>
            <a:srgbClr val="38BDF8">
              <a:alpha val="4000"/>
            </a:srgbClr>
          </a:solidFill>
          <a:ln/>
        </p:spPr>
      </p:sp>
      <p:sp>
        <p:nvSpPr>
          <p:cNvPr id="3" name="Shape 1"/>
          <p:cNvSpPr/>
          <p:nvPr/>
        </p:nvSpPr>
        <p:spPr>
          <a:xfrm>
            <a:off x="8961120" y="3840480"/>
            <a:ext cx="5029200" cy="5029200"/>
          </a:xfrm>
          <a:prstGeom prst="roundRect">
            <a:avLst>
              <a:gd name="adj" fmla="val 7273"/>
            </a:avLst>
          </a:prstGeom>
          <a:solidFill>
            <a:srgbClr val="818CF8">
              <a:alpha val="4000"/>
            </a:srgbClr>
          </a:solidFill>
          <a:ln/>
        </p:spPr>
      </p:sp>
      <p:sp>
        <p:nvSpPr>
          <p:cNvPr id="4" name="Shape 2"/>
          <p:cNvSpPr/>
          <p:nvPr/>
        </p:nvSpPr>
        <p:spPr>
          <a:xfrm>
            <a:off x="4161892" y="1417320"/>
            <a:ext cx="713232" cy="713232"/>
          </a:xfrm>
          <a:prstGeom prst="ellipse">
            <a:avLst/>
          </a:prstGeom>
          <a:solidFill>
            <a:srgbClr val="1B2A3D"/>
          </a:solidFill>
          <a:ln w="12700">
            <a:solidFill>
              <a:srgbClr val="2B3B52"/>
            </a:solidFill>
            <a:prstDash val="solid"/>
          </a:ln>
        </p:spPr>
      </p:sp>
      <p:pic>
        <p:nvPicPr>
          <p:cNvPr id="5" name="Image 0" descr="/tmp/claude-0/-home-user-Test-Scatterpoint/4a189312-3458-5f65-a7f5-9710b6e532c7/scratchpad/icons/code.png">    </p:cNvPr>
          <p:cNvPicPr>
            <a:picLocks noChangeAspect="1"/>
          </p:cNvPicPr>
          <p:nvPr/>
        </p:nvPicPr>
        <p:blipFill>
          <a:blip r:embed="rId1"/>
          <a:stretch>
            <a:fillRect/>
          </a:stretch>
        </p:blipFill>
        <p:spPr>
          <a:xfrm>
            <a:off x="4347332" y="1602760"/>
            <a:ext cx="342351" cy="342351"/>
          </a:xfrm>
          <a:prstGeom prst="rect">
            <a:avLst/>
          </a:prstGeom>
        </p:spPr>
      </p:pic>
      <p:sp>
        <p:nvSpPr>
          <p:cNvPr id="6" name="Shape 3"/>
          <p:cNvSpPr/>
          <p:nvPr/>
        </p:nvSpPr>
        <p:spPr>
          <a:xfrm>
            <a:off x="5213452" y="1417320"/>
            <a:ext cx="713232" cy="713232"/>
          </a:xfrm>
          <a:prstGeom prst="ellipse">
            <a:avLst/>
          </a:prstGeom>
          <a:solidFill>
            <a:srgbClr val="1B2A3D"/>
          </a:solidFill>
          <a:ln w="12700">
            <a:solidFill>
              <a:srgbClr val="2B3B52"/>
            </a:solidFill>
            <a:prstDash val="solid"/>
          </a:ln>
        </p:spPr>
      </p:sp>
      <p:pic>
        <p:nvPicPr>
          <p:cNvPr id="7" name="Image 1" descr="/tmp/claude-0/-home-user-Test-Scatterpoint/4a189312-3458-5f65-a7f5-9710b6e532c7/scratchpad/icons/checkGreen.png">    </p:cNvPr>
          <p:cNvPicPr>
            <a:picLocks noChangeAspect="1"/>
          </p:cNvPicPr>
          <p:nvPr/>
        </p:nvPicPr>
        <p:blipFill>
          <a:blip r:embed="rId2"/>
          <a:stretch>
            <a:fillRect/>
          </a:stretch>
        </p:blipFill>
        <p:spPr>
          <a:xfrm>
            <a:off x="5398892" y="1602760"/>
            <a:ext cx="342351" cy="342351"/>
          </a:xfrm>
          <a:prstGeom prst="rect">
            <a:avLst/>
          </a:prstGeom>
        </p:spPr>
      </p:pic>
      <p:sp>
        <p:nvSpPr>
          <p:cNvPr id="8" name="Shape 4"/>
          <p:cNvSpPr/>
          <p:nvPr/>
        </p:nvSpPr>
        <p:spPr>
          <a:xfrm>
            <a:off x="6265012" y="1417320"/>
            <a:ext cx="713232" cy="713232"/>
          </a:xfrm>
          <a:prstGeom prst="ellipse">
            <a:avLst/>
          </a:prstGeom>
          <a:solidFill>
            <a:srgbClr val="1B2A3D"/>
          </a:solidFill>
          <a:ln w="12700">
            <a:solidFill>
              <a:srgbClr val="2B3B52"/>
            </a:solidFill>
            <a:prstDash val="solid"/>
          </a:ln>
        </p:spPr>
      </p:sp>
      <p:pic>
        <p:nvPicPr>
          <p:cNvPr id="9" name="Image 2" descr="/tmp/claude-0/-home-user-Test-Scatterpoint/4a189312-3458-5f65-a7f5-9710b6e532c7/scratchpad/icons/bugRed.png">    </p:cNvPr>
          <p:cNvPicPr>
            <a:picLocks noChangeAspect="1"/>
          </p:cNvPicPr>
          <p:nvPr/>
        </p:nvPicPr>
        <p:blipFill>
          <a:blip r:embed="rId3"/>
          <a:stretch>
            <a:fillRect/>
          </a:stretch>
        </p:blipFill>
        <p:spPr>
          <a:xfrm>
            <a:off x="6450452" y="1602760"/>
            <a:ext cx="342351" cy="342351"/>
          </a:xfrm>
          <a:prstGeom prst="rect">
            <a:avLst/>
          </a:prstGeom>
        </p:spPr>
      </p:pic>
      <p:sp>
        <p:nvSpPr>
          <p:cNvPr id="10" name="Shape 5"/>
          <p:cNvSpPr/>
          <p:nvPr/>
        </p:nvSpPr>
        <p:spPr>
          <a:xfrm>
            <a:off x="7316572" y="1417320"/>
            <a:ext cx="713232" cy="713232"/>
          </a:xfrm>
          <a:prstGeom prst="ellipse">
            <a:avLst/>
          </a:prstGeom>
          <a:solidFill>
            <a:srgbClr val="1B2A3D"/>
          </a:solidFill>
          <a:ln w="12700">
            <a:solidFill>
              <a:srgbClr val="2B3B52"/>
            </a:solidFill>
            <a:prstDash val="solid"/>
          </a:ln>
        </p:spPr>
      </p:sp>
      <p:pic>
        <p:nvPicPr>
          <p:cNvPr id="11" name="Image 3" descr="/tmp/claude-0/-home-user-Test-Scatterpoint/4a189312-3458-5f65-a7f5-9710b6e532c7/scratchpad/icons/search.png">    </p:cNvPr>
          <p:cNvPicPr>
            <a:picLocks noChangeAspect="1"/>
          </p:cNvPicPr>
          <p:nvPr/>
        </p:nvPicPr>
        <p:blipFill>
          <a:blip r:embed="rId4"/>
          <a:stretch>
            <a:fillRect/>
          </a:stretch>
        </p:blipFill>
        <p:spPr>
          <a:xfrm>
            <a:off x="7502012" y="1602760"/>
            <a:ext cx="342351" cy="342351"/>
          </a:xfrm>
          <a:prstGeom prst="rect">
            <a:avLst/>
          </a:prstGeom>
        </p:spPr>
      </p:pic>
      <p:sp>
        <p:nvSpPr>
          <p:cNvPr id="12" name="Text 6"/>
          <p:cNvSpPr/>
          <p:nvPr/>
        </p:nvSpPr>
        <p:spPr>
          <a:xfrm>
            <a:off x="914400" y="2514600"/>
            <a:ext cx="10362895" cy="1554480"/>
          </a:xfrm>
          <a:prstGeom prst="rect">
            <a:avLst/>
          </a:prstGeom>
          <a:noFill/>
          <a:ln/>
        </p:spPr>
        <p:txBody>
          <a:bodyPr wrap="square" lIns="0" tIns="0" rIns="0" bIns="0" rtlCol="0" anchor="ctr"/>
          <a:lstStyle/>
          <a:p>
            <a:pPr algn="ctr" indent="0" marL="0">
              <a:lnSpc>
                <a:spcPct val="105000"/>
              </a:lnSpc>
              <a:buNone/>
            </a:pPr>
            <a:r>
              <a:rPr lang="en-US" sz="3800" b="1" dirty="0">
                <a:solidFill>
                  <a:srgbClr val="F1F5F9"/>
                </a:solidFill>
                <a:latin typeface="Calibri" pitchFamily="34" charset="0"/>
                <a:ea typeface="Calibri" pitchFamily="34" charset="-122"/>
                <a:cs typeface="Calibri" pitchFamily="34" charset="-120"/>
              </a:rPr>
              <a:t>Unit Tests, weitere Teststufen</a:t>
            </a:r>
            <a:endParaRPr lang="en-US" sz="3800" dirty="0"/>
          </a:p>
          <a:p>
            <a:pPr algn="ctr" indent="0" marL="0">
              <a:lnSpc>
                <a:spcPct val="105000"/>
              </a:lnSpc>
              <a:buNone/>
            </a:pPr>
            <a:r>
              <a:rPr lang="en-US" sz="3800" b="1" dirty="0">
                <a:solidFill>
                  <a:srgbClr val="F1F5F9"/>
                </a:solidFill>
                <a:latin typeface="Calibri" pitchFamily="34" charset="0"/>
                <a:ea typeface="Calibri" pitchFamily="34" charset="-122"/>
                <a:cs typeface="Calibri" pitchFamily="34" charset="-120"/>
              </a:rPr>
              <a:t>und Debugging</a:t>
            </a:r>
            <a:endParaRPr lang="en-US" sz="3800" dirty="0"/>
          </a:p>
        </p:txBody>
      </p:sp>
      <p:sp>
        <p:nvSpPr>
          <p:cNvPr id="13" name="Text 7"/>
          <p:cNvSpPr/>
          <p:nvPr/>
        </p:nvSpPr>
        <p:spPr>
          <a:xfrm>
            <a:off x="1371600" y="4206240"/>
            <a:ext cx="9448495" cy="411480"/>
          </a:xfrm>
          <a:prstGeom prst="rect">
            <a:avLst/>
          </a:prstGeom>
          <a:noFill/>
          <a:ln/>
        </p:spPr>
        <p:txBody>
          <a:bodyPr wrap="square" lIns="0" tIns="0" rIns="0" bIns="0" rtlCol="0" anchor="ctr"/>
          <a:lstStyle/>
          <a:p>
            <a:pPr algn="ctr" indent="0" marL="0">
              <a:buNone/>
            </a:pPr>
            <a:r>
              <a:rPr lang="en-US" sz="1700" dirty="0">
                <a:solidFill>
                  <a:srgbClr val="94A3B8"/>
                </a:solidFill>
                <a:latin typeface="Calibri" pitchFamily="34" charset="0"/>
                <a:ea typeface="Calibri" pitchFamily="34" charset="-122"/>
                <a:cs typeface="Calibri" pitchFamily="34" charset="-120"/>
              </a:rPr>
              <a:t>Wie Software getestet und Fehler systematisch gefunden werden</a:t>
            </a:r>
            <a:endParaRPr lang="en-US" sz="1700" dirty="0"/>
          </a:p>
        </p:txBody>
      </p:sp>
      <p:sp>
        <p:nvSpPr>
          <p:cNvPr id="14" name="Shape 8"/>
          <p:cNvSpPr/>
          <p:nvPr/>
        </p:nvSpPr>
        <p:spPr>
          <a:xfrm>
            <a:off x="5541264" y="4892040"/>
            <a:ext cx="1097280" cy="0"/>
          </a:xfrm>
          <a:prstGeom prst="line">
            <a:avLst/>
          </a:prstGeom>
          <a:noFill/>
          <a:ln w="12700">
            <a:solidFill>
              <a:srgbClr val="2B3B52"/>
            </a:solidFill>
            <a:prstDash val="solid"/>
          </a:ln>
        </p:spPr>
      </p:sp>
      <p:sp>
        <p:nvSpPr>
          <p:cNvPr id="15" name="Text 9"/>
          <p:cNvSpPr/>
          <p:nvPr/>
        </p:nvSpPr>
        <p:spPr>
          <a:xfrm>
            <a:off x="2286000" y="5074920"/>
            <a:ext cx="7619695" cy="320040"/>
          </a:xfrm>
          <a:prstGeom prst="rect">
            <a:avLst/>
          </a:prstGeom>
          <a:noFill/>
          <a:ln/>
        </p:spPr>
        <p:txBody>
          <a:bodyPr wrap="square" lIns="0" tIns="0" rIns="0" bIns="0" rtlCol="0" anchor="ctr"/>
          <a:lstStyle/>
          <a:p>
            <a:pPr algn="ctr" indent="0" marL="0">
              <a:buNone/>
            </a:pPr>
            <a:r>
              <a:rPr lang="en-US" sz="1200" dirty="0">
                <a:solidFill>
                  <a:srgbClr val="5A6B82"/>
                </a:solidFill>
                <a:latin typeface="Calibri" pitchFamily="34" charset="0"/>
                <a:ea typeface="Calibri" pitchFamily="34" charset="-122"/>
                <a:cs typeface="Calibri" pitchFamily="34" charset="-120"/>
              </a:rPr>
              <a:t>Softwareentwicklung  ·  Fachinformatik Anwendungsentwicklung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01 · GRUNDLAGEN</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Warum testen wir Software?</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Shape 7"/>
          <p:cNvSpPr/>
          <p:nvPr/>
        </p:nvSpPr>
        <p:spPr>
          <a:xfrm>
            <a:off x="752826"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0" name="Shape 8"/>
          <p:cNvSpPr/>
          <p:nvPr/>
        </p:nvSpPr>
        <p:spPr>
          <a:xfrm>
            <a:off x="880842" y="6560820"/>
            <a:ext cx="64008" cy="64008"/>
          </a:xfrm>
          <a:prstGeom prst="ellipse">
            <a:avLst/>
          </a:prstGeom>
          <a:solidFill>
            <a:srgbClr val="38BDF8"/>
          </a:solidFill>
          <a:ln/>
        </p:spPr>
      </p:sp>
      <p:sp>
        <p:nvSpPr>
          <p:cNvPr id="11" name="Text 9"/>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01 Grundlagen</a:t>
            </a:r>
            <a:endParaRPr lang="en-US" sz="950" dirty="0"/>
          </a:p>
        </p:txBody>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Text 14"/>
          <p:cNvSpPr/>
          <p:nvPr/>
        </p:nvSpPr>
        <p:spPr>
          <a:xfrm>
            <a:off x="548640" y="1207008"/>
            <a:ext cx="5486400" cy="320040"/>
          </a:xfrm>
          <a:prstGeom prst="rect">
            <a:avLst/>
          </a:prstGeom>
          <a:noFill/>
          <a:ln/>
        </p:spPr>
        <p:txBody>
          <a:bodyPr wrap="square" lIns="0" tIns="0" rIns="0" bIns="0" rtlCol="0" anchor="ctr"/>
          <a:lstStyle/>
          <a:p>
            <a:pPr indent="0" marL="0">
              <a:buNone/>
            </a:pPr>
            <a:r>
              <a:rPr lang="en-US" sz="1400" i="1" dirty="0">
                <a:solidFill>
                  <a:srgbClr val="38BDF8"/>
                </a:solidFill>
                <a:latin typeface="Calibri" pitchFamily="34" charset="0"/>
                <a:ea typeface="Calibri" pitchFamily="34" charset="-122"/>
                <a:cs typeface="Calibri" pitchFamily="34" charset="-120"/>
              </a:rPr>
              <a:t>Warum überhaupt testen?</a:t>
            </a:r>
            <a:endParaRPr lang="en-US" sz="1400" dirty="0"/>
          </a:p>
        </p:txBody>
      </p:sp>
      <p:sp>
        <p:nvSpPr>
          <p:cNvPr id="17" name="Shape 15"/>
          <p:cNvSpPr/>
          <p:nvPr/>
        </p:nvSpPr>
        <p:spPr>
          <a:xfrm>
            <a:off x="548640" y="1691640"/>
            <a:ext cx="457200" cy="457200"/>
          </a:xfrm>
          <a:prstGeom prst="ellipse">
            <a:avLst/>
          </a:prstGeom>
          <a:solidFill>
            <a:srgbClr val="1B2A3D"/>
          </a:solidFill>
          <a:ln w="12700">
            <a:solidFill>
              <a:srgbClr val="2B3B52"/>
            </a:solidFill>
            <a:prstDash val="solid"/>
          </a:ln>
        </p:spPr>
      </p:sp>
      <p:pic>
        <p:nvPicPr>
          <p:cNvPr id="18" name="Image 0" descr="/tmp/claude-0/-home-user-Test-Scatterpoint/4a189312-3458-5f65-a7f5-9710b6e532c7/scratchpad/icons/checkCyan.png">    </p:cNvPr>
          <p:cNvPicPr>
            <a:picLocks noChangeAspect="1"/>
          </p:cNvPicPr>
          <p:nvPr/>
        </p:nvPicPr>
        <p:blipFill>
          <a:blip r:embed="rId1"/>
          <a:stretch>
            <a:fillRect/>
          </a:stretch>
        </p:blipFill>
        <p:spPr>
          <a:xfrm>
            <a:off x="667512" y="1810512"/>
            <a:ext cx="219456" cy="219456"/>
          </a:xfrm>
          <a:prstGeom prst="rect">
            <a:avLst/>
          </a:prstGeom>
        </p:spPr>
      </p:pic>
      <p:sp>
        <p:nvSpPr>
          <p:cNvPr id="19" name="Text 16"/>
          <p:cNvSpPr/>
          <p:nvPr/>
        </p:nvSpPr>
        <p:spPr>
          <a:xfrm>
            <a:off x="1188720" y="1655064"/>
            <a:ext cx="4937760" cy="292608"/>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Fehler früh erkennen</a:t>
            </a:r>
            <a:endParaRPr lang="en-US" sz="1550" dirty="0"/>
          </a:p>
        </p:txBody>
      </p:sp>
      <p:sp>
        <p:nvSpPr>
          <p:cNvPr id="20" name="Text 17"/>
          <p:cNvSpPr/>
          <p:nvPr/>
        </p:nvSpPr>
        <p:spPr>
          <a:xfrm>
            <a:off x="1188720" y="1947672"/>
            <a:ext cx="4937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je früher gefunden, desto einfacher behoben</a:t>
            </a:r>
            <a:endParaRPr lang="en-US" sz="1150" dirty="0"/>
          </a:p>
        </p:txBody>
      </p:sp>
      <p:sp>
        <p:nvSpPr>
          <p:cNvPr id="21" name="Shape 18"/>
          <p:cNvSpPr/>
          <p:nvPr/>
        </p:nvSpPr>
        <p:spPr>
          <a:xfrm>
            <a:off x="548640" y="2587752"/>
            <a:ext cx="457200" cy="457200"/>
          </a:xfrm>
          <a:prstGeom prst="ellipse">
            <a:avLst/>
          </a:prstGeom>
          <a:solidFill>
            <a:srgbClr val="1B2A3D"/>
          </a:solidFill>
          <a:ln w="12700">
            <a:solidFill>
              <a:srgbClr val="2B3B52"/>
            </a:solidFill>
            <a:prstDash val="solid"/>
          </a:ln>
        </p:spPr>
      </p:sp>
      <p:pic>
        <p:nvPicPr>
          <p:cNvPr id="22" name="Image 1" descr="/tmp/claude-0/-home-user-Test-Scatterpoint/4a189312-3458-5f65-a7f5-9710b6e532c7/scratchpad/icons/checkCyan.png">    </p:cNvPr>
          <p:cNvPicPr>
            <a:picLocks noChangeAspect="1"/>
          </p:cNvPicPr>
          <p:nvPr/>
        </p:nvPicPr>
        <p:blipFill>
          <a:blip r:embed="rId2"/>
          <a:stretch>
            <a:fillRect/>
          </a:stretch>
        </p:blipFill>
        <p:spPr>
          <a:xfrm>
            <a:off x="667512" y="2706624"/>
            <a:ext cx="219456" cy="219456"/>
          </a:xfrm>
          <a:prstGeom prst="rect">
            <a:avLst/>
          </a:prstGeom>
        </p:spPr>
      </p:pic>
      <p:sp>
        <p:nvSpPr>
          <p:cNvPr id="23" name="Text 19"/>
          <p:cNvSpPr/>
          <p:nvPr/>
        </p:nvSpPr>
        <p:spPr>
          <a:xfrm>
            <a:off x="1188720" y="2551176"/>
            <a:ext cx="4937760" cy="292608"/>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Qualität verbessern</a:t>
            </a:r>
            <a:endParaRPr lang="en-US" sz="1550" dirty="0"/>
          </a:p>
        </p:txBody>
      </p:sp>
      <p:sp>
        <p:nvSpPr>
          <p:cNvPr id="24" name="Text 20"/>
          <p:cNvSpPr/>
          <p:nvPr/>
        </p:nvSpPr>
        <p:spPr>
          <a:xfrm>
            <a:off x="1188720" y="2843784"/>
            <a:ext cx="4937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stabile und verlässliche Software</a:t>
            </a:r>
            <a:endParaRPr lang="en-US" sz="1150" dirty="0"/>
          </a:p>
        </p:txBody>
      </p:sp>
      <p:sp>
        <p:nvSpPr>
          <p:cNvPr id="25" name="Shape 21"/>
          <p:cNvSpPr/>
          <p:nvPr/>
        </p:nvSpPr>
        <p:spPr>
          <a:xfrm>
            <a:off x="548640" y="3483864"/>
            <a:ext cx="457200" cy="457200"/>
          </a:xfrm>
          <a:prstGeom prst="ellipse">
            <a:avLst/>
          </a:prstGeom>
          <a:solidFill>
            <a:srgbClr val="1B2A3D"/>
          </a:solidFill>
          <a:ln w="12700">
            <a:solidFill>
              <a:srgbClr val="2B3B52"/>
            </a:solidFill>
            <a:prstDash val="solid"/>
          </a:ln>
        </p:spPr>
      </p:sp>
      <p:pic>
        <p:nvPicPr>
          <p:cNvPr id="26" name="Image 2" descr="/tmp/claude-0/-home-user-Test-Scatterpoint/4a189312-3458-5f65-a7f5-9710b6e532c7/scratchpad/icons/checkCyan.png">    </p:cNvPr>
          <p:cNvPicPr>
            <a:picLocks noChangeAspect="1"/>
          </p:cNvPicPr>
          <p:nvPr/>
        </p:nvPicPr>
        <p:blipFill>
          <a:blip r:embed="rId3"/>
          <a:stretch>
            <a:fillRect/>
          </a:stretch>
        </p:blipFill>
        <p:spPr>
          <a:xfrm>
            <a:off x="667512" y="3602736"/>
            <a:ext cx="219456" cy="219456"/>
          </a:xfrm>
          <a:prstGeom prst="rect">
            <a:avLst/>
          </a:prstGeom>
        </p:spPr>
      </p:pic>
      <p:sp>
        <p:nvSpPr>
          <p:cNvPr id="27" name="Text 22"/>
          <p:cNvSpPr/>
          <p:nvPr/>
        </p:nvSpPr>
        <p:spPr>
          <a:xfrm>
            <a:off x="1188720" y="3447288"/>
            <a:ext cx="4937760" cy="292608"/>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Änderungen absichern</a:t>
            </a:r>
            <a:endParaRPr lang="en-US" sz="1550" dirty="0"/>
          </a:p>
        </p:txBody>
      </p:sp>
      <p:sp>
        <p:nvSpPr>
          <p:cNvPr id="28" name="Text 23"/>
          <p:cNvSpPr/>
          <p:nvPr/>
        </p:nvSpPr>
        <p:spPr>
          <a:xfrm>
            <a:off x="1188720" y="3739896"/>
            <a:ext cx="4937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Code anpassen, ohne Angst etwas zu zerstören</a:t>
            </a:r>
            <a:endParaRPr lang="en-US" sz="1150" dirty="0"/>
          </a:p>
        </p:txBody>
      </p:sp>
      <p:sp>
        <p:nvSpPr>
          <p:cNvPr id="29" name="Shape 24"/>
          <p:cNvSpPr/>
          <p:nvPr/>
        </p:nvSpPr>
        <p:spPr>
          <a:xfrm>
            <a:off x="548640" y="4379976"/>
            <a:ext cx="457200" cy="457200"/>
          </a:xfrm>
          <a:prstGeom prst="ellipse">
            <a:avLst/>
          </a:prstGeom>
          <a:solidFill>
            <a:srgbClr val="1B2A3D"/>
          </a:solidFill>
          <a:ln w="12700">
            <a:solidFill>
              <a:srgbClr val="2B3B52"/>
            </a:solidFill>
            <a:prstDash val="solid"/>
          </a:ln>
        </p:spPr>
      </p:sp>
      <p:pic>
        <p:nvPicPr>
          <p:cNvPr id="30" name="Image 3" descr="/tmp/claude-0/-home-user-Test-Scatterpoint/4a189312-3458-5f65-a7f5-9710b6e532c7/scratchpad/icons/checkCyan.png">    </p:cNvPr>
          <p:cNvPicPr>
            <a:picLocks noChangeAspect="1"/>
          </p:cNvPicPr>
          <p:nvPr/>
        </p:nvPicPr>
        <p:blipFill>
          <a:blip r:embed="rId4"/>
          <a:stretch>
            <a:fillRect/>
          </a:stretch>
        </p:blipFill>
        <p:spPr>
          <a:xfrm>
            <a:off x="667512" y="4498848"/>
            <a:ext cx="219456" cy="219456"/>
          </a:xfrm>
          <a:prstGeom prst="rect">
            <a:avLst/>
          </a:prstGeom>
        </p:spPr>
      </p:pic>
      <p:sp>
        <p:nvSpPr>
          <p:cNvPr id="31" name="Text 25"/>
          <p:cNvSpPr/>
          <p:nvPr/>
        </p:nvSpPr>
        <p:spPr>
          <a:xfrm>
            <a:off x="1188720" y="4343400"/>
            <a:ext cx="4937760" cy="292608"/>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Regressionen verhindern</a:t>
            </a:r>
            <a:endParaRPr lang="en-US" sz="1550" dirty="0"/>
          </a:p>
        </p:txBody>
      </p:sp>
      <p:sp>
        <p:nvSpPr>
          <p:cNvPr id="32" name="Text 26"/>
          <p:cNvSpPr/>
          <p:nvPr/>
        </p:nvSpPr>
        <p:spPr>
          <a:xfrm>
            <a:off x="1188720" y="4636008"/>
            <a:ext cx="4937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alte Fehler kommen nicht unbemerkt zurück</a:t>
            </a:r>
            <a:endParaRPr lang="en-US" sz="1150" dirty="0"/>
          </a:p>
        </p:txBody>
      </p:sp>
      <p:sp>
        <p:nvSpPr>
          <p:cNvPr id="33" name="Shape 27"/>
          <p:cNvSpPr/>
          <p:nvPr/>
        </p:nvSpPr>
        <p:spPr>
          <a:xfrm>
            <a:off x="548640" y="5276088"/>
            <a:ext cx="457200" cy="457200"/>
          </a:xfrm>
          <a:prstGeom prst="ellipse">
            <a:avLst/>
          </a:prstGeom>
          <a:solidFill>
            <a:srgbClr val="1B2A3D"/>
          </a:solidFill>
          <a:ln w="12700">
            <a:solidFill>
              <a:srgbClr val="2B3B52"/>
            </a:solidFill>
            <a:prstDash val="solid"/>
          </a:ln>
        </p:spPr>
      </p:sp>
      <p:pic>
        <p:nvPicPr>
          <p:cNvPr id="34" name="Image 4" descr="/tmp/claude-0/-home-user-Test-Scatterpoint/4a189312-3458-5f65-a7f5-9710b6e532c7/scratchpad/icons/checkCyan.png">    </p:cNvPr>
          <p:cNvPicPr>
            <a:picLocks noChangeAspect="1"/>
          </p:cNvPicPr>
          <p:nvPr/>
        </p:nvPicPr>
        <p:blipFill>
          <a:blip r:embed="rId5"/>
          <a:stretch>
            <a:fillRect/>
          </a:stretch>
        </p:blipFill>
        <p:spPr>
          <a:xfrm>
            <a:off x="667512" y="5394960"/>
            <a:ext cx="219456" cy="219456"/>
          </a:xfrm>
          <a:prstGeom prst="rect">
            <a:avLst/>
          </a:prstGeom>
        </p:spPr>
      </p:pic>
      <p:sp>
        <p:nvSpPr>
          <p:cNvPr id="35" name="Text 28"/>
          <p:cNvSpPr/>
          <p:nvPr/>
        </p:nvSpPr>
        <p:spPr>
          <a:xfrm>
            <a:off x="1188720" y="5239512"/>
            <a:ext cx="4937760" cy="292608"/>
          </a:xfrm>
          <a:prstGeom prst="rect">
            <a:avLst/>
          </a:prstGeom>
          <a:noFill/>
          <a:ln/>
        </p:spPr>
        <p:txBody>
          <a:bodyPr wrap="square" lIns="0" tIns="0" rIns="0" bIns="0" rtlCol="0" anchor="ctr"/>
          <a:lstStyle/>
          <a:p>
            <a:pPr indent="0" marL="0">
              <a:buNone/>
            </a:pPr>
            <a:r>
              <a:rPr lang="en-US" sz="1550" b="1" dirty="0">
                <a:solidFill>
                  <a:srgbClr val="F1F5F9"/>
                </a:solidFill>
                <a:latin typeface="Calibri" pitchFamily="34" charset="0"/>
                <a:ea typeface="Calibri" pitchFamily="34" charset="-122"/>
                <a:cs typeface="Calibri" pitchFamily="34" charset="-120"/>
              </a:rPr>
              <a:t>Kosten reduzieren</a:t>
            </a:r>
            <a:endParaRPr lang="en-US" sz="1550" dirty="0"/>
          </a:p>
        </p:txBody>
      </p:sp>
      <p:sp>
        <p:nvSpPr>
          <p:cNvPr id="36" name="Text 29"/>
          <p:cNvSpPr/>
          <p:nvPr/>
        </p:nvSpPr>
        <p:spPr>
          <a:xfrm>
            <a:off x="1188720" y="5532120"/>
            <a:ext cx="4937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spät entdeckte Fehler sind teuer</a:t>
            </a:r>
            <a:endParaRPr lang="en-US" sz="1150" dirty="0"/>
          </a:p>
        </p:txBody>
      </p:sp>
      <p:sp>
        <p:nvSpPr>
          <p:cNvPr id="37" name="Shape 30"/>
          <p:cNvSpPr/>
          <p:nvPr/>
        </p:nvSpPr>
        <p:spPr>
          <a:xfrm>
            <a:off x="6720840" y="1691640"/>
            <a:ext cx="4892040" cy="1024128"/>
          </a:xfrm>
          <a:prstGeom prst="roundRect">
            <a:avLst>
              <a:gd name="adj" fmla="val 8036"/>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8" name="Shape 31"/>
          <p:cNvSpPr/>
          <p:nvPr/>
        </p:nvSpPr>
        <p:spPr>
          <a:xfrm>
            <a:off x="6922008" y="1947672"/>
            <a:ext cx="512064" cy="512064"/>
          </a:xfrm>
          <a:prstGeom prst="ellipse">
            <a:avLst/>
          </a:prstGeom>
          <a:solidFill>
            <a:srgbClr val="0D1420"/>
          </a:solidFill>
          <a:ln w="12700">
            <a:solidFill>
              <a:srgbClr val="2B3B52"/>
            </a:solidFill>
            <a:prstDash val="solid"/>
          </a:ln>
        </p:spPr>
      </p:sp>
      <p:pic>
        <p:nvPicPr>
          <p:cNvPr id="39" name="Image 5" descr="/tmp/claude-0/-home-user-Test-Scatterpoint/4a189312-3458-5f65-a7f5-9710b6e532c7/scratchpad/icons/codeWhite.png">    </p:cNvPr>
          <p:cNvPicPr>
            <a:picLocks noChangeAspect="1"/>
          </p:cNvPicPr>
          <p:nvPr/>
        </p:nvPicPr>
        <p:blipFill>
          <a:blip r:embed="rId6"/>
          <a:stretch>
            <a:fillRect/>
          </a:stretch>
        </p:blipFill>
        <p:spPr>
          <a:xfrm>
            <a:off x="7055145" y="2080809"/>
            <a:ext cx="245791" cy="245791"/>
          </a:xfrm>
          <a:prstGeom prst="rect">
            <a:avLst/>
          </a:prstGeom>
        </p:spPr>
      </p:pic>
      <p:sp>
        <p:nvSpPr>
          <p:cNvPr id="40" name="Text 32"/>
          <p:cNvSpPr/>
          <p:nvPr/>
        </p:nvSpPr>
        <p:spPr>
          <a:xfrm>
            <a:off x="7616952" y="1874520"/>
            <a:ext cx="3794760" cy="310896"/>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Codeänderung</a:t>
            </a:r>
            <a:endParaRPr lang="en-US" sz="1500" dirty="0"/>
          </a:p>
        </p:txBody>
      </p:sp>
      <p:sp>
        <p:nvSpPr>
          <p:cNvPr id="41" name="Text 33"/>
          <p:cNvSpPr/>
          <p:nvPr/>
        </p:nvSpPr>
        <p:spPr>
          <a:xfrm>
            <a:off x="7616952" y="2203704"/>
            <a:ext cx="3794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Entwickler passt den Code an</a:t>
            </a:r>
            <a:endParaRPr lang="en-US" sz="1150" dirty="0"/>
          </a:p>
        </p:txBody>
      </p:sp>
      <p:sp>
        <p:nvSpPr>
          <p:cNvPr id="42" name="Shape 34"/>
          <p:cNvSpPr/>
          <p:nvPr/>
        </p:nvSpPr>
        <p:spPr>
          <a:xfrm>
            <a:off x="9047988" y="2798064"/>
            <a:ext cx="237744" cy="292608"/>
          </a:xfrm>
          <a:prstGeom prst="downArrow">
            <a:avLst/>
          </a:prstGeom>
          <a:solidFill>
            <a:srgbClr val="5A6B82"/>
          </a:solidFill>
          <a:ln/>
        </p:spPr>
      </p:sp>
      <p:sp>
        <p:nvSpPr>
          <p:cNvPr id="43" name="Shape 35"/>
          <p:cNvSpPr/>
          <p:nvPr/>
        </p:nvSpPr>
        <p:spPr>
          <a:xfrm>
            <a:off x="6720840" y="3172968"/>
            <a:ext cx="4892040" cy="1024128"/>
          </a:xfrm>
          <a:prstGeom prst="roundRect">
            <a:avLst>
              <a:gd name="adj" fmla="val 8036"/>
            </a:avLst>
          </a:prstGeom>
          <a:solidFill>
            <a:srgbClr val="16202F"/>
          </a:solidFill>
          <a:ln w="12700">
            <a:solidFill>
              <a:srgbClr val="F87171">
                <a:alpha val="70000"/>
              </a:srgbClr>
            </a:solidFill>
            <a:prstDash val="solid"/>
          </a:ln>
          <a:effectLst>
            <a:outerShdw sx="100000" sy="100000" kx="0" ky="0" algn="bl" rotWithShape="0" blurRad="101600" dist="38100" dir="5400000">
              <a:srgbClr val="000000">
                <a:alpha val="30000"/>
              </a:srgbClr>
            </a:outerShdw>
          </a:effectLst>
        </p:spPr>
      </p:sp>
      <p:sp>
        <p:nvSpPr>
          <p:cNvPr id="44" name="Shape 36"/>
          <p:cNvSpPr/>
          <p:nvPr/>
        </p:nvSpPr>
        <p:spPr>
          <a:xfrm>
            <a:off x="6922008" y="3429000"/>
            <a:ext cx="512064" cy="512064"/>
          </a:xfrm>
          <a:prstGeom prst="ellipse">
            <a:avLst/>
          </a:prstGeom>
          <a:solidFill>
            <a:srgbClr val="0D1420"/>
          </a:solidFill>
          <a:ln w="12700">
            <a:solidFill>
              <a:srgbClr val="2B3B52"/>
            </a:solidFill>
            <a:prstDash val="solid"/>
          </a:ln>
        </p:spPr>
      </p:sp>
      <p:pic>
        <p:nvPicPr>
          <p:cNvPr id="45" name="Image 6" descr="/tmp/claude-0/-home-user-Test-Scatterpoint/4a189312-3458-5f65-a7f5-9710b6e532c7/scratchpad/icons/bugRed.png">    </p:cNvPr>
          <p:cNvPicPr>
            <a:picLocks noChangeAspect="1"/>
          </p:cNvPicPr>
          <p:nvPr/>
        </p:nvPicPr>
        <p:blipFill>
          <a:blip r:embed="rId7"/>
          <a:stretch>
            <a:fillRect/>
          </a:stretch>
        </p:blipFill>
        <p:spPr>
          <a:xfrm>
            <a:off x="7055145" y="3562137"/>
            <a:ext cx="245791" cy="245791"/>
          </a:xfrm>
          <a:prstGeom prst="rect">
            <a:avLst/>
          </a:prstGeom>
        </p:spPr>
      </p:pic>
      <p:sp>
        <p:nvSpPr>
          <p:cNvPr id="46" name="Text 37"/>
          <p:cNvSpPr/>
          <p:nvPr/>
        </p:nvSpPr>
        <p:spPr>
          <a:xfrm>
            <a:off x="7616952" y="3355848"/>
            <a:ext cx="3794760" cy="310896"/>
          </a:xfrm>
          <a:prstGeom prst="rect">
            <a:avLst/>
          </a:prstGeom>
          <a:noFill/>
          <a:ln/>
        </p:spPr>
        <p:txBody>
          <a:bodyPr wrap="square" lIns="0" tIns="0" rIns="0" bIns="0" rtlCol="0" anchor="ctr"/>
          <a:lstStyle/>
          <a:p>
            <a:pPr indent="0" marL="0">
              <a:buNone/>
            </a:pPr>
            <a:r>
              <a:rPr lang="en-US" sz="1500" b="1" dirty="0">
                <a:solidFill>
                  <a:srgbClr val="F87171"/>
                </a:solidFill>
                <a:latin typeface="Calibri" pitchFamily="34" charset="0"/>
                <a:ea typeface="Calibri" pitchFamily="34" charset="-122"/>
                <a:cs typeface="Calibri" pitchFamily="34" charset="-120"/>
              </a:rPr>
              <a:t>Unbemerkter Fehler</a:t>
            </a:r>
            <a:endParaRPr lang="en-US" sz="1500" dirty="0"/>
          </a:p>
        </p:txBody>
      </p:sp>
      <p:sp>
        <p:nvSpPr>
          <p:cNvPr id="47" name="Text 38"/>
          <p:cNvSpPr/>
          <p:nvPr/>
        </p:nvSpPr>
        <p:spPr>
          <a:xfrm>
            <a:off x="7616952" y="3685032"/>
            <a:ext cx="3794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die Änderung macht etwas kaputt</a:t>
            </a:r>
            <a:endParaRPr lang="en-US" sz="1150" dirty="0"/>
          </a:p>
        </p:txBody>
      </p:sp>
      <p:sp>
        <p:nvSpPr>
          <p:cNvPr id="48" name="Shape 39"/>
          <p:cNvSpPr/>
          <p:nvPr/>
        </p:nvSpPr>
        <p:spPr>
          <a:xfrm>
            <a:off x="9047988" y="4279392"/>
            <a:ext cx="237744" cy="292608"/>
          </a:xfrm>
          <a:prstGeom prst="downArrow">
            <a:avLst/>
          </a:prstGeom>
          <a:solidFill>
            <a:srgbClr val="5A6B82"/>
          </a:solidFill>
          <a:ln/>
        </p:spPr>
      </p:sp>
      <p:sp>
        <p:nvSpPr>
          <p:cNvPr id="49" name="Shape 40"/>
          <p:cNvSpPr/>
          <p:nvPr/>
        </p:nvSpPr>
        <p:spPr>
          <a:xfrm>
            <a:off x="6720840" y="4654296"/>
            <a:ext cx="4892040" cy="1024128"/>
          </a:xfrm>
          <a:prstGeom prst="roundRect">
            <a:avLst>
              <a:gd name="adj" fmla="val 8036"/>
            </a:avLst>
          </a:prstGeom>
          <a:solidFill>
            <a:srgbClr val="16202F"/>
          </a:solidFill>
          <a:ln w="12700">
            <a:solidFill>
              <a:srgbClr val="4ADE80">
                <a:alpha val="70000"/>
              </a:srgbClr>
            </a:solidFill>
            <a:prstDash val="solid"/>
          </a:ln>
          <a:effectLst>
            <a:outerShdw sx="100000" sy="100000" kx="0" ky="0" algn="bl" rotWithShape="0" blurRad="101600" dist="38100" dir="5400000">
              <a:srgbClr val="000000">
                <a:alpha val="30000"/>
              </a:srgbClr>
            </a:outerShdw>
          </a:effectLst>
        </p:spPr>
      </p:sp>
      <p:sp>
        <p:nvSpPr>
          <p:cNvPr id="50" name="Shape 41"/>
          <p:cNvSpPr/>
          <p:nvPr/>
        </p:nvSpPr>
        <p:spPr>
          <a:xfrm>
            <a:off x="6922008" y="4910328"/>
            <a:ext cx="512064" cy="512064"/>
          </a:xfrm>
          <a:prstGeom prst="ellipse">
            <a:avLst/>
          </a:prstGeom>
          <a:solidFill>
            <a:srgbClr val="0D1420"/>
          </a:solidFill>
          <a:ln w="12700">
            <a:solidFill>
              <a:srgbClr val="2B3B52"/>
            </a:solidFill>
            <a:prstDash val="solid"/>
          </a:ln>
        </p:spPr>
      </p:sp>
      <p:pic>
        <p:nvPicPr>
          <p:cNvPr id="51" name="Image 7" descr="/tmp/claude-0/-home-user-Test-Scatterpoint/4a189312-3458-5f65-a7f5-9710b6e532c7/scratchpad/icons/checkGreen.png">    </p:cNvPr>
          <p:cNvPicPr>
            <a:picLocks noChangeAspect="1"/>
          </p:cNvPicPr>
          <p:nvPr/>
        </p:nvPicPr>
        <p:blipFill>
          <a:blip r:embed="rId8"/>
          <a:stretch>
            <a:fillRect/>
          </a:stretch>
        </p:blipFill>
        <p:spPr>
          <a:xfrm>
            <a:off x="7055145" y="5043465"/>
            <a:ext cx="245791" cy="245791"/>
          </a:xfrm>
          <a:prstGeom prst="rect">
            <a:avLst/>
          </a:prstGeom>
        </p:spPr>
      </p:pic>
      <p:sp>
        <p:nvSpPr>
          <p:cNvPr id="52" name="Text 42"/>
          <p:cNvSpPr/>
          <p:nvPr/>
        </p:nvSpPr>
        <p:spPr>
          <a:xfrm>
            <a:off x="7616952" y="4837176"/>
            <a:ext cx="3794760" cy="310896"/>
          </a:xfrm>
          <a:prstGeom prst="rect">
            <a:avLst/>
          </a:prstGeom>
          <a:noFill/>
          <a:ln/>
        </p:spPr>
        <p:txBody>
          <a:bodyPr wrap="square" lIns="0" tIns="0" rIns="0" bIns="0" rtlCol="0" anchor="ctr"/>
          <a:lstStyle/>
          <a:p>
            <a:pPr indent="0" marL="0">
              <a:buNone/>
            </a:pPr>
            <a:r>
              <a:rPr lang="en-US" sz="1500" b="1" dirty="0">
                <a:solidFill>
                  <a:srgbClr val="4ADE80"/>
                </a:solidFill>
                <a:latin typeface="Calibri" pitchFamily="34" charset="0"/>
                <a:ea typeface="Calibri" pitchFamily="34" charset="-122"/>
                <a:cs typeface="Calibri" pitchFamily="34" charset="-120"/>
              </a:rPr>
              <a:t>Test erkennt den Fehler</a:t>
            </a:r>
            <a:endParaRPr lang="en-US" sz="1500" dirty="0"/>
          </a:p>
        </p:txBody>
      </p:sp>
      <p:sp>
        <p:nvSpPr>
          <p:cNvPr id="53" name="Text 43"/>
          <p:cNvSpPr/>
          <p:nvPr/>
        </p:nvSpPr>
        <p:spPr>
          <a:xfrm>
            <a:off x="7616952" y="5166360"/>
            <a:ext cx="379476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die Regression wird sofort sichtbar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02 · UNIT TESTS</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Was ist ein Unit Test?</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Shape 8"/>
          <p:cNvSpPr/>
          <p:nvPr/>
        </p:nvSpPr>
        <p:spPr>
          <a:xfrm>
            <a:off x="2989997"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1" name="Shape 9"/>
          <p:cNvSpPr/>
          <p:nvPr/>
        </p:nvSpPr>
        <p:spPr>
          <a:xfrm>
            <a:off x="3118013" y="6560820"/>
            <a:ext cx="64008" cy="64008"/>
          </a:xfrm>
          <a:prstGeom prst="ellipse">
            <a:avLst/>
          </a:prstGeom>
          <a:solidFill>
            <a:srgbClr val="38BDF8"/>
          </a:solidFill>
          <a:ln/>
        </p:spPr>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Text 14"/>
          <p:cNvSpPr/>
          <p:nvPr/>
        </p:nvSpPr>
        <p:spPr>
          <a:xfrm>
            <a:off x="548640" y="1298448"/>
            <a:ext cx="11091672" cy="457200"/>
          </a:xfrm>
          <a:prstGeom prst="rect">
            <a:avLst/>
          </a:prstGeom>
          <a:noFill/>
          <a:ln/>
        </p:spPr>
        <p:txBody>
          <a:bodyPr wrap="square" lIns="0" tIns="0" rIns="0" bIns="0" rtlCol="0" anchor="ctr"/>
          <a:lstStyle/>
          <a:p>
            <a:pPr algn="ctr" indent="0" marL="0">
              <a:buNone/>
            </a:pPr>
            <a:r>
              <a:rPr lang="en-US" sz="2200" b="1" dirty="0">
                <a:solidFill>
                  <a:srgbClr val="38BDF8"/>
                </a:solidFill>
                <a:latin typeface="Calibri" pitchFamily="34" charset="0"/>
                <a:ea typeface="Calibri" pitchFamily="34" charset="-122"/>
                <a:cs typeface="Calibri" pitchFamily="34" charset="-120"/>
              </a:rPr>
              <a:t>Unit</a:t>
            </a:r>
            <a:pPr algn="ctr" indent="0" marL="0">
              <a:buNone/>
            </a:pPr>
            <a:r>
              <a:rPr lang="en-US" sz="2200" b="1" dirty="0">
                <a:solidFill>
                  <a:srgbClr val="F1F5F9"/>
                </a:solidFill>
                <a:latin typeface="Calibri" pitchFamily="34" charset="0"/>
                <a:ea typeface="Calibri" pitchFamily="34" charset="-122"/>
                <a:cs typeface="Calibri" pitchFamily="34" charset="-120"/>
              </a:rPr>
              <a:t>  =  kleinste sinnvoll testbare Einheit</a:t>
            </a:r>
            <a:endParaRPr lang="en-US" sz="2200" dirty="0"/>
          </a:p>
        </p:txBody>
      </p:sp>
      <p:sp>
        <p:nvSpPr>
          <p:cNvPr id="17" name="Shape 15"/>
          <p:cNvSpPr/>
          <p:nvPr/>
        </p:nvSpPr>
        <p:spPr>
          <a:xfrm>
            <a:off x="658368" y="2468880"/>
            <a:ext cx="2514600" cy="2103120"/>
          </a:xfrm>
          <a:prstGeom prst="roundRect">
            <a:avLst>
              <a:gd name="adj" fmla="val 3913"/>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8" name="Shape 16"/>
          <p:cNvSpPr/>
          <p:nvPr/>
        </p:nvSpPr>
        <p:spPr>
          <a:xfrm>
            <a:off x="1659636" y="2670048"/>
            <a:ext cx="512064" cy="512064"/>
          </a:xfrm>
          <a:prstGeom prst="ellipse">
            <a:avLst/>
          </a:prstGeom>
          <a:solidFill>
            <a:srgbClr val="0D1420"/>
          </a:solidFill>
          <a:ln w="12700">
            <a:solidFill>
              <a:srgbClr val="2B3B52"/>
            </a:solidFill>
            <a:prstDash val="solid"/>
          </a:ln>
        </p:spPr>
      </p:sp>
      <p:pic>
        <p:nvPicPr>
          <p:cNvPr id="19" name="Image 0" descr="/tmp/claude-0/-home-user-Test-Scatterpoint/4a189312-3458-5f65-a7f5-9710b6e532c7/scratchpad/icons/monitor.png">    </p:cNvPr>
          <p:cNvPicPr>
            <a:picLocks noChangeAspect="1"/>
          </p:cNvPicPr>
          <p:nvPr/>
        </p:nvPicPr>
        <p:blipFill>
          <a:blip r:embed="rId1"/>
          <a:stretch>
            <a:fillRect/>
          </a:stretch>
        </p:blipFill>
        <p:spPr>
          <a:xfrm>
            <a:off x="1792773" y="2803185"/>
            <a:ext cx="245791" cy="245791"/>
          </a:xfrm>
          <a:prstGeom prst="rect">
            <a:avLst/>
          </a:prstGeom>
        </p:spPr>
      </p:pic>
      <p:sp>
        <p:nvSpPr>
          <p:cNvPr id="20" name="Text 17"/>
          <p:cNvSpPr/>
          <p:nvPr/>
        </p:nvSpPr>
        <p:spPr>
          <a:xfrm>
            <a:off x="749808" y="3255264"/>
            <a:ext cx="2331720" cy="3200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Gesamte Anwendung</a:t>
            </a:r>
            <a:endParaRPr lang="en-US" sz="1350" dirty="0"/>
          </a:p>
        </p:txBody>
      </p:sp>
      <p:sp>
        <p:nvSpPr>
          <p:cNvPr id="21" name="Text 18"/>
          <p:cNvSpPr/>
          <p:nvPr/>
        </p:nvSpPr>
        <p:spPr>
          <a:xfrm>
            <a:off x="749808" y="3566160"/>
            <a:ext cx="2331720" cy="320040"/>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z. B. ein Onlineshop</a:t>
            </a:r>
            <a:endParaRPr lang="en-US" sz="1050" dirty="0"/>
          </a:p>
        </p:txBody>
      </p:sp>
      <p:sp>
        <p:nvSpPr>
          <p:cNvPr id="22" name="Shape 19"/>
          <p:cNvSpPr/>
          <p:nvPr/>
        </p:nvSpPr>
        <p:spPr>
          <a:xfrm>
            <a:off x="3273552" y="3392424"/>
            <a:ext cx="347472" cy="256032"/>
          </a:xfrm>
          <a:prstGeom prst="rightArrow">
            <a:avLst/>
          </a:prstGeom>
          <a:solidFill>
            <a:srgbClr val="5A6B82"/>
          </a:solidFill>
          <a:ln/>
        </p:spPr>
      </p:sp>
      <p:sp>
        <p:nvSpPr>
          <p:cNvPr id="23" name="Shape 20"/>
          <p:cNvSpPr/>
          <p:nvPr/>
        </p:nvSpPr>
        <p:spPr>
          <a:xfrm>
            <a:off x="3721608" y="2628900"/>
            <a:ext cx="2286000" cy="1783080"/>
          </a:xfrm>
          <a:prstGeom prst="roundRect">
            <a:avLst>
              <a:gd name="adj" fmla="val 461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4" name="Shape 21"/>
          <p:cNvSpPr/>
          <p:nvPr/>
        </p:nvSpPr>
        <p:spPr>
          <a:xfrm>
            <a:off x="4608576" y="2830068"/>
            <a:ext cx="512064" cy="512064"/>
          </a:xfrm>
          <a:prstGeom prst="ellipse">
            <a:avLst/>
          </a:prstGeom>
          <a:solidFill>
            <a:srgbClr val="0D1420"/>
          </a:solidFill>
          <a:ln w="12700">
            <a:solidFill>
              <a:srgbClr val="2B3B52"/>
            </a:solidFill>
            <a:prstDash val="solid"/>
          </a:ln>
        </p:spPr>
      </p:sp>
      <p:pic>
        <p:nvPicPr>
          <p:cNvPr id="25" name="Image 1" descr="/tmp/claude-0/-home-user-Test-Scatterpoint/4a189312-3458-5f65-a7f5-9710b6e532c7/scratchpad/icons/box.png">    </p:cNvPr>
          <p:cNvPicPr>
            <a:picLocks noChangeAspect="1"/>
          </p:cNvPicPr>
          <p:nvPr/>
        </p:nvPicPr>
        <p:blipFill>
          <a:blip r:embed="rId2"/>
          <a:stretch>
            <a:fillRect/>
          </a:stretch>
        </p:blipFill>
        <p:spPr>
          <a:xfrm>
            <a:off x="4741713" y="2963205"/>
            <a:ext cx="245791" cy="245791"/>
          </a:xfrm>
          <a:prstGeom prst="rect">
            <a:avLst/>
          </a:prstGeom>
        </p:spPr>
      </p:pic>
      <p:sp>
        <p:nvSpPr>
          <p:cNvPr id="26" name="Text 22"/>
          <p:cNvSpPr/>
          <p:nvPr/>
        </p:nvSpPr>
        <p:spPr>
          <a:xfrm>
            <a:off x="3813048" y="3415284"/>
            <a:ext cx="2103120" cy="3200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Eine Klasse</a:t>
            </a:r>
            <a:endParaRPr lang="en-US" sz="1350" dirty="0"/>
          </a:p>
        </p:txBody>
      </p:sp>
      <p:sp>
        <p:nvSpPr>
          <p:cNvPr id="27" name="Text 23"/>
          <p:cNvSpPr/>
          <p:nvPr/>
        </p:nvSpPr>
        <p:spPr>
          <a:xfrm>
            <a:off x="3813048" y="3726180"/>
            <a:ext cx="2103120" cy="320040"/>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z. B. Warenkorb</a:t>
            </a:r>
            <a:endParaRPr lang="en-US" sz="1050" dirty="0"/>
          </a:p>
        </p:txBody>
      </p:sp>
      <p:sp>
        <p:nvSpPr>
          <p:cNvPr id="28" name="Shape 24"/>
          <p:cNvSpPr/>
          <p:nvPr/>
        </p:nvSpPr>
        <p:spPr>
          <a:xfrm>
            <a:off x="6108192" y="3392424"/>
            <a:ext cx="347472" cy="256032"/>
          </a:xfrm>
          <a:prstGeom prst="rightArrow">
            <a:avLst/>
          </a:prstGeom>
          <a:solidFill>
            <a:srgbClr val="5A6B82"/>
          </a:solidFill>
          <a:ln/>
        </p:spPr>
      </p:sp>
      <p:sp>
        <p:nvSpPr>
          <p:cNvPr id="29" name="Shape 25"/>
          <p:cNvSpPr/>
          <p:nvPr/>
        </p:nvSpPr>
        <p:spPr>
          <a:xfrm>
            <a:off x="6556248" y="2788920"/>
            <a:ext cx="2103120" cy="1463040"/>
          </a:xfrm>
          <a:prstGeom prst="roundRect">
            <a:avLst>
              <a:gd name="adj" fmla="val 562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0" name="Shape 26"/>
          <p:cNvSpPr/>
          <p:nvPr/>
        </p:nvSpPr>
        <p:spPr>
          <a:xfrm>
            <a:off x="7351776" y="2990088"/>
            <a:ext cx="512064" cy="512064"/>
          </a:xfrm>
          <a:prstGeom prst="ellipse">
            <a:avLst/>
          </a:prstGeom>
          <a:solidFill>
            <a:srgbClr val="0D1420"/>
          </a:solidFill>
          <a:ln w="12700">
            <a:solidFill>
              <a:srgbClr val="2B3B52"/>
            </a:solidFill>
            <a:prstDash val="solid"/>
          </a:ln>
        </p:spPr>
      </p:sp>
      <p:pic>
        <p:nvPicPr>
          <p:cNvPr id="31" name="Image 2" descr="/tmp/claude-0/-home-user-Test-Scatterpoint/4a189312-3458-5f65-a7f5-9710b6e532c7/scratchpad/icons/codeWhite.png">    </p:cNvPr>
          <p:cNvPicPr>
            <a:picLocks noChangeAspect="1"/>
          </p:cNvPicPr>
          <p:nvPr/>
        </p:nvPicPr>
        <p:blipFill>
          <a:blip r:embed="rId3"/>
          <a:stretch>
            <a:fillRect/>
          </a:stretch>
        </p:blipFill>
        <p:spPr>
          <a:xfrm>
            <a:off x="7484913" y="3123225"/>
            <a:ext cx="245791" cy="245791"/>
          </a:xfrm>
          <a:prstGeom prst="rect">
            <a:avLst/>
          </a:prstGeom>
        </p:spPr>
      </p:pic>
      <p:sp>
        <p:nvSpPr>
          <p:cNvPr id="32" name="Text 27"/>
          <p:cNvSpPr/>
          <p:nvPr/>
        </p:nvSpPr>
        <p:spPr>
          <a:xfrm>
            <a:off x="6647688" y="3575304"/>
            <a:ext cx="1920240" cy="320040"/>
          </a:xfrm>
          <a:prstGeom prst="rect">
            <a:avLst/>
          </a:prstGeom>
          <a:noFill/>
          <a:ln/>
        </p:spPr>
        <p:txBody>
          <a:bodyPr wrap="square" lIns="0" tIns="0" rIns="0" bIns="0" rtlCol="0" anchor="ctr"/>
          <a:lstStyle/>
          <a:p>
            <a:pPr algn="ctr" indent="0" marL="0">
              <a:buNone/>
            </a:pPr>
            <a:r>
              <a:rPr lang="en-US" sz="1350" b="1" dirty="0">
                <a:solidFill>
                  <a:srgbClr val="F1F5F9"/>
                </a:solidFill>
                <a:latin typeface="Calibri" pitchFamily="34" charset="0"/>
                <a:ea typeface="Calibri" pitchFamily="34" charset="-122"/>
                <a:cs typeface="Calibri" pitchFamily="34" charset="-120"/>
              </a:rPr>
              <a:t>Eine Methode</a:t>
            </a:r>
            <a:endParaRPr lang="en-US" sz="1350" dirty="0"/>
          </a:p>
        </p:txBody>
      </p:sp>
      <p:sp>
        <p:nvSpPr>
          <p:cNvPr id="33" name="Text 28"/>
          <p:cNvSpPr/>
          <p:nvPr/>
        </p:nvSpPr>
        <p:spPr>
          <a:xfrm>
            <a:off x="6647688" y="3886200"/>
            <a:ext cx="1920240" cy="320040"/>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z. B. Addieren()</a:t>
            </a:r>
            <a:endParaRPr lang="en-US" sz="1050" dirty="0"/>
          </a:p>
        </p:txBody>
      </p:sp>
      <p:sp>
        <p:nvSpPr>
          <p:cNvPr id="34" name="Shape 29"/>
          <p:cNvSpPr/>
          <p:nvPr/>
        </p:nvSpPr>
        <p:spPr>
          <a:xfrm>
            <a:off x="8759952" y="3392424"/>
            <a:ext cx="347472" cy="256032"/>
          </a:xfrm>
          <a:prstGeom prst="rightArrow">
            <a:avLst/>
          </a:prstGeom>
          <a:solidFill>
            <a:srgbClr val="38BDF8"/>
          </a:solidFill>
          <a:ln/>
        </p:spPr>
      </p:sp>
      <p:sp>
        <p:nvSpPr>
          <p:cNvPr id="35" name="Shape 30"/>
          <p:cNvSpPr/>
          <p:nvPr/>
        </p:nvSpPr>
        <p:spPr>
          <a:xfrm>
            <a:off x="9208008" y="2628900"/>
            <a:ext cx="2514600" cy="1783080"/>
          </a:xfrm>
          <a:prstGeom prst="roundRect">
            <a:avLst>
              <a:gd name="adj" fmla="val 4615"/>
            </a:avLst>
          </a:prstGeom>
          <a:solidFill>
            <a:srgbClr val="10283A"/>
          </a:solidFill>
          <a:ln w="19050">
            <a:solidFill>
              <a:srgbClr val="38BDF8"/>
            </a:solidFill>
            <a:prstDash val="solid"/>
          </a:ln>
          <a:effectLst>
            <a:outerShdw sx="100000" sy="100000" kx="0" ky="0" algn="bl" rotWithShape="0" blurRad="101600" dist="38100" dir="5400000">
              <a:srgbClr val="000000">
                <a:alpha val="30000"/>
              </a:srgbClr>
            </a:outerShdw>
          </a:effectLst>
        </p:spPr>
      </p:sp>
      <p:sp>
        <p:nvSpPr>
          <p:cNvPr id="36" name="Shape 31"/>
          <p:cNvSpPr/>
          <p:nvPr/>
        </p:nvSpPr>
        <p:spPr>
          <a:xfrm>
            <a:off x="10209276" y="2830068"/>
            <a:ext cx="512064" cy="512064"/>
          </a:xfrm>
          <a:prstGeom prst="ellipse">
            <a:avLst/>
          </a:prstGeom>
          <a:solidFill>
            <a:srgbClr val="0D1420"/>
          </a:solidFill>
          <a:ln w="12700">
            <a:solidFill>
              <a:srgbClr val="2B3B52"/>
            </a:solidFill>
            <a:prstDash val="solid"/>
          </a:ln>
        </p:spPr>
      </p:sp>
      <p:pic>
        <p:nvPicPr>
          <p:cNvPr id="37" name="Image 3" descr="/tmp/claude-0/-home-user-Test-Scatterpoint/4a189312-3458-5f65-a7f5-9710b6e532c7/scratchpad/icons/checkCyan.png">    </p:cNvPr>
          <p:cNvPicPr>
            <a:picLocks noChangeAspect="1"/>
          </p:cNvPicPr>
          <p:nvPr/>
        </p:nvPicPr>
        <p:blipFill>
          <a:blip r:embed="rId4"/>
          <a:stretch>
            <a:fillRect/>
          </a:stretch>
        </p:blipFill>
        <p:spPr>
          <a:xfrm>
            <a:off x="10342413" y="2963205"/>
            <a:ext cx="245791" cy="245791"/>
          </a:xfrm>
          <a:prstGeom prst="rect">
            <a:avLst/>
          </a:prstGeom>
        </p:spPr>
      </p:pic>
      <p:sp>
        <p:nvSpPr>
          <p:cNvPr id="38" name="Text 32"/>
          <p:cNvSpPr/>
          <p:nvPr/>
        </p:nvSpPr>
        <p:spPr>
          <a:xfrm>
            <a:off x="9299448" y="3415284"/>
            <a:ext cx="2331720" cy="320040"/>
          </a:xfrm>
          <a:prstGeom prst="rect">
            <a:avLst/>
          </a:prstGeom>
          <a:noFill/>
          <a:ln/>
        </p:spPr>
        <p:txBody>
          <a:bodyPr wrap="square" lIns="0" tIns="0" rIns="0" bIns="0" rtlCol="0" anchor="ctr"/>
          <a:lstStyle/>
          <a:p>
            <a:pPr algn="ctr" indent="0" marL="0">
              <a:buNone/>
            </a:pPr>
            <a:r>
              <a:rPr lang="en-US" sz="1350" b="1" dirty="0">
                <a:solidFill>
                  <a:srgbClr val="38BDF8"/>
                </a:solidFill>
                <a:latin typeface="Calibri" pitchFamily="34" charset="0"/>
                <a:ea typeface="Calibri" pitchFamily="34" charset="-122"/>
                <a:cs typeface="Calibri" pitchFamily="34" charset="-120"/>
              </a:rPr>
              <a:t>Unit Test</a:t>
            </a:r>
            <a:endParaRPr lang="en-US" sz="1350" dirty="0"/>
          </a:p>
        </p:txBody>
      </p:sp>
      <p:sp>
        <p:nvSpPr>
          <p:cNvPr id="39" name="Text 33"/>
          <p:cNvSpPr/>
          <p:nvPr/>
        </p:nvSpPr>
        <p:spPr>
          <a:xfrm>
            <a:off x="9299448" y="3726180"/>
            <a:ext cx="2331720" cy="320040"/>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prüft genau diese Methode</a:t>
            </a:r>
            <a:endParaRPr lang="en-US" sz="1050" dirty="0"/>
          </a:p>
        </p:txBody>
      </p:sp>
      <p:sp>
        <p:nvSpPr>
          <p:cNvPr id="40" name="Text 34"/>
          <p:cNvSpPr/>
          <p:nvPr/>
        </p:nvSpPr>
        <p:spPr>
          <a:xfrm>
            <a:off x="2194560" y="5120640"/>
            <a:ext cx="1554480" cy="365760"/>
          </a:xfrm>
          <a:prstGeom prst="rect">
            <a:avLst/>
          </a:prstGeom>
          <a:noFill/>
          <a:ln/>
        </p:spPr>
        <p:txBody>
          <a:bodyPr wrap="square" lIns="0" tIns="0" rIns="0" bIns="0" rtlCol="0" anchor="ctr"/>
          <a:lstStyle/>
          <a:p>
            <a:pPr indent="0" marL="0">
              <a:buNone/>
            </a:pPr>
            <a:r>
              <a:rPr lang="en-US" sz="1250" dirty="0">
                <a:solidFill>
                  <a:srgbClr val="94A3B8"/>
                </a:solidFill>
                <a:latin typeface="Calibri" pitchFamily="34" charset="0"/>
                <a:ea typeface="Calibri" pitchFamily="34" charset="-122"/>
                <a:cs typeface="Calibri" pitchFamily="34" charset="-120"/>
              </a:rPr>
              <a:t>Typische Units:</a:t>
            </a:r>
            <a:endParaRPr lang="en-US" sz="1250" dirty="0"/>
          </a:p>
        </p:txBody>
      </p:sp>
      <p:sp>
        <p:nvSpPr>
          <p:cNvPr id="41" name="Shape 35"/>
          <p:cNvSpPr/>
          <p:nvPr/>
        </p:nvSpPr>
        <p:spPr>
          <a:xfrm>
            <a:off x="3840480" y="5120640"/>
            <a:ext cx="1371600" cy="365760"/>
          </a:xfrm>
          <a:prstGeom prst="roundRect">
            <a:avLst>
              <a:gd name="adj" fmla="val 50000"/>
            </a:avLst>
          </a:prstGeom>
          <a:solidFill>
            <a:srgbClr val="1B2A3D"/>
          </a:solidFill>
          <a:ln w="12700">
            <a:solidFill>
              <a:srgbClr val="2B3B52"/>
            </a:solidFill>
            <a:prstDash val="solid"/>
          </a:ln>
        </p:spPr>
      </p:sp>
      <p:sp>
        <p:nvSpPr>
          <p:cNvPr id="42" name="Text 36"/>
          <p:cNvSpPr/>
          <p:nvPr/>
        </p:nvSpPr>
        <p:spPr>
          <a:xfrm>
            <a:off x="3840480" y="5120640"/>
            <a:ext cx="1371600" cy="365760"/>
          </a:xfrm>
          <a:prstGeom prst="rect">
            <a:avLst/>
          </a:prstGeom>
          <a:noFill/>
          <a:ln/>
        </p:spPr>
        <p:txBody>
          <a:bodyPr wrap="square" lIns="0" tIns="0" rIns="0" bIns="0" rtlCol="0" anchor="ctr"/>
          <a:lstStyle/>
          <a:p>
            <a:pPr algn="ctr" indent="0" marL="0">
              <a:buNone/>
            </a:pPr>
            <a:r>
              <a:rPr lang="en-US" sz="1200" dirty="0">
                <a:solidFill>
                  <a:srgbClr val="F1F5F9"/>
                </a:solidFill>
                <a:latin typeface="Calibri" pitchFamily="34" charset="0"/>
                <a:ea typeface="Calibri" pitchFamily="34" charset="-122"/>
                <a:cs typeface="Calibri" pitchFamily="34" charset="-120"/>
              </a:rPr>
              <a:t>Methode</a:t>
            </a:r>
            <a:endParaRPr lang="en-US" sz="1200" dirty="0"/>
          </a:p>
        </p:txBody>
      </p:sp>
      <p:sp>
        <p:nvSpPr>
          <p:cNvPr id="43" name="Shape 37"/>
          <p:cNvSpPr/>
          <p:nvPr/>
        </p:nvSpPr>
        <p:spPr>
          <a:xfrm>
            <a:off x="5394960" y="5120640"/>
            <a:ext cx="1371600" cy="365760"/>
          </a:xfrm>
          <a:prstGeom prst="roundRect">
            <a:avLst>
              <a:gd name="adj" fmla="val 50000"/>
            </a:avLst>
          </a:prstGeom>
          <a:solidFill>
            <a:srgbClr val="1B2A3D"/>
          </a:solidFill>
          <a:ln w="12700">
            <a:solidFill>
              <a:srgbClr val="2B3B52"/>
            </a:solidFill>
            <a:prstDash val="solid"/>
          </a:ln>
        </p:spPr>
      </p:sp>
      <p:sp>
        <p:nvSpPr>
          <p:cNvPr id="44" name="Text 38"/>
          <p:cNvSpPr/>
          <p:nvPr/>
        </p:nvSpPr>
        <p:spPr>
          <a:xfrm>
            <a:off x="5394960" y="5120640"/>
            <a:ext cx="1371600" cy="365760"/>
          </a:xfrm>
          <a:prstGeom prst="rect">
            <a:avLst/>
          </a:prstGeom>
          <a:noFill/>
          <a:ln/>
        </p:spPr>
        <p:txBody>
          <a:bodyPr wrap="square" lIns="0" tIns="0" rIns="0" bIns="0" rtlCol="0" anchor="ctr"/>
          <a:lstStyle/>
          <a:p>
            <a:pPr algn="ctr" indent="0" marL="0">
              <a:buNone/>
            </a:pPr>
            <a:r>
              <a:rPr lang="en-US" sz="1200" dirty="0">
                <a:solidFill>
                  <a:srgbClr val="F1F5F9"/>
                </a:solidFill>
                <a:latin typeface="Calibri" pitchFamily="34" charset="0"/>
                <a:ea typeface="Calibri" pitchFamily="34" charset="-122"/>
                <a:cs typeface="Calibri" pitchFamily="34" charset="-120"/>
              </a:rPr>
              <a:t>Funktion</a:t>
            </a:r>
            <a:endParaRPr lang="en-US" sz="1200" dirty="0"/>
          </a:p>
        </p:txBody>
      </p:sp>
      <p:sp>
        <p:nvSpPr>
          <p:cNvPr id="45" name="Shape 39"/>
          <p:cNvSpPr/>
          <p:nvPr/>
        </p:nvSpPr>
        <p:spPr>
          <a:xfrm>
            <a:off x="6949440" y="5120640"/>
            <a:ext cx="1371600" cy="365760"/>
          </a:xfrm>
          <a:prstGeom prst="roundRect">
            <a:avLst>
              <a:gd name="adj" fmla="val 50000"/>
            </a:avLst>
          </a:prstGeom>
          <a:solidFill>
            <a:srgbClr val="1B2A3D"/>
          </a:solidFill>
          <a:ln w="12700">
            <a:solidFill>
              <a:srgbClr val="2B3B52"/>
            </a:solidFill>
            <a:prstDash val="solid"/>
          </a:ln>
        </p:spPr>
      </p:sp>
      <p:sp>
        <p:nvSpPr>
          <p:cNvPr id="46" name="Text 40"/>
          <p:cNvSpPr/>
          <p:nvPr/>
        </p:nvSpPr>
        <p:spPr>
          <a:xfrm>
            <a:off x="6949440" y="5120640"/>
            <a:ext cx="1371600" cy="365760"/>
          </a:xfrm>
          <a:prstGeom prst="rect">
            <a:avLst/>
          </a:prstGeom>
          <a:noFill/>
          <a:ln/>
        </p:spPr>
        <p:txBody>
          <a:bodyPr wrap="square" lIns="0" tIns="0" rIns="0" bIns="0" rtlCol="0" anchor="ctr"/>
          <a:lstStyle/>
          <a:p>
            <a:pPr algn="ctr" indent="0" marL="0">
              <a:buNone/>
            </a:pPr>
            <a:r>
              <a:rPr lang="en-US" sz="1200" dirty="0">
                <a:solidFill>
                  <a:srgbClr val="F1F5F9"/>
                </a:solidFill>
                <a:latin typeface="Calibri" pitchFamily="34" charset="0"/>
                <a:ea typeface="Calibri" pitchFamily="34" charset="-122"/>
                <a:cs typeface="Calibri" pitchFamily="34" charset="-120"/>
              </a:rPr>
              <a:t>Klasse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02 · UNIT TESTS</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Ein einfacher Unit Test in C#</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Shape 8"/>
          <p:cNvSpPr/>
          <p:nvPr/>
        </p:nvSpPr>
        <p:spPr>
          <a:xfrm>
            <a:off x="2989997"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1" name="Shape 9"/>
          <p:cNvSpPr/>
          <p:nvPr/>
        </p:nvSpPr>
        <p:spPr>
          <a:xfrm>
            <a:off x="3118013" y="6560820"/>
            <a:ext cx="64008" cy="64008"/>
          </a:xfrm>
          <a:prstGeom prst="ellipse">
            <a:avLst/>
          </a:prstGeom>
          <a:solidFill>
            <a:srgbClr val="38BDF8"/>
          </a:solidFill>
          <a:ln/>
        </p:spPr>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25880"/>
            <a:ext cx="5394960" cy="2697480"/>
          </a:xfrm>
          <a:prstGeom prst="roundRect">
            <a:avLst>
              <a:gd name="adj" fmla="val 3051"/>
            </a:avLst>
          </a:prstGeom>
          <a:solidFill>
            <a:srgbClr val="0A0F1A"/>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731520" y="1472184"/>
            <a:ext cx="82296" cy="82296"/>
          </a:xfrm>
          <a:prstGeom prst="ellipse">
            <a:avLst/>
          </a:prstGeom>
          <a:solidFill>
            <a:srgbClr val="FF5F56"/>
          </a:solidFill>
          <a:ln/>
        </p:spPr>
      </p:sp>
      <p:sp>
        <p:nvSpPr>
          <p:cNvPr id="18" name="Shape 16"/>
          <p:cNvSpPr/>
          <p:nvPr/>
        </p:nvSpPr>
        <p:spPr>
          <a:xfrm>
            <a:off x="877824" y="1472184"/>
            <a:ext cx="82296" cy="82296"/>
          </a:xfrm>
          <a:prstGeom prst="ellipse">
            <a:avLst/>
          </a:prstGeom>
          <a:solidFill>
            <a:srgbClr val="FFBD2E"/>
          </a:solidFill>
          <a:ln/>
        </p:spPr>
      </p:sp>
      <p:sp>
        <p:nvSpPr>
          <p:cNvPr id="19" name="Shape 17"/>
          <p:cNvSpPr/>
          <p:nvPr/>
        </p:nvSpPr>
        <p:spPr>
          <a:xfrm>
            <a:off x="1024128" y="1472184"/>
            <a:ext cx="82296" cy="82296"/>
          </a:xfrm>
          <a:prstGeom prst="ellipse">
            <a:avLst/>
          </a:prstGeom>
          <a:solidFill>
            <a:srgbClr val="27C93F"/>
          </a:solidFill>
          <a:ln/>
        </p:spPr>
      </p:sp>
      <p:sp>
        <p:nvSpPr>
          <p:cNvPr id="20" name="Text 18"/>
          <p:cNvSpPr/>
          <p:nvPr/>
        </p:nvSpPr>
        <p:spPr>
          <a:xfrm>
            <a:off x="1234440" y="1380744"/>
            <a:ext cx="4480560" cy="274320"/>
          </a:xfrm>
          <a:prstGeom prst="rect">
            <a:avLst/>
          </a:prstGeom>
          <a:noFill/>
          <a:ln/>
        </p:spPr>
        <p:txBody>
          <a:bodyPr wrap="square" lIns="0" tIns="0" rIns="0" bIns="0" rtlCol="0" anchor="ctr"/>
          <a:lstStyle/>
          <a:p>
            <a:pPr indent="0" marL="0">
              <a:buNone/>
            </a:pPr>
            <a:r>
              <a:rPr lang="en-US" sz="1000" dirty="0">
                <a:solidFill>
                  <a:srgbClr val="5A6B82"/>
                </a:solidFill>
                <a:latin typeface="Courier New" pitchFamily="34" charset="0"/>
                <a:ea typeface="Courier New" pitchFamily="34" charset="-122"/>
                <a:cs typeface="Courier New" pitchFamily="34" charset="-120"/>
              </a:rPr>
              <a:t>Rechner.cs</a:t>
            </a:r>
            <a:endParaRPr lang="en-US" sz="1000" dirty="0"/>
          </a:p>
        </p:txBody>
      </p:sp>
      <p:sp>
        <p:nvSpPr>
          <p:cNvPr id="21" name="Shape 19"/>
          <p:cNvSpPr/>
          <p:nvPr/>
        </p:nvSpPr>
        <p:spPr>
          <a:xfrm>
            <a:off x="548640" y="1709928"/>
            <a:ext cx="5394960" cy="0"/>
          </a:xfrm>
          <a:prstGeom prst="line">
            <a:avLst/>
          </a:prstGeom>
          <a:noFill/>
          <a:ln w="9525">
            <a:solidFill>
              <a:srgbClr val="2B3B52"/>
            </a:solidFill>
            <a:prstDash val="solid"/>
          </a:ln>
        </p:spPr>
      </p:sp>
      <p:sp>
        <p:nvSpPr>
          <p:cNvPr id="22" name="Text 20"/>
          <p:cNvSpPr/>
          <p:nvPr/>
        </p:nvSpPr>
        <p:spPr>
          <a:xfrm>
            <a:off x="822960" y="1828800"/>
            <a:ext cx="4892040" cy="2057400"/>
          </a:xfrm>
          <a:prstGeom prst="rect">
            <a:avLst/>
          </a:prstGeom>
          <a:noFill/>
          <a:ln/>
        </p:spPr>
        <p:txBody>
          <a:bodyPr wrap="square" lIns="0" tIns="0" rIns="0" bIns="0" rtlCol="0" anchor="t"/>
          <a:lstStyle/>
          <a:p>
            <a:pPr indent="0" marL="0">
              <a:lnSpc>
                <a:spcPts val="1885"/>
              </a:lnSpc>
              <a:buNone/>
            </a:pPr>
            <a:r>
              <a:rPr lang="en-US" sz="1300" dirty="0">
                <a:solidFill>
                  <a:srgbClr val="569CD6"/>
                </a:solidFill>
                <a:latin typeface="Courier New" pitchFamily="34" charset="0"/>
                <a:ea typeface="Courier New" pitchFamily="34" charset="-122"/>
                <a:cs typeface="Courier New" pitchFamily="34" charset="-120"/>
              </a:rPr>
              <a:t>public</a:t>
            </a:r>
            <a:pPr indent="0" marL="0">
              <a:lnSpc>
                <a:spcPts val="1885"/>
              </a:lnSpc>
              <a:buNone/>
            </a:pPr>
            <a:r>
              <a:rPr lang="en-US" sz="1300" dirty="0">
                <a:solidFill>
                  <a:srgbClr val="569CD6"/>
                </a:solidFill>
                <a:latin typeface="Courier New" pitchFamily="34" charset="0"/>
                <a:ea typeface="Courier New" pitchFamily="34" charset="-122"/>
                <a:cs typeface="Courier New" pitchFamily="34" charset="-120"/>
              </a:rPr>
              <a:t> int </a:t>
            </a:r>
            <a:pPr indent="0" marL="0">
              <a:lnSpc>
                <a:spcPts val="1885"/>
              </a:lnSpc>
              <a:buNone/>
            </a:pPr>
            <a:r>
              <a:rPr lang="en-US" sz="1300" dirty="0">
                <a:solidFill>
                  <a:srgbClr val="DCDCAA"/>
                </a:solidFill>
                <a:latin typeface="Courier New" pitchFamily="34" charset="0"/>
                <a:ea typeface="Courier New" pitchFamily="34" charset="-122"/>
                <a:cs typeface="Courier New" pitchFamily="34" charset="-120"/>
              </a:rPr>
              <a:t>Addieren</a:t>
            </a:r>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ts val="1885"/>
              </a:lnSpc>
              <a:buNone/>
            </a:pPr>
            <a:r>
              <a:rPr lang="en-US" sz="1300" dirty="0">
                <a:solidFill>
                  <a:srgbClr val="569CD6"/>
                </a:solidFill>
                <a:latin typeface="Courier New" pitchFamily="34" charset="0"/>
                <a:ea typeface="Courier New" pitchFamily="34" charset="-122"/>
                <a:cs typeface="Courier New" pitchFamily="34" charset="-120"/>
              </a:rPr>
              <a:t>int</a:t>
            </a:r>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 a, </a:t>
            </a:r>
            <a:pPr indent="0" marL="0">
              <a:lnSpc>
                <a:spcPts val="1885"/>
              </a:lnSpc>
              <a:buNone/>
            </a:pPr>
            <a:r>
              <a:rPr lang="en-US" sz="1300" dirty="0">
                <a:solidFill>
                  <a:srgbClr val="569CD6"/>
                </a:solidFill>
                <a:latin typeface="Courier New" pitchFamily="34" charset="0"/>
                <a:ea typeface="Courier New" pitchFamily="34" charset="-122"/>
                <a:cs typeface="Courier New" pitchFamily="34" charset="-120"/>
              </a:rPr>
              <a:t>int</a:t>
            </a:r>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 b)</a:t>
            </a:r>
            <a:endParaRPr lang="en-US" sz="1300" dirty="0"/>
          </a:p>
          <a:p>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ts val="1885"/>
              </a:lnSpc>
              <a:buNone/>
            </a:pPr>
            <a:r>
              <a:rPr lang="en-US" sz="1300" dirty="0">
                <a:solidFill>
                  <a:srgbClr val="569CD6"/>
                </a:solidFill>
                <a:latin typeface="Courier New" pitchFamily="34" charset="0"/>
                <a:ea typeface="Courier New" pitchFamily="34" charset="-122"/>
                <a:cs typeface="Courier New" pitchFamily="34" charset="-120"/>
              </a:rPr>
              <a:t>    return</a:t>
            </a:r>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 a + b;</a:t>
            </a:r>
            <a:endParaRPr lang="en-US" sz="1300" dirty="0"/>
          </a:p>
          <a:p>
            <a:pPr indent="0" marL="0">
              <a:lnSpc>
                <a:spcPts val="1885"/>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23" name="Text 21"/>
          <p:cNvSpPr/>
          <p:nvPr/>
        </p:nvSpPr>
        <p:spPr>
          <a:xfrm>
            <a:off x="548640" y="4096512"/>
            <a:ext cx="5394960" cy="274320"/>
          </a:xfrm>
          <a:prstGeom prst="rect">
            <a:avLst/>
          </a:prstGeom>
          <a:noFill/>
          <a:ln/>
        </p:spPr>
        <p:txBody>
          <a:bodyPr wrap="square" lIns="0" tIns="0" rIns="0" bIns="0" rtlCol="0" anchor="ctr"/>
          <a:lstStyle/>
          <a:p>
            <a:pPr algn="ctr" indent="0" marL="0">
              <a:buNone/>
            </a:pPr>
            <a:r>
              <a:rPr lang="en-US" sz="1100" dirty="0">
                <a:solidFill>
                  <a:srgbClr val="5A6B82"/>
                </a:solidFill>
                <a:latin typeface="Calibri" pitchFamily="34" charset="0"/>
                <a:ea typeface="Calibri" pitchFamily="34" charset="-122"/>
                <a:cs typeface="Calibri" pitchFamily="34" charset="-120"/>
              </a:rPr>
              <a:t>Produktivcode</a:t>
            </a:r>
            <a:endParaRPr lang="en-US" sz="1100" dirty="0"/>
          </a:p>
        </p:txBody>
      </p:sp>
      <p:sp>
        <p:nvSpPr>
          <p:cNvPr id="24" name="Shape 22"/>
          <p:cNvSpPr/>
          <p:nvPr/>
        </p:nvSpPr>
        <p:spPr>
          <a:xfrm>
            <a:off x="6263640" y="1325880"/>
            <a:ext cx="5394960" cy="2697480"/>
          </a:xfrm>
          <a:prstGeom prst="roundRect">
            <a:avLst>
              <a:gd name="adj" fmla="val 3051"/>
            </a:avLst>
          </a:prstGeom>
          <a:solidFill>
            <a:srgbClr val="0A0F1A"/>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5" name="Shape 23"/>
          <p:cNvSpPr/>
          <p:nvPr/>
        </p:nvSpPr>
        <p:spPr>
          <a:xfrm>
            <a:off x="6446520" y="1472184"/>
            <a:ext cx="82296" cy="82296"/>
          </a:xfrm>
          <a:prstGeom prst="ellipse">
            <a:avLst/>
          </a:prstGeom>
          <a:solidFill>
            <a:srgbClr val="FF5F56"/>
          </a:solidFill>
          <a:ln/>
        </p:spPr>
      </p:sp>
      <p:sp>
        <p:nvSpPr>
          <p:cNvPr id="26" name="Shape 24"/>
          <p:cNvSpPr/>
          <p:nvPr/>
        </p:nvSpPr>
        <p:spPr>
          <a:xfrm>
            <a:off x="6592824" y="1472184"/>
            <a:ext cx="82296" cy="82296"/>
          </a:xfrm>
          <a:prstGeom prst="ellipse">
            <a:avLst/>
          </a:prstGeom>
          <a:solidFill>
            <a:srgbClr val="FFBD2E"/>
          </a:solidFill>
          <a:ln/>
        </p:spPr>
      </p:sp>
      <p:sp>
        <p:nvSpPr>
          <p:cNvPr id="27" name="Shape 25"/>
          <p:cNvSpPr/>
          <p:nvPr/>
        </p:nvSpPr>
        <p:spPr>
          <a:xfrm>
            <a:off x="6739128" y="1472184"/>
            <a:ext cx="82296" cy="82296"/>
          </a:xfrm>
          <a:prstGeom prst="ellipse">
            <a:avLst/>
          </a:prstGeom>
          <a:solidFill>
            <a:srgbClr val="27C93F"/>
          </a:solidFill>
          <a:ln/>
        </p:spPr>
      </p:sp>
      <p:sp>
        <p:nvSpPr>
          <p:cNvPr id="28" name="Text 26"/>
          <p:cNvSpPr/>
          <p:nvPr/>
        </p:nvSpPr>
        <p:spPr>
          <a:xfrm>
            <a:off x="6949440" y="1380744"/>
            <a:ext cx="4480560" cy="274320"/>
          </a:xfrm>
          <a:prstGeom prst="rect">
            <a:avLst/>
          </a:prstGeom>
          <a:noFill/>
          <a:ln/>
        </p:spPr>
        <p:txBody>
          <a:bodyPr wrap="square" lIns="0" tIns="0" rIns="0" bIns="0" rtlCol="0" anchor="ctr"/>
          <a:lstStyle/>
          <a:p>
            <a:pPr indent="0" marL="0">
              <a:buNone/>
            </a:pPr>
            <a:r>
              <a:rPr lang="en-US" sz="1000" dirty="0">
                <a:solidFill>
                  <a:srgbClr val="5A6B82"/>
                </a:solidFill>
                <a:latin typeface="Courier New" pitchFamily="34" charset="0"/>
                <a:ea typeface="Courier New" pitchFamily="34" charset="-122"/>
                <a:cs typeface="Courier New" pitchFamily="34" charset="-120"/>
              </a:rPr>
              <a:t>RechnerTests.cs</a:t>
            </a:r>
            <a:endParaRPr lang="en-US" sz="1000" dirty="0"/>
          </a:p>
        </p:txBody>
      </p:sp>
      <p:sp>
        <p:nvSpPr>
          <p:cNvPr id="29" name="Shape 27"/>
          <p:cNvSpPr/>
          <p:nvPr/>
        </p:nvSpPr>
        <p:spPr>
          <a:xfrm>
            <a:off x="6263640" y="1709928"/>
            <a:ext cx="5394960" cy="0"/>
          </a:xfrm>
          <a:prstGeom prst="line">
            <a:avLst/>
          </a:prstGeom>
          <a:noFill/>
          <a:ln w="9525">
            <a:solidFill>
              <a:srgbClr val="2B3B52"/>
            </a:solidFill>
            <a:prstDash val="solid"/>
          </a:ln>
        </p:spPr>
      </p:sp>
      <p:sp>
        <p:nvSpPr>
          <p:cNvPr id="30" name="Text 28"/>
          <p:cNvSpPr/>
          <p:nvPr/>
        </p:nvSpPr>
        <p:spPr>
          <a:xfrm>
            <a:off x="6537960" y="1828800"/>
            <a:ext cx="4892040" cy="2057400"/>
          </a:xfrm>
          <a:prstGeom prst="rect">
            <a:avLst/>
          </a:prstGeom>
          <a:noFill/>
          <a:ln/>
        </p:spPr>
        <p:txBody>
          <a:bodyPr wrap="square" lIns="0" tIns="0" rIns="0" bIns="0" rtlCol="0" anchor="t"/>
          <a:lstStyle/>
          <a:p>
            <a:pPr indent="0" marL="0">
              <a:lnSpc>
                <a:spcPts val="1550"/>
              </a:lnSpc>
              <a:buNone/>
            </a:pPr>
            <a:r>
              <a:rPr lang="en-US" sz="1200" dirty="0">
                <a:solidFill>
                  <a:srgbClr val="4EC9B0"/>
                </a:solidFill>
                <a:latin typeface="Courier New" pitchFamily="34" charset="0"/>
                <a:ea typeface="Courier New" pitchFamily="34" charset="-122"/>
                <a:cs typeface="Courier New" pitchFamily="34" charset="-120"/>
              </a:rPr>
              <a:t>[Test]</a:t>
            </a:r>
            <a:endParaRPr lang="en-US" sz="1200" dirty="0"/>
          </a:p>
          <a:p>
            <a:pPr indent="0" marL="0">
              <a:lnSpc>
                <a:spcPts val="1550"/>
              </a:lnSpc>
              <a:buNone/>
            </a:pPr>
            <a:r>
              <a:rPr lang="en-US" sz="1200" dirty="0">
                <a:solidFill>
                  <a:srgbClr val="569CD6"/>
                </a:solidFill>
                <a:latin typeface="Courier New" pitchFamily="34" charset="0"/>
                <a:ea typeface="Courier New" pitchFamily="34" charset="-122"/>
                <a:cs typeface="Courier New" pitchFamily="34" charset="-120"/>
              </a:rPr>
              <a:t>public</a:t>
            </a:r>
            <a:pPr indent="0" marL="0">
              <a:lnSpc>
                <a:spcPts val="1550"/>
              </a:lnSpc>
              <a:buNone/>
            </a:pPr>
            <a:r>
              <a:rPr lang="en-US" sz="1200" dirty="0">
                <a:solidFill>
                  <a:srgbClr val="569CD6"/>
                </a:solidFill>
                <a:latin typeface="Courier New" pitchFamily="34" charset="0"/>
                <a:ea typeface="Courier New" pitchFamily="34" charset="-122"/>
                <a:cs typeface="Courier New" pitchFamily="34" charset="-120"/>
              </a:rPr>
              <a:t> void </a:t>
            </a:r>
            <a:pPr indent="0" marL="0">
              <a:lnSpc>
                <a:spcPts val="1550"/>
              </a:lnSpc>
              <a:buNone/>
            </a:pPr>
            <a:r>
              <a:rPr lang="en-US" sz="1200" dirty="0">
                <a:solidFill>
                  <a:srgbClr val="DCDCAA"/>
                </a:solidFill>
                <a:latin typeface="Courier New" pitchFamily="34" charset="0"/>
                <a:ea typeface="Courier New" pitchFamily="34" charset="-122"/>
                <a:cs typeface="Courier New" pitchFamily="34" charset="-120"/>
              </a:rPr>
              <a:t>Addieren_2Und3_Ergibt5</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ts val="1550"/>
              </a:lnSpc>
              <a:buNone/>
            </a:pPr>
            <a:r>
              <a:rPr lang="en-US" sz="1200" dirty="0">
                <a:solidFill>
                  <a:srgbClr val="569CD6"/>
                </a:solidFill>
                <a:latin typeface="Courier New" pitchFamily="34" charset="0"/>
                <a:ea typeface="Courier New" pitchFamily="34" charset="-122"/>
                <a:cs typeface="Courier New" pitchFamily="34" charset="-120"/>
              </a:rPr>
              <a:t>    int</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 ergebnis = </a:t>
            </a:r>
            <a:pPr indent="0" marL="0">
              <a:lnSpc>
                <a:spcPts val="1550"/>
              </a:lnSpc>
              <a:buNone/>
            </a:pPr>
            <a:r>
              <a:rPr lang="en-US" sz="1200" dirty="0">
                <a:solidFill>
                  <a:srgbClr val="DCDCAA"/>
                </a:solidFill>
                <a:latin typeface="Courier New" pitchFamily="34" charset="0"/>
                <a:ea typeface="Courier New" pitchFamily="34" charset="-122"/>
                <a:cs typeface="Courier New" pitchFamily="34" charset="-120"/>
              </a:rPr>
              <a:t>Addieren</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ts val="1550"/>
              </a:lnSpc>
              <a:buNone/>
            </a:pPr>
            <a:r>
              <a:rPr lang="en-US" sz="1200" dirty="0">
                <a:solidFill>
                  <a:srgbClr val="B5CEA8"/>
                </a:solidFill>
                <a:latin typeface="Courier New" pitchFamily="34" charset="0"/>
                <a:ea typeface="Courier New" pitchFamily="34" charset="-122"/>
                <a:cs typeface="Courier New" pitchFamily="34" charset="-120"/>
              </a:rPr>
              <a:t>2</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ts val="1550"/>
              </a:lnSpc>
              <a:buNone/>
            </a:pPr>
            <a:r>
              <a:rPr lang="en-US" sz="1200" dirty="0">
                <a:solidFill>
                  <a:srgbClr val="B5CEA8"/>
                </a:solidFill>
                <a:latin typeface="Courier New" pitchFamily="34" charset="0"/>
                <a:ea typeface="Courier New" pitchFamily="34" charset="-122"/>
                <a:cs typeface="Courier New" pitchFamily="34" charset="-120"/>
              </a:rPr>
              <a:t>3</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ts val="1550"/>
              </a:lnSpc>
              <a:buNone/>
            </a:pPr>
            <a:r>
              <a:rPr lang="en-US" sz="1200" dirty="0">
                <a:solidFill>
                  <a:srgbClr val="4EC9B0"/>
                </a:solidFill>
                <a:latin typeface="Courier New" pitchFamily="34" charset="0"/>
                <a:ea typeface="Courier New" pitchFamily="34" charset="-122"/>
                <a:cs typeface="Courier New" pitchFamily="34" charset="-120"/>
              </a:rPr>
              <a:t>    Assert</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ts val="1550"/>
              </a:lnSpc>
              <a:buNone/>
            </a:pPr>
            <a:r>
              <a:rPr lang="en-US" sz="1200" dirty="0">
                <a:solidFill>
                  <a:srgbClr val="DCDCAA"/>
                </a:solidFill>
                <a:latin typeface="Courier New" pitchFamily="34" charset="0"/>
                <a:ea typeface="Courier New" pitchFamily="34" charset="-122"/>
                <a:cs typeface="Courier New" pitchFamily="34" charset="-120"/>
              </a:rPr>
              <a:t>AreEqual</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ts val="1550"/>
              </a:lnSpc>
              <a:buNone/>
            </a:pPr>
            <a:r>
              <a:rPr lang="en-US" sz="1200" dirty="0">
                <a:solidFill>
                  <a:srgbClr val="B5CEA8"/>
                </a:solidFill>
                <a:latin typeface="Courier New" pitchFamily="34" charset="0"/>
                <a:ea typeface="Courier New" pitchFamily="34" charset="-122"/>
                <a:cs typeface="Courier New" pitchFamily="34" charset="-120"/>
              </a:rPr>
              <a:t>5</a:t>
            </a:r>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 ergebnis);</a:t>
            </a:r>
            <a:endParaRPr lang="en-US" sz="1200" dirty="0"/>
          </a:p>
          <a:p>
            <a:pPr indent="0" marL="0">
              <a:lnSpc>
                <a:spcPts val="155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31" name="Text 29"/>
          <p:cNvSpPr/>
          <p:nvPr/>
        </p:nvSpPr>
        <p:spPr>
          <a:xfrm>
            <a:off x="6263640" y="4096512"/>
            <a:ext cx="5394960" cy="274320"/>
          </a:xfrm>
          <a:prstGeom prst="rect">
            <a:avLst/>
          </a:prstGeom>
          <a:noFill/>
          <a:ln/>
        </p:spPr>
        <p:txBody>
          <a:bodyPr wrap="square" lIns="0" tIns="0" rIns="0" bIns="0" rtlCol="0" anchor="ctr"/>
          <a:lstStyle/>
          <a:p>
            <a:pPr algn="ctr" indent="0" marL="0">
              <a:buNone/>
            </a:pPr>
            <a:r>
              <a:rPr lang="en-US" sz="1100" dirty="0">
                <a:solidFill>
                  <a:srgbClr val="5A6B82"/>
                </a:solidFill>
                <a:latin typeface="Calibri" pitchFamily="34" charset="0"/>
                <a:ea typeface="Calibri" pitchFamily="34" charset="-122"/>
                <a:cs typeface="Calibri" pitchFamily="34" charset="-120"/>
              </a:rPr>
              <a:t>Unit Test</a:t>
            </a:r>
            <a:endParaRPr lang="en-US" sz="1100" dirty="0"/>
          </a:p>
        </p:txBody>
      </p:sp>
      <p:sp>
        <p:nvSpPr>
          <p:cNvPr id="32" name="Shape 30"/>
          <p:cNvSpPr/>
          <p:nvPr/>
        </p:nvSpPr>
        <p:spPr>
          <a:xfrm>
            <a:off x="822960" y="4709160"/>
            <a:ext cx="3108960" cy="868680"/>
          </a:xfrm>
          <a:prstGeom prst="roundRect">
            <a:avLst>
              <a:gd name="adj" fmla="val 9474"/>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3" name="Text 31"/>
          <p:cNvSpPr/>
          <p:nvPr/>
        </p:nvSpPr>
        <p:spPr>
          <a:xfrm>
            <a:off x="822960" y="4828032"/>
            <a:ext cx="31089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Eingabe</a:t>
            </a:r>
            <a:endParaRPr lang="en-US" sz="1100" dirty="0"/>
          </a:p>
        </p:txBody>
      </p:sp>
      <p:sp>
        <p:nvSpPr>
          <p:cNvPr id="34" name="Text 32"/>
          <p:cNvSpPr/>
          <p:nvPr/>
        </p:nvSpPr>
        <p:spPr>
          <a:xfrm>
            <a:off x="822960" y="5074920"/>
            <a:ext cx="3108960" cy="384048"/>
          </a:xfrm>
          <a:prstGeom prst="rect">
            <a:avLst/>
          </a:prstGeom>
          <a:noFill/>
          <a:ln/>
        </p:spPr>
        <p:txBody>
          <a:bodyPr wrap="square" lIns="0" tIns="0" rIns="0" bIns="0" rtlCol="0" anchor="ctr"/>
          <a:lstStyle/>
          <a:p>
            <a:pPr algn="ctr" indent="0" marL="0">
              <a:buNone/>
            </a:pPr>
            <a:r>
              <a:rPr lang="en-US" sz="1700" b="1" dirty="0">
                <a:solidFill>
                  <a:srgbClr val="F1F5F9"/>
                </a:solidFill>
                <a:latin typeface="Courier New" pitchFamily="34" charset="0"/>
                <a:ea typeface="Courier New" pitchFamily="34" charset="-122"/>
                <a:cs typeface="Courier New" pitchFamily="34" charset="-120"/>
              </a:rPr>
              <a:t>2 + 3</a:t>
            </a:r>
            <a:endParaRPr lang="en-US" sz="1700" dirty="0"/>
          </a:p>
        </p:txBody>
      </p:sp>
      <p:sp>
        <p:nvSpPr>
          <p:cNvPr id="35" name="Shape 33"/>
          <p:cNvSpPr/>
          <p:nvPr/>
        </p:nvSpPr>
        <p:spPr>
          <a:xfrm>
            <a:off x="4123944" y="5015484"/>
            <a:ext cx="365760" cy="256032"/>
          </a:xfrm>
          <a:prstGeom prst="rightArrow">
            <a:avLst/>
          </a:prstGeom>
          <a:solidFill>
            <a:srgbClr val="5A6B82"/>
          </a:solidFill>
          <a:ln/>
        </p:spPr>
      </p:sp>
      <p:sp>
        <p:nvSpPr>
          <p:cNvPr id="36" name="Shape 34"/>
          <p:cNvSpPr/>
          <p:nvPr/>
        </p:nvSpPr>
        <p:spPr>
          <a:xfrm>
            <a:off x="4572000" y="4709160"/>
            <a:ext cx="3108960" cy="868680"/>
          </a:xfrm>
          <a:prstGeom prst="roundRect">
            <a:avLst>
              <a:gd name="adj" fmla="val 9474"/>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7" name="Text 35"/>
          <p:cNvSpPr/>
          <p:nvPr/>
        </p:nvSpPr>
        <p:spPr>
          <a:xfrm>
            <a:off x="4572000" y="4828032"/>
            <a:ext cx="310896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Erwartet</a:t>
            </a:r>
            <a:endParaRPr lang="en-US" sz="1100" dirty="0"/>
          </a:p>
        </p:txBody>
      </p:sp>
      <p:sp>
        <p:nvSpPr>
          <p:cNvPr id="38" name="Text 36"/>
          <p:cNvSpPr/>
          <p:nvPr/>
        </p:nvSpPr>
        <p:spPr>
          <a:xfrm>
            <a:off x="4572000" y="5074920"/>
            <a:ext cx="3108960" cy="384048"/>
          </a:xfrm>
          <a:prstGeom prst="rect">
            <a:avLst/>
          </a:prstGeom>
          <a:noFill/>
          <a:ln/>
        </p:spPr>
        <p:txBody>
          <a:bodyPr wrap="square" lIns="0" tIns="0" rIns="0" bIns="0" rtlCol="0" anchor="ctr"/>
          <a:lstStyle/>
          <a:p>
            <a:pPr algn="ctr" indent="0" marL="0">
              <a:buNone/>
            </a:pPr>
            <a:r>
              <a:rPr lang="en-US" sz="1700" b="1" dirty="0">
                <a:solidFill>
                  <a:srgbClr val="38BDF8"/>
                </a:solidFill>
                <a:latin typeface="Courier New" pitchFamily="34" charset="0"/>
                <a:ea typeface="Courier New" pitchFamily="34" charset="-122"/>
                <a:cs typeface="Courier New" pitchFamily="34" charset="-120"/>
              </a:rPr>
              <a:t>5</a:t>
            </a:r>
            <a:endParaRPr lang="en-US" sz="1700" dirty="0"/>
          </a:p>
        </p:txBody>
      </p:sp>
      <p:sp>
        <p:nvSpPr>
          <p:cNvPr id="39" name="Shape 37"/>
          <p:cNvSpPr/>
          <p:nvPr/>
        </p:nvSpPr>
        <p:spPr>
          <a:xfrm>
            <a:off x="7872984" y="5015484"/>
            <a:ext cx="365760" cy="256032"/>
          </a:xfrm>
          <a:prstGeom prst="rightArrow">
            <a:avLst/>
          </a:prstGeom>
          <a:solidFill>
            <a:srgbClr val="5A6B82"/>
          </a:solidFill>
          <a:ln/>
        </p:spPr>
      </p:sp>
      <p:sp>
        <p:nvSpPr>
          <p:cNvPr id="40" name="Shape 38"/>
          <p:cNvSpPr/>
          <p:nvPr/>
        </p:nvSpPr>
        <p:spPr>
          <a:xfrm>
            <a:off x="8321040" y="4709160"/>
            <a:ext cx="3108960" cy="868680"/>
          </a:xfrm>
          <a:prstGeom prst="roundRect">
            <a:avLst>
              <a:gd name="adj" fmla="val 9474"/>
            </a:avLst>
          </a:prstGeom>
          <a:solidFill>
            <a:srgbClr val="16202F"/>
          </a:solidFill>
          <a:ln w="12700">
            <a:solidFill>
              <a:srgbClr val="4ADE80">
                <a:alpha val="75000"/>
              </a:srgbClr>
            </a:solidFill>
            <a:prstDash val="solid"/>
          </a:ln>
          <a:effectLst>
            <a:outerShdw sx="100000" sy="100000" kx="0" ky="0" algn="bl" rotWithShape="0" blurRad="101600" dist="38100" dir="5400000">
              <a:srgbClr val="000000">
                <a:alpha val="30000"/>
              </a:srgbClr>
            </a:outerShdw>
          </a:effectLst>
        </p:spPr>
      </p:sp>
      <p:sp>
        <p:nvSpPr>
          <p:cNvPr id="41" name="Text 39"/>
          <p:cNvSpPr/>
          <p:nvPr/>
        </p:nvSpPr>
        <p:spPr>
          <a:xfrm>
            <a:off x="8321040" y="4709160"/>
            <a:ext cx="3108960" cy="868680"/>
          </a:xfrm>
          <a:prstGeom prst="rect">
            <a:avLst/>
          </a:prstGeom>
          <a:noFill/>
          <a:ln/>
        </p:spPr>
        <p:txBody>
          <a:bodyPr wrap="square" lIns="0" tIns="0" rIns="0" bIns="0" rtlCol="0" anchor="ctr"/>
          <a:lstStyle/>
          <a:p>
            <a:pPr algn="ctr" indent="0" marL="0">
              <a:buNone/>
            </a:pPr>
            <a:r>
              <a:rPr lang="en-US" sz="1600" b="1" dirty="0">
                <a:solidFill>
                  <a:srgbClr val="4ADE80"/>
                </a:solidFill>
                <a:latin typeface="Calibri" pitchFamily="34" charset="0"/>
                <a:ea typeface="Calibri" pitchFamily="34" charset="-122"/>
                <a:cs typeface="Calibri" pitchFamily="34" charset="-120"/>
              </a:rPr>
              <a:t>Test bestanden  ✓</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02 · UNIT TESTS</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Das AAA-Prinzip: Arrange – Act – Assert</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Shape 8"/>
          <p:cNvSpPr/>
          <p:nvPr/>
        </p:nvSpPr>
        <p:spPr>
          <a:xfrm>
            <a:off x="2989997"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1" name="Shape 9"/>
          <p:cNvSpPr/>
          <p:nvPr/>
        </p:nvSpPr>
        <p:spPr>
          <a:xfrm>
            <a:off x="3118013" y="6560820"/>
            <a:ext cx="64008" cy="64008"/>
          </a:xfrm>
          <a:prstGeom prst="ellipse">
            <a:avLst/>
          </a:prstGeom>
          <a:solidFill>
            <a:srgbClr val="38BDF8"/>
          </a:solidFill>
          <a:ln/>
        </p:spPr>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25880"/>
            <a:ext cx="3474720" cy="1371600"/>
          </a:xfrm>
          <a:prstGeom prst="roundRect">
            <a:avLst>
              <a:gd name="adj" fmla="val 6000"/>
            </a:avLst>
          </a:prstGeom>
          <a:solidFill>
            <a:srgbClr val="16202F"/>
          </a:solidFill>
          <a:ln w="15875">
            <a:solidFill>
              <a:srgbClr val="38BDF8">
                <a:alpha val="65000"/>
              </a:srgbClr>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749808" y="1764792"/>
            <a:ext cx="493776" cy="493776"/>
          </a:xfrm>
          <a:prstGeom prst="ellipse">
            <a:avLst/>
          </a:prstGeom>
          <a:solidFill>
            <a:srgbClr val="38BDF8">
              <a:alpha val="18000"/>
            </a:srgbClr>
          </a:solidFill>
          <a:ln w="15875">
            <a:solidFill>
              <a:srgbClr val="38BDF8"/>
            </a:solidFill>
            <a:prstDash val="solid"/>
          </a:ln>
        </p:spPr>
      </p:sp>
      <p:sp>
        <p:nvSpPr>
          <p:cNvPr id="18" name="Text 16"/>
          <p:cNvSpPr/>
          <p:nvPr/>
        </p:nvSpPr>
        <p:spPr>
          <a:xfrm>
            <a:off x="749808" y="1764792"/>
            <a:ext cx="493776" cy="493776"/>
          </a:xfrm>
          <a:prstGeom prst="rect">
            <a:avLst/>
          </a:prstGeom>
          <a:noFill/>
          <a:ln/>
        </p:spPr>
        <p:txBody>
          <a:bodyPr wrap="square" lIns="0" tIns="0" rIns="0" bIns="0" rtlCol="0" anchor="ctr"/>
          <a:lstStyle/>
          <a:p>
            <a:pPr algn="ctr" indent="0" marL="0">
              <a:buNone/>
            </a:pPr>
            <a:r>
              <a:rPr lang="en-US" sz="1800" b="1" dirty="0">
                <a:solidFill>
                  <a:srgbClr val="38BDF8"/>
                </a:solidFill>
                <a:latin typeface="Calibri" pitchFamily="34" charset="0"/>
                <a:ea typeface="Calibri" pitchFamily="34" charset="-122"/>
                <a:cs typeface="Calibri" pitchFamily="34" charset="-120"/>
              </a:rPr>
              <a:t>1</a:t>
            </a:r>
            <a:endParaRPr lang="en-US" sz="1800" dirty="0"/>
          </a:p>
        </p:txBody>
      </p:sp>
      <p:sp>
        <p:nvSpPr>
          <p:cNvPr id="19" name="Text 17"/>
          <p:cNvSpPr/>
          <p:nvPr/>
        </p:nvSpPr>
        <p:spPr>
          <a:xfrm>
            <a:off x="1417320" y="1490472"/>
            <a:ext cx="2468880" cy="347472"/>
          </a:xfrm>
          <a:prstGeom prst="rect">
            <a:avLst/>
          </a:prstGeom>
          <a:noFill/>
          <a:ln/>
        </p:spPr>
        <p:txBody>
          <a:bodyPr wrap="square" lIns="0" tIns="0" rIns="0" bIns="0"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Arrange</a:t>
            </a:r>
            <a:endParaRPr lang="en-US" sz="1800" dirty="0"/>
          </a:p>
        </p:txBody>
      </p:sp>
      <p:sp>
        <p:nvSpPr>
          <p:cNvPr id="20" name="Text 18"/>
          <p:cNvSpPr/>
          <p:nvPr/>
        </p:nvSpPr>
        <p:spPr>
          <a:xfrm>
            <a:off x="1417320" y="1856232"/>
            <a:ext cx="246888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Test vorbereiten</a:t>
            </a:r>
            <a:endParaRPr lang="en-US" sz="1350" dirty="0"/>
          </a:p>
        </p:txBody>
      </p:sp>
      <p:sp>
        <p:nvSpPr>
          <p:cNvPr id="21" name="Text 19"/>
          <p:cNvSpPr/>
          <p:nvPr/>
        </p:nvSpPr>
        <p:spPr>
          <a:xfrm>
            <a:off x="1417320" y="2148840"/>
            <a:ext cx="24688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Testdaten und Objekte anlegen</a:t>
            </a:r>
            <a:endParaRPr lang="en-US" sz="1100" dirty="0"/>
          </a:p>
        </p:txBody>
      </p:sp>
      <p:sp>
        <p:nvSpPr>
          <p:cNvPr id="22" name="Shape 20"/>
          <p:cNvSpPr/>
          <p:nvPr/>
        </p:nvSpPr>
        <p:spPr>
          <a:xfrm>
            <a:off x="4101084" y="1892808"/>
            <a:ext cx="329184" cy="237744"/>
          </a:xfrm>
          <a:prstGeom prst="rightArrow">
            <a:avLst/>
          </a:prstGeom>
          <a:solidFill>
            <a:srgbClr val="5A6B82"/>
          </a:solidFill>
          <a:ln/>
        </p:spPr>
      </p:sp>
      <p:sp>
        <p:nvSpPr>
          <p:cNvPr id="23" name="Shape 21"/>
          <p:cNvSpPr/>
          <p:nvPr/>
        </p:nvSpPr>
        <p:spPr>
          <a:xfrm>
            <a:off x="4361688" y="1325880"/>
            <a:ext cx="3474720" cy="1371600"/>
          </a:xfrm>
          <a:prstGeom prst="roundRect">
            <a:avLst>
              <a:gd name="adj" fmla="val 6000"/>
            </a:avLst>
          </a:prstGeom>
          <a:solidFill>
            <a:srgbClr val="16202F"/>
          </a:solidFill>
          <a:ln w="15875">
            <a:solidFill>
              <a:srgbClr val="818CF8">
                <a:alpha val="65000"/>
              </a:srgbClr>
            </a:solidFill>
            <a:prstDash val="solid"/>
          </a:ln>
          <a:effectLst>
            <a:outerShdw sx="100000" sy="100000" kx="0" ky="0" algn="bl" rotWithShape="0" blurRad="101600" dist="38100" dir="5400000">
              <a:srgbClr val="000000">
                <a:alpha val="30000"/>
              </a:srgbClr>
            </a:outerShdw>
          </a:effectLst>
        </p:spPr>
      </p:sp>
      <p:sp>
        <p:nvSpPr>
          <p:cNvPr id="24" name="Shape 22"/>
          <p:cNvSpPr/>
          <p:nvPr/>
        </p:nvSpPr>
        <p:spPr>
          <a:xfrm>
            <a:off x="4562856" y="1764792"/>
            <a:ext cx="493776" cy="493776"/>
          </a:xfrm>
          <a:prstGeom prst="ellipse">
            <a:avLst/>
          </a:prstGeom>
          <a:solidFill>
            <a:srgbClr val="818CF8">
              <a:alpha val="18000"/>
            </a:srgbClr>
          </a:solidFill>
          <a:ln w="15875">
            <a:solidFill>
              <a:srgbClr val="818CF8"/>
            </a:solidFill>
            <a:prstDash val="solid"/>
          </a:ln>
        </p:spPr>
      </p:sp>
      <p:sp>
        <p:nvSpPr>
          <p:cNvPr id="25" name="Text 23"/>
          <p:cNvSpPr/>
          <p:nvPr/>
        </p:nvSpPr>
        <p:spPr>
          <a:xfrm>
            <a:off x="4562856" y="1764792"/>
            <a:ext cx="493776" cy="493776"/>
          </a:xfrm>
          <a:prstGeom prst="rect">
            <a:avLst/>
          </a:prstGeom>
          <a:noFill/>
          <a:ln/>
        </p:spPr>
        <p:txBody>
          <a:bodyPr wrap="square" lIns="0" tIns="0" rIns="0" bIns="0" rtlCol="0" anchor="ctr"/>
          <a:lstStyle/>
          <a:p>
            <a:pPr algn="ctr" indent="0" marL="0">
              <a:buNone/>
            </a:pPr>
            <a:r>
              <a:rPr lang="en-US" sz="1800" b="1" dirty="0">
                <a:solidFill>
                  <a:srgbClr val="818CF8"/>
                </a:solidFill>
                <a:latin typeface="Calibri" pitchFamily="34" charset="0"/>
                <a:ea typeface="Calibri" pitchFamily="34" charset="-122"/>
                <a:cs typeface="Calibri" pitchFamily="34" charset="-120"/>
              </a:rPr>
              <a:t>2</a:t>
            </a:r>
            <a:endParaRPr lang="en-US" sz="1800" dirty="0"/>
          </a:p>
        </p:txBody>
      </p:sp>
      <p:sp>
        <p:nvSpPr>
          <p:cNvPr id="26" name="Text 24"/>
          <p:cNvSpPr/>
          <p:nvPr/>
        </p:nvSpPr>
        <p:spPr>
          <a:xfrm>
            <a:off x="5230368" y="1490472"/>
            <a:ext cx="2468880" cy="347472"/>
          </a:xfrm>
          <a:prstGeom prst="rect">
            <a:avLst/>
          </a:prstGeom>
          <a:noFill/>
          <a:ln/>
        </p:spPr>
        <p:txBody>
          <a:bodyPr wrap="square" lIns="0" tIns="0" rIns="0" bIns="0" rtlCol="0" anchor="ctr"/>
          <a:lstStyle/>
          <a:p>
            <a:pPr indent="0" marL="0">
              <a:buNone/>
            </a:pPr>
            <a:r>
              <a:rPr lang="en-US" sz="1800" b="1" dirty="0">
                <a:solidFill>
                  <a:srgbClr val="818CF8"/>
                </a:solidFill>
                <a:latin typeface="Calibri" pitchFamily="34" charset="0"/>
                <a:ea typeface="Calibri" pitchFamily="34" charset="-122"/>
                <a:cs typeface="Calibri" pitchFamily="34" charset="-120"/>
              </a:rPr>
              <a:t>Act</a:t>
            </a:r>
            <a:endParaRPr lang="en-US" sz="1800" dirty="0"/>
          </a:p>
        </p:txBody>
      </p:sp>
      <p:sp>
        <p:nvSpPr>
          <p:cNvPr id="27" name="Text 25"/>
          <p:cNvSpPr/>
          <p:nvPr/>
        </p:nvSpPr>
        <p:spPr>
          <a:xfrm>
            <a:off x="5230368" y="1856232"/>
            <a:ext cx="246888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Methode ausführen</a:t>
            </a:r>
            <a:endParaRPr lang="en-US" sz="1350" dirty="0"/>
          </a:p>
        </p:txBody>
      </p:sp>
      <p:sp>
        <p:nvSpPr>
          <p:cNvPr id="28" name="Text 26"/>
          <p:cNvSpPr/>
          <p:nvPr/>
        </p:nvSpPr>
        <p:spPr>
          <a:xfrm>
            <a:off x="5230368" y="2148840"/>
            <a:ext cx="24688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genau eine Aktion auslösen</a:t>
            </a:r>
            <a:endParaRPr lang="en-US" sz="1100" dirty="0"/>
          </a:p>
        </p:txBody>
      </p:sp>
      <p:sp>
        <p:nvSpPr>
          <p:cNvPr id="29" name="Shape 27"/>
          <p:cNvSpPr/>
          <p:nvPr/>
        </p:nvSpPr>
        <p:spPr>
          <a:xfrm>
            <a:off x="7914132" y="1892808"/>
            <a:ext cx="329184" cy="237744"/>
          </a:xfrm>
          <a:prstGeom prst="rightArrow">
            <a:avLst/>
          </a:prstGeom>
          <a:solidFill>
            <a:srgbClr val="5A6B82"/>
          </a:solidFill>
          <a:ln/>
        </p:spPr>
      </p:sp>
      <p:sp>
        <p:nvSpPr>
          <p:cNvPr id="30" name="Shape 28"/>
          <p:cNvSpPr/>
          <p:nvPr/>
        </p:nvSpPr>
        <p:spPr>
          <a:xfrm>
            <a:off x="8174736" y="1325880"/>
            <a:ext cx="3474720" cy="1371600"/>
          </a:xfrm>
          <a:prstGeom prst="roundRect">
            <a:avLst>
              <a:gd name="adj" fmla="val 6000"/>
            </a:avLst>
          </a:prstGeom>
          <a:solidFill>
            <a:srgbClr val="16202F"/>
          </a:solidFill>
          <a:ln w="15875">
            <a:solidFill>
              <a:srgbClr val="4ADE80">
                <a:alpha val="65000"/>
              </a:srgbClr>
            </a:solidFill>
            <a:prstDash val="solid"/>
          </a:ln>
          <a:effectLst>
            <a:outerShdw sx="100000" sy="100000" kx="0" ky="0" algn="bl" rotWithShape="0" blurRad="101600" dist="38100" dir="5400000">
              <a:srgbClr val="000000">
                <a:alpha val="30000"/>
              </a:srgbClr>
            </a:outerShdw>
          </a:effectLst>
        </p:spPr>
      </p:sp>
      <p:sp>
        <p:nvSpPr>
          <p:cNvPr id="31" name="Shape 29"/>
          <p:cNvSpPr/>
          <p:nvPr/>
        </p:nvSpPr>
        <p:spPr>
          <a:xfrm>
            <a:off x="8375904" y="1764792"/>
            <a:ext cx="493776" cy="493776"/>
          </a:xfrm>
          <a:prstGeom prst="ellipse">
            <a:avLst/>
          </a:prstGeom>
          <a:solidFill>
            <a:srgbClr val="4ADE80">
              <a:alpha val="18000"/>
            </a:srgbClr>
          </a:solidFill>
          <a:ln w="15875">
            <a:solidFill>
              <a:srgbClr val="4ADE80"/>
            </a:solidFill>
            <a:prstDash val="solid"/>
          </a:ln>
        </p:spPr>
      </p:sp>
      <p:sp>
        <p:nvSpPr>
          <p:cNvPr id="32" name="Text 30"/>
          <p:cNvSpPr/>
          <p:nvPr/>
        </p:nvSpPr>
        <p:spPr>
          <a:xfrm>
            <a:off x="8375904" y="1764792"/>
            <a:ext cx="493776" cy="493776"/>
          </a:xfrm>
          <a:prstGeom prst="rect">
            <a:avLst/>
          </a:prstGeom>
          <a:noFill/>
          <a:ln/>
        </p:spPr>
        <p:txBody>
          <a:bodyPr wrap="square" lIns="0" tIns="0" rIns="0" bIns="0" rtlCol="0" anchor="ctr"/>
          <a:lstStyle/>
          <a:p>
            <a:pPr algn="ctr" indent="0" marL="0">
              <a:buNone/>
            </a:pPr>
            <a:r>
              <a:rPr lang="en-US" sz="1800" b="1" dirty="0">
                <a:solidFill>
                  <a:srgbClr val="4ADE80"/>
                </a:solidFill>
                <a:latin typeface="Calibri" pitchFamily="34" charset="0"/>
                <a:ea typeface="Calibri" pitchFamily="34" charset="-122"/>
                <a:cs typeface="Calibri" pitchFamily="34" charset="-120"/>
              </a:rPr>
              <a:t>3</a:t>
            </a:r>
            <a:endParaRPr lang="en-US" sz="1800" dirty="0"/>
          </a:p>
        </p:txBody>
      </p:sp>
      <p:sp>
        <p:nvSpPr>
          <p:cNvPr id="33" name="Text 31"/>
          <p:cNvSpPr/>
          <p:nvPr/>
        </p:nvSpPr>
        <p:spPr>
          <a:xfrm>
            <a:off x="9043416" y="1490472"/>
            <a:ext cx="2468880" cy="347472"/>
          </a:xfrm>
          <a:prstGeom prst="rect">
            <a:avLst/>
          </a:prstGeom>
          <a:noFill/>
          <a:ln/>
        </p:spPr>
        <p:txBody>
          <a:bodyPr wrap="square" lIns="0" tIns="0" rIns="0" bIns="0" rtlCol="0" anchor="ctr"/>
          <a:lstStyle/>
          <a:p>
            <a:pPr indent="0" marL="0">
              <a:buNone/>
            </a:pPr>
            <a:r>
              <a:rPr lang="en-US" sz="1800" b="1" dirty="0">
                <a:solidFill>
                  <a:srgbClr val="4ADE80"/>
                </a:solidFill>
                <a:latin typeface="Calibri" pitchFamily="34" charset="0"/>
                <a:ea typeface="Calibri" pitchFamily="34" charset="-122"/>
                <a:cs typeface="Calibri" pitchFamily="34" charset="-120"/>
              </a:rPr>
              <a:t>Assert</a:t>
            </a:r>
            <a:endParaRPr lang="en-US" sz="1800" dirty="0"/>
          </a:p>
        </p:txBody>
      </p:sp>
      <p:sp>
        <p:nvSpPr>
          <p:cNvPr id="34" name="Text 32"/>
          <p:cNvSpPr/>
          <p:nvPr/>
        </p:nvSpPr>
        <p:spPr>
          <a:xfrm>
            <a:off x="9043416" y="1856232"/>
            <a:ext cx="2468880" cy="27432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Ergebnis überprüfen</a:t>
            </a:r>
            <a:endParaRPr lang="en-US" sz="1350" dirty="0"/>
          </a:p>
        </p:txBody>
      </p:sp>
      <p:sp>
        <p:nvSpPr>
          <p:cNvPr id="35" name="Text 33"/>
          <p:cNvSpPr/>
          <p:nvPr/>
        </p:nvSpPr>
        <p:spPr>
          <a:xfrm>
            <a:off x="9043416" y="2148840"/>
            <a:ext cx="24688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Erwartung mit Realität vergleichen</a:t>
            </a:r>
            <a:endParaRPr lang="en-US" sz="1100" dirty="0"/>
          </a:p>
        </p:txBody>
      </p:sp>
      <p:sp>
        <p:nvSpPr>
          <p:cNvPr id="36" name="Shape 34"/>
          <p:cNvSpPr/>
          <p:nvPr/>
        </p:nvSpPr>
        <p:spPr>
          <a:xfrm>
            <a:off x="2286000" y="3154680"/>
            <a:ext cx="7616952" cy="2697480"/>
          </a:xfrm>
          <a:prstGeom prst="roundRect">
            <a:avLst>
              <a:gd name="adj" fmla="val 3051"/>
            </a:avLst>
          </a:prstGeom>
          <a:solidFill>
            <a:srgbClr val="0A0F1A"/>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7" name="Shape 35"/>
          <p:cNvSpPr/>
          <p:nvPr/>
        </p:nvSpPr>
        <p:spPr>
          <a:xfrm>
            <a:off x="2468880" y="3300984"/>
            <a:ext cx="82296" cy="82296"/>
          </a:xfrm>
          <a:prstGeom prst="ellipse">
            <a:avLst/>
          </a:prstGeom>
          <a:solidFill>
            <a:srgbClr val="FF5F56"/>
          </a:solidFill>
          <a:ln/>
        </p:spPr>
      </p:sp>
      <p:sp>
        <p:nvSpPr>
          <p:cNvPr id="38" name="Shape 36"/>
          <p:cNvSpPr/>
          <p:nvPr/>
        </p:nvSpPr>
        <p:spPr>
          <a:xfrm>
            <a:off x="2615184" y="3300984"/>
            <a:ext cx="82296" cy="82296"/>
          </a:xfrm>
          <a:prstGeom prst="ellipse">
            <a:avLst/>
          </a:prstGeom>
          <a:solidFill>
            <a:srgbClr val="FFBD2E"/>
          </a:solidFill>
          <a:ln/>
        </p:spPr>
      </p:sp>
      <p:sp>
        <p:nvSpPr>
          <p:cNvPr id="39" name="Shape 37"/>
          <p:cNvSpPr/>
          <p:nvPr/>
        </p:nvSpPr>
        <p:spPr>
          <a:xfrm>
            <a:off x="2761488" y="3300984"/>
            <a:ext cx="82296" cy="82296"/>
          </a:xfrm>
          <a:prstGeom prst="ellipse">
            <a:avLst/>
          </a:prstGeom>
          <a:solidFill>
            <a:srgbClr val="27C93F"/>
          </a:solidFill>
          <a:ln/>
        </p:spPr>
      </p:sp>
      <p:sp>
        <p:nvSpPr>
          <p:cNvPr id="40" name="Text 38"/>
          <p:cNvSpPr/>
          <p:nvPr/>
        </p:nvSpPr>
        <p:spPr>
          <a:xfrm>
            <a:off x="2971800" y="3209544"/>
            <a:ext cx="6702552" cy="274320"/>
          </a:xfrm>
          <a:prstGeom prst="rect">
            <a:avLst/>
          </a:prstGeom>
          <a:noFill/>
          <a:ln/>
        </p:spPr>
        <p:txBody>
          <a:bodyPr wrap="square" lIns="0" tIns="0" rIns="0" bIns="0" rtlCol="0" anchor="ctr"/>
          <a:lstStyle/>
          <a:p>
            <a:pPr indent="0" marL="0">
              <a:buNone/>
            </a:pPr>
            <a:r>
              <a:rPr lang="en-US" sz="1000" dirty="0">
                <a:solidFill>
                  <a:srgbClr val="5A6B82"/>
                </a:solidFill>
                <a:latin typeface="Courier New" pitchFamily="34" charset="0"/>
                <a:ea typeface="Courier New" pitchFamily="34" charset="-122"/>
                <a:cs typeface="Courier New" pitchFamily="34" charset="-120"/>
              </a:rPr>
              <a:t>AdditionsTest.cs</a:t>
            </a:r>
            <a:endParaRPr lang="en-US" sz="1000" dirty="0"/>
          </a:p>
        </p:txBody>
      </p:sp>
      <p:sp>
        <p:nvSpPr>
          <p:cNvPr id="41" name="Shape 39"/>
          <p:cNvSpPr/>
          <p:nvPr/>
        </p:nvSpPr>
        <p:spPr>
          <a:xfrm>
            <a:off x="2286000" y="3538728"/>
            <a:ext cx="7616952" cy="0"/>
          </a:xfrm>
          <a:prstGeom prst="line">
            <a:avLst/>
          </a:prstGeom>
          <a:noFill/>
          <a:ln w="9525">
            <a:solidFill>
              <a:srgbClr val="2B3B52"/>
            </a:solidFill>
            <a:prstDash val="solid"/>
          </a:ln>
        </p:spPr>
      </p:sp>
      <p:sp>
        <p:nvSpPr>
          <p:cNvPr id="42" name="Text 40"/>
          <p:cNvSpPr/>
          <p:nvPr/>
        </p:nvSpPr>
        <p:spPr>
          <a:xfrm>
            <a:off x="2560320" y="3657600"/>
            <a:ext cx="7114032" cy="2057400"/>
          </a:xfrm>
          <a:prstGeom prst="rect">
            <a:avLst/>
          </a:prstGeom>
          <a:noFill/>
          <a:ln/>
        </p:spPr>
        <p:txBody>
          <a:bodyPr wrap="square" lIns="0" tIns="0" rIns="0" bIns="0" rtlCol="0" anchor="t"/>
          <a:lstStyle/>
          <a:p>
            <a:pPr indent="0" marL="0">
              <a:lnSpc>
                <a:spcPts val="1600"/>
              </a:lnSpc>
              <a:buNone/>
            </a:pPr>
            <a:r>
              <a:rPr lang="en-US" sz="1250" dirty="0">
                <a:solidFill>
                  <a:srgbClr val="38BDF8"/>
                </a:solidFill>
                <a:latin typeface="Courier New" pitchFamily="34" charset="0"/>
                <a:ea typeface="Courier New" pitchFamily="34" charset="-122"/>
                <a:cs typeface="Courier New" pitchFamily="34" charset="-120"/>
              </a:rPr>
              <a:t>// Arrange</a:t>
            </a:r>
            <a:endParaRPr lang="en-US" sz="1250" dirty="0"/>
          </a:p>
          <a:p>
            <a:pPr indent="0" marL="0">
              <a:lnSpc>
                <a:spcPts val="1600"/>
              </a:lnSpc>
              <a:buNone/>
            </a:pPr>
            <a:r>
              <a:rPr lang="en-US" sz="1250" dirty="0">
                <a:solidFill>
                  <a:srgbClr val="569CD6"/>
                </a:solidFill>
                <a:latin typeface="Courier New" pitchFamily="34" charset="0"/>
                <a:ea typeface="Courier New" pitchFamily="34" charset="-122"/>
                <a:cs typeface="Courier New" pitchFamily="34" charset="-120"/>
              </a:rPr>
              <a:t>int</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a = </a:t>
            </a:r>
            <a:pPr indent="0" marL="0">
              <a:lnSpc>
                <a:spcPts val="1600"/>
              </a:lnSpc>
              <a:buNone/>
            </a:pPr>
            <a:r>
              <a:rPr lang="en-US" sz="1250" dirty="0">
                <a:solidFill>
                  <a:srgbClr val="B5CEA8"/>
                </a:solidFill>
                <a:latin typeface="Courier New" pitchFamily="34" charset="0"/>
                <a:ea typeface="Courier New" pitchFamily="34" charset="-122"/>
                <a:cs typeface="Courier New" pitchFamily="34" charset="-120"/>
              </a:rPr>
              <a:t>5</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a:t>
            </a:r>
            <a:pPr indent="0" marL="0">
              <a:lnSpc>
                <a:spcPts val="1600"/>
              </a:lnSpc>
              <a:buNone/>
            </a:pPr>
            <a:r>
              <a:rPr lang="en-US" sz="1250" dirty="0">
                <a:solidFill>
                  <a:srgbClr val="569CD6"/>
                </a:solidFill>
                <a:latin typeface="Courier New" pitchFamily="34" charset="0"/>
                <a:ea typeface="Courier New" pitchFamily="34" charset="-122"/>
                <a:cs typeface="Courier New" pitchFamily="34" charset="-120"/>
              </a:rPr>
              <a:t>int</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b = </a:t>
            </a:r>
            <a:pPr indent="0" marL="0">
              <a:lnSpc>
                <a:spcPts val="1600"/>
              </a:lnSpc>
              <a:buNone/>
            </a:pPr>
            <a:r>
              <a:rPr lang="en-US" sz="1250" dirty="0">
                <a:solidFill>
                  <a:srgbClr val="B5CEA8"/>
                </a:solidFill>
                <a:latin typeface="Courier New" pitchFamily="34" charset="0"/>
                <a:ea typeface="Courier New" pitchFamily="34" charset="-122"/>
                <a:cs typeface="Courier New" pitchFamily="34" charset="-120"/>
              </a:rPr>
              <a:t>10</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a:p>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a:t>
            </a:r>
            <a:endParaRPr lang="en-US" sz="1250" dirty="0"/>
          </a:p>
          <a:p>
            <a:pPr indent="0" marL="0">
              <a:lnSpc>
                <a:spcPts val="1600"/>
              </a:lnSpc>
              <a:buNone/>
            </a:pPr>
            <a:r>
              <a:rPr lang="en-US" sz="1250" dirty="0">
                <a:solidFill>
                  <a:srgbClr val="818CF8"/>
                </a:solidFill>
                <a:latin typeface="Courier New" pitchFamily="34" charset="0"/>
                <a:ea typeface="Courier New" pitchFamily="34" charset="-122"/>
                <a:cs typeface="Courier New" pitchFamily="34" charset="-120"/>
              </a:rPr>
              <a:t>// Act</a:t>
            </a:r>
            <a:endParaRPr lang="en-US" sz="1250" dirty="0"/>
          </a:p>
          <a:p>
            <a:pPr indent="0" marL="0">
              <a:lnSpc>
                <a:spcPts val="1600"/>
              </a:lnSpc>
              <a:buNone/>
            </a:pPr>
            <a:r>
              <a:rPr lang="en-US" sz="1250" dirty="0">
                <a:solidFill>
                  <a:srgbClr val="569CD6"/>
                </a:solidFill>
                <a:latin typeface="Courier New" pitchFamily="34" charset="0"/>
                <a:ea typeface="Courier New" pitchFamily="34" charset="-122"/>
                <a:cs typeface="Courier New" pitchFamily="34" charset="-120"/>
              </a:rPr>
              <a:t>int</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ergebnis = </a:t>
            </a:r>
            <a:pPr indent="0" marL="0">
              <a:lnSpc>
                <a:spcPts val="1600"/>
              </a:lnSpc>
              <a:buNone/>
            </a:pPr>
            <a:r>
              <a:rPr lang="en-US" sz="1250" dirty="0">
                <a:solidFill>
                  <a:srgbClr val="DCDCAA"/>
                </a:solidFill>
                <a:latin typeface="Courier New" pitchFamily="34" charset="0"/>
                <a:ea typeface="Courier New" pitchFamily="34" charset="-122"/>
                <a:cs typeface="Courier New" pitchFamily="34" charset="-120"/>
              </a:rPr>
              <a:t>Addieren</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(a, b);</a:t>
            </a:r>
            <a:endParaRPr lang="en-US" sz="1250" dirty="0"/>
          </a:p>
          <a:p>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a:t>
            </a:r>
            <a:endParaRPr lang="en-US" sz="1250" dirty="0"/>
          </a:p>
          <a:p>
            <a:pPr indent="0" marL="0">
              <a:lnSpc>
                <a:spcPts val="1600"/>
              </a:lnSpc>
              <a:buNone/>
            </a:pPr>
            <a:r>
              <a:rPr lang="en-US" sz="1250" dirty="0">
                <a:solidFill>
                  <a:srgbClr val="4ADE80"/>
                </a:solidFill>
                <a:latin typeface="Courier New" pitchFamily="34" charset="0"/>
                <a:ea typeface="Courier New" pitchFamily="34" charset="-122"/>
                <a:cs typeface="Courier New" pitchFamily="34" charset="-120"/>
              </a:rPr>
              <a:t>// Assert</a:t>
            </a:r>
            <a:endParaRPr lang="en-US" sz="1250" dirty="0"/>
          </a:p>
          <a:p>
            <a:pPr indent="0" marL="0">
              <a:lnSpc>
                <a:spcPts val="1600"/>
              </a:lnSpc>
              <a:buNone/>
            </a:pPr>
            <a:r>
              <a:rPr lang="en-US" sz="1250" dirty="0">
                <a:solidFill>
                  <a:srgbClr val="4EC9B0"/>
                </a:solidFill>
                <a:latin typeface="Courier New" pitchFamily="34" charset="0"/>
                <a:ea typeface="Courier New" pitchFamily="34" charset="-122"/>
                <a:cs typeface="Courier New" pitchFamily="34" charset="-120"/>
              </a:rPr>
              <a:t>Assert</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a:t>
            </a:r>
            <a:pPr indent="0" marL="0">
              <a:lnSpc>
                <a:spcPts val="1600"/>
              </a:lnSpc>
              <a:buNone/>
            </a:pPr>
            <a:r>
              <a:rPr lang="en-US" sz="1250" dirty="0">
                <a:solidFill>
                  <a:srgbClr val="DCDCAA"/>
                </a:solidFill>
                <a:latin typeface="Courier New" pitchFamily="34" charset="0"/>
                <a:ea typeface="Courier New" pitchFamily="34" charset="-122"/>
                <a:cs typeface="Courier New" pitchFamily="34" charset="-120"/>
              </a:rPr>
              <a:t>AreEqual</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a:t>
            </a:r>
            <a:pPr indent="0" marL="0">
              <a:lnSpc>
                <a:spcPts val="1600"/>
              </a:lnSpc>
              <a:buNone/>
            </a:pPr>
            <a:r>
              <a:rPr lang="en-US" sz="1250" dirty="0">
                <a:solidFill>
                  <a:srgbClr val="B5CEA8"/>
                </a:solidFill>
                <a:latin typeface="Courier New" pitchFamily="34" charset="0"/>
                <a:ea typeface="Courier New" pitchFamily="34" charset="-122"/>
                <a:cs typeface="Courier New" pitchFamily="34" charset="-120"/>
              </a:rPr>
              <a:t>15</a:t>
            </a:r>
            <a:pPr indent="0" marL="0">
              <a:lnSpc>
                <a:spcPts val="1600"/>
              </a:lnSpc>
              <a:buNone/>
            </a:pPr>
            <a:r>
              <a:rPr lang="en-US" sz="1250" dirty="0">
                <a:solidFill>
                  <a:srgbClr val="E6EDF3"/>
                </a:solidFill>
                <a:latin typeface="Courier New" pitchFamily="34" charset="0"/>
                <a:ea typeface="Courier New" pitchFamily="34" charset="-122"/>
                <a:cs typeface="Courier New" pitchFamily="34" charset="-120"/>
              </a:rPr>
              <a:t>, ergebnis);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02 · UNIT TESTS</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Was macht einen guten Unit Test aus?</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Shape 8"/>
          <p:cNvSpPr/>
          <p:nvPr/>
        </p:nvSpPr>
        <p:spPr>
          <a:xfrm>
            <a:off x="2989997"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1" name="Shape 9"/>
          <p:cNvSpPr/>
          <p:nvPr/>
        </p:nvSpPr>
        <p:spPr>
          <a:xfrm>
            <a:off x="3118013" y="6560820"/>
            <a:ext cx="64008" cy="64008"/>
          </a:xfrm>
          <a:prstGeom prst="ellipse">
            <a:avLst/>
          </a:prstGeom>
          <a:solidFill>
            <a:srgbClr val="38BDF8"/>
          </a:solidFill>
          <a:ln/>
        </p:spPr>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41732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804672" y="1673352"/>
            <a:ext cx="548640" cy="548640"/>
          </a:xfrm>
          <a:prstGeom prst="ellipse">
            <a:avLst/>
          </a:prstGeom>
          <a:solidFill>
            <a:srgbClr val="0D1420"/>
          </a:solidFill>
          <a:ln w="12700">
            <a:solidFill>
              <a:srgbClr val="2B3B52"/>
            </a:solidFill>
            <a:prstDash val="solid"/>
          </a:ln>
        </p:spPr>
      </p:sp>
      <p:pic>
        <p:nvPicPr>
          <p:cNvPr id="18" name="Image 0" descr="/tmp/claude-0/-home-user-Test-Scatterpoint/4a189312-3458-5f65-a7f5-9710b6e532c7/scratchpad/icons/zap.png">    </p:cNvPr>
          <p:cNvPicPr>
            <a:picLocks noChangeAspect="1"/>
          </p:cNvPicPr>
          <p:nvPr/>
        </p:nvPicPr>
        <p:blipFill>
          <a:blip r:embed="rId1"/>
          <a:stretch>
            <a:fillRect/>
          </a:stretch>
        </p:blipFill>
        <p:spPr>
          <a:xfrm>
            <a:off x="947318" y="1815998"/>
            <a:ext cx="263347" cy="263347"/>
          </a:xfrm>
          <a:prstGeom prst="rect">
            <a:avLst/>
          </a:prstGeom>
        </p:spPr>
      </p:pic>
      <p:sp>
        <p:nvSpPr>
          <p:cNvPr id="19" name="Text 16"/>
          <p:cNvSpPr/>
          <p:nvPr/>
        </p:nvSpPr>
        <p:spPr>
          <a:xfrm>
            <a:off x="804672" y="237744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Schnell</a:t>
            </a:r>
            <a:endParaRPr lang="en-US" sz="1700" dirty="0"/>
          </a:p>
        </p:txBody>
      </p:sp>
      <p:sp>
        <p:nvSpPr>
          <p:cNvPr id="20" name="Text 17"/>
          <p:cNvSpPr/>
          <p:nvPr/>
        </p:nvSpPr>
        <p:spPr>
          <a:xfrm>
            <a:off x="804672" y="274320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läuft in Millisekunden – Feedback kommt sofort</a:t>
            </a:r>
            <a:endParaRPr lang="en-US" sz="1150" dirty="0"/>
          </a:p>
        </p:txBody>
      </p:sp>
      <p:sp>
        <p:nvSpPr>
          <p:cNvPr id="21" name="Shape 18"/>
          <p:cNvSpPr/>
          <p:nvPr/>
        </p:nvSpPr>
        <p:spPr>
          <a:xfrm>
            <a:off x="4288536" y="141732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2" name="Shape 19"/>
          <p:cNvSpPr/>
          <p:nvPr/>
        </p:nvSpPr>
        <p:spPr>
          <a:xfrm>
            <a:off x="4544568" y="1673352"/>
            <a:ext cx="548640" cy="548640"/>
          </a:xfrm>
          <a:prstGeom prst="ellipse">
            <a:avLst/>
          </a:prstGeom>
          <a:solidFill>
            <a:srgbClr val="0D1420"/>
          </a:solidFill>
          <a:ln w="12700">
            <a:solidFill>
              <a:srgbClr val="2B3B52"/>
            </a:solidFill>
            <a:prstDash val="solid"/>
          </a:ln>
        </p:spPr>
      </p:sp>
      <p:pic>
        <p:nvPicPr>
          <p:cNvPr id="23" name="Image 1" descr="/tmp/claude-0/-home-user-Test-Scatterpoint/4a189312-3458-5f65-a7f5-9710b6e532c7/scratchpad/icons/box.png">    </p:cNvPr>
          <p:cNvPicPr>
            <a:picLocks noChangeAspect="1"/>
          </p:cNvPicPr>
          <p:nvPr/>
        </p:nvPicPr>
        <p:blipFill>
          <a:blip r:embed="rId2"/>
          <a:stretch>
            <a:fillRect/>
          </a:stretch>
        </p:blipFill>
        <p:spPr>
          <a:xfrm>
            <a:off x="4687214" y="1815998"/>
            <a:ext cx="263347" cy="263347"/>
          </a:xfrm>
          <a:prstGeom prst="rect">
            <a:avLst/>
          </a:prstGeom>
        </p:spPr>
      </p:pic>
      <p:sp>
        <p:nvSpPr>
          <p:cNvPr id="24" name="Text 20"/>
          <p:cNvSpPr/>
          <p:nvPr/>
        </p:nvSpPr>
        <p:spPr>
          <a:xfrm>
            <a:off x="4544568" y="237744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Unabhängig</a:t>
            </a:r>
            <a:endParaRPr lang="en-US" sz="1700" dirty="0"/>
          </a:p>
        </p:txBody>
      </p:sp>
      <p:sp>
        <p:nvSpPr>
          <p:cNvPr id="25" name="Text 21"/>
          <p:cNvSpPr/>
          <p:nvPr/>
        </p:nvSpPr>
        <p:spPr>
          <a:xfrm>
            <a:off x="4544568" y="274320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kein Netzwerk, keine Datenbank, keine anderen Tests nötig</a:t>
            </a:r>
            <a:endParaRPr lang="en-US" sz="1150" dirty="0"/>
          </a:p>
        </p:txBody>
      </p:sp>
      <p:sp>
        <p:nvSpPr>
          <p:cNvPr id="26" name="Shape 22"/>
          <p:cNvSpPr/>
          <p:nvPr/>
        </p:nvSpPr>
        <p:spPr>
          <a:xfrm>
            <a:off x="8028432" y="141732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7" name="Shape 23"/>
          <p:cNvSpPr/>
          <p:nvPr/>
        </p:nvSpPr>
        <p:spPr>
          <a:xfrm>
            <a:off x="8284464" y="1673352"/>
            <a:ext cx="548640" cy="548640"/>
          </a:xfrm>
          <a:prstGeom prst="ellipse">
            <a:avLst/>
          </a:prstGeom>
          <a:solidFill>
            <a:srgbClr val="0D1420"/>
          </a:solidFill>
          <a:ln w="12700">
            <a:solidFill>
              <a:srgbClr val="2B3B52"/>
            </a:solidFill>
            <a:prstDash val="solid"/>
          </a:ln>
        </p:spPr>
      </p:sp>
      <p:pic>
        <p:nvPicPr>
          <p:cNvPr id="28" name="Image 2" descr="/tmp/claude-0/-home-user-Test-Scatterpoint/4a189312-3458-5f65-a7f5-9710b6e532c7/scratchpad/icons/refresh.png">    </p:cNvPr>
          <p:cNvPicPr>
            <a:picLocks noChangeAspect="1"/>
          </p:cNvPicPr>
          <p:nvPr/>
        </p:nvPicPr>
        <p:blipFill>
          <a:blip r:embed="rId3"/>
          <a:stretch>
            <a:fillRect/>
          </a:stretch>
        </p:blipFill>
        <p:spPr>
          <a:xfrm>
            <a:off x="8427110" y="1815998"/>
            <a:ext cx="263347" cy="263347"/>
          </a:xfrm>
          <a:prstGeom prst="rect">
            <a:avLst/>
          </a:prstGeom>
        </p:spPr>
      </p:pic>
      <p:sp>
        <p:nvSpPr>
          <p:cNvPr id="29" name="Text 24"/>
          <p:cNvSpPr/>
          <p:nvPr/>
        </p:nvSpPr>
        <p:spPr>
          <a:xfrm>
            <a:off x="8284464" y="237744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Wiederholbar</a:t>
            </a:r>
            <a:endParaRPr lang="en-US" sz="1700" dirty="0"/>
          </a:p>
        </p:txBody>
      </p:sp>
      <p:sp>
        <p:nvSpPr>
          <p:cNvPr id="30" name="Text 25"/>
          <p:cNvSpPr/>
          <p:nvPr/>
        </p:nvSpPr>
        <p:spPr>
          <a:xfrm>
            <a:off x="8284464" y="274320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liefert bei jedem Lauf dasselbe Ergebnis</a:t>
            </a:r>
            <a:endParaRPr lang="en-US" sz="1150" dirty="0"/>
          </a:p>
        </p:txBody>
      </p:sp>
      <p:sp>
        <p:nvSpPr>
          <p:cNvPr id="31" name="Shape 26"/>
          <p:cNvSpPr/>
          <p:nvPr/>
        </p:nvSpPr>
        <p:spPr>
          <a:xfrm>
            <a:off x="548640" y="374904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2" name="Shape 27"/>
          <p:cNvSpPr/>
          <p:nvPr/>
        </p:nvSpPr>
        <p:spPr>
          <a:xfrm>
            <a:off x="804672" y="4005072"/>
            <a:ext cx="548640" cy="548640"/>
          </a:xfrm>
          <a:prstGeom prst="ellipse">
            <a:avLst/>
          </a:prstGeom>
          <a:solidFill>
            <a:srgbClr val="0D1420"/>
          </a:solidFill>
          <a:ln w="12700">
            <a:solidFill>
              <a:srgbClr val="2B3B52"/>
            </a:solidFill>
            <a:prstDash val="solid"/>
          </a:ln>
        </p:spPr>
      </p:sp>
      <p:pic>
        <p:nvPicPr>
          <p:cNvPr id="33" name="Image 3" descr="/tmp/claude-0/-home-user-Test-Scatterpoint/4a189312-3458-5f65-a7f5-9710b6e532c7/scratchpad/icons/checkCyan.png">    </p:cNvPr>
          <p:cNvPicPr>
            <a:picLocks noChangeAspect="1"/>
          </p:cNvPicPr>
          <p:nvPr/>
        </p:nvPicPr>
        <p:blipFill>
          <a:blip r:embed="rId4"/>
          <a:stretch>
            <a:fillRect/>
          </a:stretch>
        </p:blipFill>
        <p:spPr>
          <a:xfrm>
            <a:off x="947318" y="4147718"/>
            <a:ext cx="263347" cy="263347"/>
          </a:xfrm>
          <a:prstGeom prst="rect">
            <a:avLst/>
          </a:prstGeom>
        </p:spPr>
      </p:pic>
      <p:sp>
        <p:nvSpPr>
          <p:cNvPr id="34" name="Text 28"/>
          <p:cNvSpPr/>
          <p:nvPr/>
        </p:nvSpPr>
        <p:spPr>
          <a:xfrm>
            <a:off x="804672" y="470916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Eindeutig</a:t>
            </a:r>
            <a:endParaRPr lang="en-US" sz="1700" dirty="0"/>
          </a:p>
        </p:txBody>
      </p:sp>
      <p:sp>
        <p:nvSpPr>
          <p:cNvPr id="35" name="Text 29"/>
          <p:cNvSpPr/>
          <p:nvPr/>
        </p:nvSpPr>
        <p:spPr>
          <a:xfrm>
            <a:off x="804672" y="507492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bestanden oder fehlgeschlagen – nichts dazwischen</a:t>
            </a:r>
            <a:endParaRPr lang="en-US" sz="1150" dirty="0"/>
          </a:p>
        </p:txBody>
      </p:sp>
      <p:sp>
        <p:nvSpPr>
          <p:cNvPr id="36" name="Shape 30"/>
          <p:cNvSpPr/>
          <p:nvPr/>
        </p:nvSpPr>
        <p:spPr>
          <a:xfrm>
            <a:off x="4288536" y="374904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7" name="Shape 31"/>
          <p:cNvSpPr/>
          <p:nvPr/>
        </p:nvSpPr>
        <p:spPr>
          <a:xfrm>
            <a:off x="4544568" y="4005072"/>
            <a:ext cx="548640" cy="548640"/>
          </a:xfrm>
          <a:prstGeom prst="ellipse">
            <a:avLst/>
          </a:prstGeom>
          <a:solidFill>
            <a:srgbClr val="0D1420"/>
          </a:solidFill>
          <a:ln w="12700">
            <a:solidFill>
              <a:srgbClr val="2B3B52"/>
            </a:solidFill>
            <a:prstDash val="solid"/>
          </a:ln>
        </p:spPr>
      </p:sp>
      <p:pic>
        <p:nvPicPr>
          <p:cNvPr id="38" name="Image 4" descr="/tmp/claude-0/-home-user-Test-Scatterpoint/4a189312-3458-5f65-a7f5-9710b6e532c7/scratchpad/icons/eye.png">    </p:cNvPr>
          <p:cNvPicPr>
            <a:picLocks noChangeAspect="1"/>
          </p:cNvPicPr>
          <p:nvPr/>
        </p:nvPicPr>
        <p:blipFill>
          <a:blip r:embed="rId5"/>
          <a:stretch>
            <a:fillRect/>
          </a:stretch>
        </p:blipFill>
        <p:spPr>
          <a:xfrm>
            <a:off x="4687214" y="4147718"/>
            <a:ext cx="263347" cy="263347"/>
          </a:xfrm>
          <a:prstGeom prst="rect">
            <a:avLst/>
          </a:prstGeom>
        </p:spPr>
      </p:pic>
      <p:sp>
        <p:nvSpPr>
          <p:cNvPr id="39" name="Text 32"/>
          <p:cNvSpPr/>
          <p:nvPr/>
        </p:nvSpPr>
        <p:spPr>
          <a:xfrm>
            <a:off x="4544568" y="470916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Verständlich</a:t>
            </a:r>
            <a:endParaRPr lang="en-US" sz="1700" dirty="0"/>
          </a:p>
        </p:txBody>
      </p:sp>
      <p:sp>
        <p:nvSpPr>
          <p:cNvPr id="40" name="Text 33"/>
          <p:cNvSpPr/>
          <p:nvPr/>
        </p:nvSpPr>
        <p:spPr>
          <a:xfrm>
            <a:off x="4544568" y="507492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schon der Name sagt, was getestet wird</a:t>
            </a:r>
            <a:endParaRPr lang="en-US" sz="1150" dirty="0"/>
          </a:p>
        </p:txBody>
      </p:sp>
      <p:sp>
        <p:nvSpPr>
          <p:cNvPr id="41" name="Shape 34"/>
          <p:cNvSpPr/>
          <p:nvPr/>
        </p:nvSpPr>
        <p:spPr>
          <a:xfrm>
            <a:off x="8028432" y="3749040"/>
            <a:ext cx="3611880" cy="2057400"/>
          </a:xfrm>
          <a:prstGeom prst="roundRect">
            <a:avLst>
              <a:gd name="adj" fmla="val 4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42" name="Shape 35"/>
          <p:cNvSpPr/>
          <p:nvPr/>
        </p:nvSpPr>
        <p:spPr>
          <a:xfrm>
            <a:off x="8284464" y="4005072"/>
            <a:ext cx="548640" cy="548640"/>
          </a:xfrm>
          <a:prstGeom prst="ellipse">
            <a:avLst/>
          </a:prstGeom>
          <a:solidFill>
            <a:srgbClr val="0D1420"/>
          </a:solidFill>
          <a:ln w="12700">
            <a:solidFill>
              <a:srgbClr val="2B3B52"/>
            </a:solidFill>
            <a:prstDash val="solid"/>
          </a:ln>
        </p:spPr>
      </p:sp>
      <p:pic>
        <p:nvPicPr>
          <p:cNvPr id="43" name="Image 5" descr="/tmp/claude-0/-home-user-Test-Scatterpoint/4a189312-3458-5f65-a7f5-9710b6e532c7/scratchpad/icons/crosshair.png">    </p:cNvPr>
          <p:cNvPicPr>
            <a:picLocks noChangeAspect="1"/>
          </p:cNvPicPr>
          <p:nvPr/>
        </p:nvPicPr>
        <p:blipFill>
          <a:blip r:embed="rId6"/>
          <a:stretch>
            <a:fillRect/>
          </a:stretch>
        </p:blipFill>
        <p:spPr>
          <a:xfrm>
            <a:off x="8427110" y="4147718"/>
            <a:ext cx="263347" cy="263347"/>
          </a:xfrm>
          <a:prstGeom prst="rect">
            <a:avLst/>
          </a:prstGeom>
        </p:spPr>
      </p:pic>
      <p:sp>
        <p:nvSpPr>
          <p:cNvPr id="44" name="Text 36"/>
          <p:cNvSpPr/>
          <p:nvPr/>
        </p:nvSpPr>
        <p:spPr>
          <a:xfrm>
            <a:off x="8284464" y="4709160"/>
            <a:ext cx="3099816" cy="347472"/>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Fokussiert</a:t>
            </a:r>
            <a:endParaRPr lang="en-US" sz="1700" dirty="0"/>
          </a:p>
        </p:txBody>
      </p:sp>
      <p:sp>
        <p:nvSpPr>
          <p:cNvPr id="45" name="Text 37"/>
          <p:cNvSpPr/>
          <p:nvPr/>
        </p:nvSpPr>
        <p:spPr>
          <a:xfrm>
            <a:off x="8284464" y="5074920"/>
            <a:ext cx="3099816" cy="59436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prüft genau einen konkreten Sachverhalt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02 · UNIT TESTS</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Grenzfälle sind besonders wichtig</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Shape 8"/>
          <p:cNvSpPr/>
          <p:nvPr/>
        </p:nvSpPr>
        <p:spPr>
          <a:xfrm>
            <a:off x="2989997"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1" name="Shape 9"/>
          <p:cNvSpPr/>
          <p:nvPr/>
        </p:nvSpPr>
        <p:spPr>
          <a:xfrm>
            <a:off x="3118013" y="6560820"/>
            <a:ext cx="64008" cy="64008"/>
          </a:xfrm>
          <a:prstGeom prst="ellipse">
            <a:avLst/>
          </a:prstGeom>
          <a:solidFill>
            <a:srgbClr val="38BDF8"/>
          </a:solidFill>
          <a:ln/>
        </p:spPr>
      </p:sp>
      <p:sp>
        <p:nvSpPr>
          <p:cNvPr id="12" name="Text 10"/>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02 Unit Tests</a:t>
            </a:r>
            <a:endParaRPr lang="en-US" sz="950" dirty="0"/>
          </a:p>
        </p:txBody>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Text 14"/>
          <p:cNvSpPr/>
          <p:nvPr/>
        </p:nvSpPr>
        <p:spPr>
          <a:xfrm>
            <a:off x="548640" y="1207008"/>
            <a:ext cx="5486400" cy="320040"/>
          </a:xfrm>
          <a:prstGeom prst="rect">
            <a:avLst/>
          </a:prstGeom>
          <a:noFill/>
          <a:ln/>
        </p:spPr>
        <p:txBody>
          <a:bodyPr wrap="square" lIns="0" tIns="0" rIns="0" bIns="0" rtlCol="0" anchor="ctr"/>
          <a:lstStyle/>
          <a:p>
            <a:pPr indent="0" marL="0">
              <a:buNone/>
            </a:pPr>
            <a:r>
              <a:rPr lang="en-US" sz="1400" i="1" dirty="0">
                <a:solidFill>
                  <a:srgbClr val="38BDF8"/>
                </a:solidFill>
                <a:latin typeface="Calibri" pitchFamily="34" charset="0"/>
                <a:ea typeface="Calibri" pitchFamily="34" charset="-122"/>
                <a:cs typeface="Calibri" pitchFamily="34" charset="-120"/>
              </a:rPr>
              <a:t>Beispiel: eine Division</a:t>
            </a:r>
            <a:endParaRPr lang="en-US" sz="1400" dirty="0"/>
          </a:p>
        </p:txBody>
      </p:sp>
      <p:sp>
        <p:nvSpPr>
          <p:cNvPr id="17" name="Text 15"/>
          <p:cNvSpPr/>
          <p:nvPr/>
        </p:nvSpPr>
        <p:spPr>
          <a:xfrm>
            <a:off x="822960" y="1691640"/>
            <a:ext cx="2560320" cy="274320"/>
          </a:xfrm>
          <a:prstGeom prst="rect">
            <a:avLst/>
          </a:prstGeom>
          <a:noFill/>
          <a:ln/>
        </p:spPr>
        <p:txBody>
          <a:bodyPr wrap="square" lIns="0" tIns="0" rIns="0" bIns="0" rtlCol="0" anchor="ctr"/>
          <a:lstStyle/>
          <a:p>
            <a:pPr indent="0" marL="0">
              <a:buNone/>
            </a:pPr>
            <a:r>
              <a:rPr lang="en-US" sz="1100" b="1" spc="200" kern="0" dirty="0">
                <a:solidFill>
                  <a:srgbClr val="94A3B8"/>
                </a:solidFill>
                <a:latin typeface="Calibri" pitchFamily="34" charset="0"/>
                <a:ea typeface="Calibri" pitchFamily="34" charset="-122"/>
                <a:cs typeface="Calibri" pitchFamily="34" charset="-120"/>
              </a:rPr>
              <a:t>TESTFALL</a:t>
            </a:r>
            <a:endParaRPr lang="en-US" sz="1100" dirty="0"/>
          </a:p>
        </p:txBody>
      </p:sp>
      <p:sp>
        <p:nvSpPr>
          <p:cNvPr id="18" name="Text 16"/>
          <p:cNvSpPr/>
          <p:nvPr/>
        </p:nvSpPr>
        <p:spPr>
          <a:xfrm>
            <a:off x="3657600" y="1691640"/>
            <a:ext cx="3200400" cy="274320"/>
          </a:xfrm>
          <a:prstGeom prst="rect">
            <a:avLst/>
          </a:prstGeom>
          <a:noFill/>
          <a:ln/>
        </p:spPr>
        <p:txBody>
          <a:bodyPr wrap="square" lIns="0" tIns="0" rIns="0" bIns="0" rtlCol="0" anchor="ctr"/>
          <a:lstStyle/>
          <a:p>
            <a:pPr indent="0" marL="0">
              <a:buNone/>
            </a:pPr>
            <a:r>
              <a:rPr lang="en-US" sz="1100" b="1" spc="200" kern="0" dirty="0">
                <a:solidFill>
                  <a:srgbClr val="94A3B8"/>
                </a:solidFill>
                <a:latin typeface="Calibri" pitchFamily="34" charset="0"/>
                <a:ea typeface="Calibri" pitchFamily="34" charset="-122"/>
                <a:cs typeface="Calibri" pitchFamily="34" charset="-120"/>
              </a:rPr>
              <a:t>ERWARTUNG</a:t>
            </a:r>
            <a:endParaRPr lang="en-US" sz="1100" dirty="0"/>
          </a:p>
        </p:txBody>
      </p:sp>
      <p:sp>
        <p:nvSpPr>
          <p:cNvPr id="19" name="Shape 17"/>
          <p:cNvSpPr/>
          <p:nvPr/>
        </p:nvSpPr>
        <p:spPr>
          <a:xfrm>
            <a:off x="548640" y="2057400"/>
            <a:ext cx="6309360" cy="786384"/>
          </a:xfrm>
          <a:prstGeom prst="roundRect">
            <a:avLst>
              <a:gd name="adj" fmla="val 1046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0" name="Text 18"/>
          <p:cNvSpPr/>
          <p:nvPr/>
        </p:nvSpPr>
        <p:spPr>
          <a:xfrm>
            <a:off x="822960" y="2057400"/>
            <a:ext cx="2560320" cy="786384"/>
          </a:xfrm>
          <a:prstGeom prst="rect">
            <a:avLst/>
          </a:prstGeom>
          <a:noFill/>
          <a:ln/>
        </p:spPr>
        <p:txBody>
          <a:bodyPr wrap="square" lIns="0" tIns="0" rIns="0" bIns="0" rtlCol="0" anchor="ctr"/>
          <a:lstStyle/>
          <a:p>
            <a:pPr indent="0" marL="0">
              <a:buNone/>
            </a:pPr>
            <a:r>
              <a:rPr lang="en-US" sz="1500" b="1" dirty="0">
                <a:solidFill>
                  <a:srgbClr val="F1F5F9"/>
                </a:solidFill>
                <a:latin typeface="Courier New" pitchFamily="34" charset="0"/>
                <a:ea typeface="Courier New" pitchFamily="34" charset="-122"/>
                <a:cs typeface="Courier New" pitchFamily="34" charset="-120"/>
              </a:rPr>
              <a:t>10 / 2</a:t>
            </a:r>
            <a:endParaRPr lang="en-US" sz="1500" dirty="0"/>
          </a:p>
        </p:txBody>
      </p:sp>
      <p:sp>
        <p:nvSpPr>
          <p:cNvPr id="21" name="Shape 19"/>
          <p:cNvSpPr/>
          <p:nvPr/>
        </p:nvSpPr>
        <p:spPr>
          <a:xfrm>
            <a:off x="3383280" y="2203704"/>
            <a:ext cx="0" cy="493776"/>
          </a:xfrm>
          <a:prstGeom prst="line">
            <a:avLst/>
          </a:prstGeom>
          <a:noFill/>
          <a:ln w="12700">
            <a:solidFill>
              <a:srgbClr val="2B3B52"/>
            </a:solidFill>
            <a:prstDash val="solid"/>
          </a:ln>
        </p:spPr>
      </p:sp>
      <p:sp>
        <p:nvSpPr>
          <p:cNvPr id="22" name="Text 20"/>
          <p:cNvSpPr/>
          <p:nvPr/>
        </p:nvSpPr>
        <p:spPr>
          <a:xfrm>
            <a:off x="3657600" y="2057400"/>
            <a:ext cx="3017520" cy="786384"/>
          </a:xfrm>
          <a:prstGeom prst="rect">
            <a:avLst/>
          </a:prstGeom>
          <a:noFill/>
          <a:ln/>
        </p:spPr>
        <p:txBody>
          <a:bodyPr wrap="square" lIns="0" tIns="0" rIns="0" bIns="0" rtlCol="0" anchor="ctr"/>
          <a:lstStyle/>
          <a:p>
            <a:pPr indent="0" marL="0">
              <a:buNone/>
            </a:pPr>
            <a:r>
              <a:rPr lang="en-US" sz="1500" b="1" dirty="0">
                <a:solidFill>
                  <a:srgbClr val="4ADE80"/>
                </a:solidFill>
                <a:latin typeface="Courier New" pitchFamily="34" charset="0"/>
                <a:ea typeface="Courier New" pitchFamily="34" charset="-122"/>
                <a:cs typeface="Courier New" pitchFamily="34" charset="-120"/>
              </a:rPr>
              <a:t>5</a:t>
            </a:r>
            <a:endParaRPr lang="en-US" sz="1500" dirty="0"/>
          </a:p>
        </p:txBody>
      </p:sp>
      <p:sp>
        <p:nvSpPr>
          <p:cNvPr id="23" name="Shape 21"/>
          <p:cNvSpPr/>
          <p:nvPr/>
        </p:nvSpPr>
        <p:spPr>
          <a:xfrm>
            <a:off x="548640" y="2990088"/>
            <a:ext cx="6309360" cy="786384"/>
          </a:xfrm>
          <a:prstGeom prst="roundRect">
            <a:avLst>
              <a:gd name="adj" fmla="val 1046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4" name="Text 22"/>
          <p:cNvSpPr/>
          <p:nvPr/>
        </p:nvSpPr>
        <p:spPr>
          <a:xfrm>
            <a:off x="822960" y="2990088"/>
            <a:ext cx="2560320" cy="786384"/>
          </a:xfrm>
          <a:prstGeom prst="rect">
            <a:avLst/>
          </a:prstGeom>
          <a:noFill/>
          <a:ln/>
        </p:spPr>
        <p:txBody>
          <a:bodyPr wrap="square" lIns="0" tIns="0" rIns="0" bIns="0" rtlCol="0" anchor="ctr"/>
          <a:lstStyle/>
          <a:p>
            <a:pPr indent="0" marL="0">
              <a:buNone/>
            </a:pPr>
            <a:r>
              <a:rPr lang="en-US" sz="1500" b="1" dirty="0">
                <a:solidFill>
                  <a:srgbClr val="F1F5F9"/>
                </a:solidFill>
                <a:latin typeface="Courier New" pitchFamily="34" charset="0"/>
                <a:ea typeface="Courier New" pitchFamily="34" charset="-122"/>
                <a:cs typeface="Courier New" pitchFamily="34" charset="-120"/>
              </a:rPr>
              <a:t>0 / 2</a:t>
            </a:r>
            <a:endParaRPr lang="en-US" sz="1500" dirty="0"/>
          </a:p>
        </p:txBody>
      </p:sp>
      <p:sp>
        <p:nvSpPr>
          <p:cNvPr id="25" name="Shape 23"/>
          <p:cNvSpPr/>
          <p:nvPr/>
        </p:nvSpPr>
        <p:spPr>
          <a:xfrm>
            <a:off x="3383280" y="3136392"/>
            <a:ext cx="0" cy="493776"/>
          </a:xfrm>
          <a:prstGeom prst="line">
            <a:avLst/>
          </a:prstGeom>
          <a:noFill/>
          <a:ln w="12700">
            <a:solidFill>
              <a:srgbClr val="2B3B52"/>
            </a:solidFill>
            <a:prstDash val="solid"/>
          </a:ln>
        </p:spPr>
      </p:sp>
      <p:sp>
        <p:nvSpPr>
          <p:cNvPr id="26" name="Text 24"/>
          <p:cNvSpPr/>
          <p:nvPr/>
        </p:nvSpPr>
        <p:spPr>
          <a:xfrm>
            <a:off x="3657600" y="2990088"/>
            <a:ext cx="3017520" cy="786384"/>
          </a:xfrm>
          <a:prstGeom prst="rect">
            <a:avLst/>
          </a:prstGeom>
          <a:noFill/>
          <a:ln/>
        </p:spPr>
        <p:txBody>
          <a:bodyPr wrap="square" lIns="0" tIns="0" rIns="0" bIns="0" rtlCol="0" anchor="ctr"/>
          <a:lstStyle/>
          <a:p>
            <a:pPr indent="0" marL="0">
              <a:buNone/>
            </a:pPr>
            <a:r>
              <a:rPr lang="en-US" sz="1500" b="1" dirty="0">
                <a:solidFill>
                  <a:srgbClr val="4ADE80"/>
                </a:solidFill>
                <a:latin typeface="Courier New" pitchFamily="34" charset="0"/>
                <a:ea typeface="Courier New" pitchFamily="34" charset="-122"/>
                <a:cs typeface="Courier New" pitchFamily="34" charset="-120"/>
              </a:rPr>
              <a:t>0</a:t>
            </a:r>
            <a:endParaRPr lang="en-US" sz="1500" dirty="0"/>
          </a:p>
        </p:txBody>
      </p:sp>
      <p:sp>
        <p:nvSpPr>
          <p:cNvPr id="27" name="Shape 25"/>
          <p:cNvSpPr/>
          <p:nvPr/>
        </p:nvSpPr>
        <p:spPr>
          <a:xfrm>
            <a:off x="548640" y="3922776"/>
            <a:ext cx="6309360" cy="786384"/>
          </a:xfrm>
          <a:prstGeom prst="roundRect">
            <a:avLst>
              <a:gd name="adj" fmla="val 1046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8" name="Text 26"/>
          <p:cNvSpPr/>
          <p:nvPr/>
        </p:nvSpPr>
        <p:spPr>
          <a:xfrm>
            <a:off x="822960" y="3922776"/>
            <a:ext cx="2560320" cy="786384"/>
          </a:xfrm>
          <a:prstGeom prst="rect">
            <a:avLst/>
          </a:prstGeom>
          <a:noFill/>
          <a:ln/>
        </p:spPr>
        <p:txBody>
          <a:bodyPr wrap="square" lIns="0" tIns="0" rIns="0" bIns="0" rtlCol="0" anchor="ctr"/>
          <a:lstStyle/>
          <a:p>
            <a:pPr indent="0" marL="0">
              <a:buNone/>
            </a:pPr>
            <a:r>
              <a:rPr lang="en-US" sz="1500" b="1" dirty="0">
                <a:solidFill>
                  <a:srgbClr val="F1F5F9"/>
                </a:solidFill>
                <a:latin typeface="Courier New" pitchFamily="34" charset="0"/>
                <a:ea typeface="Courier New" pitchFamily="34" charset="-122"/>
                <a:cs typeface="Courier New" pitchFamily="34" charset="-120"/>
              </a:rPr>
              <a:t>-10 / 2</a:t>
            </a:r>
            <a:endParaRPr lang="en-US" sz="1500" dirty="0"/>
          </a:p>
        </p:txBody>
      </p:sp>
      <p:sp>
        <p:nvSpPr>
          <p:cNvPr id="29" name="Shape 27"/>
          <p:cNvSpPr/>
          <p:nvPr/>
        </p:nvSpPr>
        <p:spPr>
          <a:xfrm>
            <a:off x="3383280" y="4069080"/>
            <a:ext cx="0" cy="493776"/>
          </a:xfrm>
          <a:prstGeom prst="line">
            <a:avLst/>
          </a:prstGeom>
          <a:noFill/>
          <a:ln w="12700">
            <a:solidFill>
              <a:srgbClr val="2B3B52"/>
            </a:solidFill>
            <a:prstDash val="solid"/>
          </a:ln>
        </p:spPr>
      </p:sp>
      <p:sp>
        <p:nvSpPr>
          <p:cNvPr id="30" name="Text 28"/>
          <p:cNvSpPr/>
          <p:nvPr/>
        </p:nvSpPr>
        <p:spPr>
          <a:xfrm>
            <a:off x="3657600" y="3922776"/>
            <a:ext cx="3017520" cy="786384"/>
          </a:xfrm>
          <a:prstGeom prst="rect">
            <a:avLst/>
          </a:prstGeom>
          <a:noFill/>
          <a:ln/>
        </p:spPr>
        <p:txBody>
          <a:bodyPr wrap="square" lIns="0" tIns="0" rIns="0" bIns="0" rtlCol="0" anchor="ctr"/>
          <a:lstStyle/>
          <a:p>
            <a:pPr indent="0" marL="0">
              <a:buNone/>
            </a:pPr>
            <a:r>
              <a:rPr lang="en-US" sz="1500" b="1" dirty="0">
                <a:solidFill>
                  <a:srgbClr val="4ADE80"/>
                </a:solidFill>
                <a:latin typeface="Courier New" pitchFamily="34" charset="0"/>
                <a:ea typeface="Courier New" pitchFamily="34" charset="-122"/>
                <a:cs typeface="Courier New" pitchFamily="34" charset="-120"/>
              </a:rPr>
              <a:t>-5</a:t>
            </a:r>
            <a:endParaRPr lang="en-US" sz="1500" dirty="0"/>
          </a:p>
        </p:txBody>
      </p:sp>
      <p:sp>
        <p:nvSpPr>
          <p:cNvPr id="31" name="Shape 29"/>
          <p:cNvSpPr/>
          <p:nvPr/>
        </p:nvSpPr>
        <p:spPr>
          <a:xfrm>
            <a:off x="548640" y="4855464"/>
            <a:ext cx="6309360" cy="786384"/>
          </a:xfrm>
          <a:prstGeom prst="roundRect">
            <a:avLst>
              <a:gd name="adj" fmla="val 10465"/>
            </a:avLst>
          </a:prstGeom>
          <a:solidFill>
            <a:srgbClr val="2A1620"/>
          </a:solidFill>
          <a:ln w="19050">
            <a:solidFill>
              <a:srgbClr val="F87171"/>
            </a:solidFill>
            <a:prstDash val="solid"/>
          </a:ln>
          <a:effectLst>
            <a:outerShdw sx="100000" sy="100000" kx="0" ky="0" algn="bl" rotWithShape="0" blurRad="101600" dist="38100" dir="5400000">
              <a:srgbClr val="000000">
                <a:alpha val="30000"/>
              </a:srgbClr>
            </a:outerShdw>
          </a:effectLst>
        </p:spPr>
      </p:sp>
      <p:sp>
        <p:nvSpPr>
          <p:cNvPr id="32" name="Text 30"/>
          <p:cNvSpPr/>
          <p:nvPr/>
        </p:nvSpPr>
        <p:spPr>
          <a:xfrm>
            <a:off x="822960" y="4855464"/>
            <a:ext cx="2560320" cy="786384"/>
          </a:xfrm>
          <a:prstGeom prst="rect">
            <a:avLst/>
          </a:prstGeom>
          <a:noFill/>
          <a:ln/>
        </p:spPr>
        <p:txBody>
          <a:bodyPr wrap="square" lIns="0" tIns="0" rIns="0" bIns="0" rtlCol="0" anchor="ctr"/>
          <a:lstStyle/>
          <a:p>
            <a:pPr indent="0" marL="0">
              <a:buNone/>
            </a:pPr>
            <a:r>
              <a:rPr lang="en-US" sz="1500" b="1" dirty="0">
                <a:solidFill>
                  <a:srgbClr val="F87171"/>
                </a:solidFill>
                <a:latin typeface="Courier New" pitchFamily="34" charset="0"/>
                <a:ea typeface="Courier New" pitchFamily="34" charset="-122"/>
                <a:cs typeface="Courier New" pitchFamily="34" charset="-120"/>
              </a:rPr>
              <a:t>10 / 0</a:t>
            </a:r>
            <a:endParaRPr lang="en-US" sz="1500" dirty="0"/>
          </a:p>
        </p:txBody>
      </p:sp>
      <p:sp>
        <p:nvSpPr>
          <p:cNvPr id="33" name="Shape 31"/>
          <p:cNvSpPr/>
          <p:nvPr/>
        </p:nvSpPr>
        <p:spPr>
          <a:xfrm>
            <a:off x="3383280" y="5001768"/>
            <a:ext cx="0" cy="493776"/>
          </a:xfrm>
          <a:prstGeom prst="line">
            <a:avLst/>
          </a:prstGeom>
          <a:noFill/>
          <a:ln w="12700">
            <a:solidFill>
              <a:srgbClr val="2B3B52"/>
            </a:solidFill>
            <a:prstDash val="solid"/>
          </a:ln>
        </p:spPr>
      </p:sp>
      <p:pic>
        <p:nvPicPr>
          <p:cNvPr id="34" name="Image 0" descr="/tmp/claude-0/-home-user-Test-Scatterpoint/4a189312-3458-5f65-a7f5-9710b6e532c7/scratchpad/icons/alertRed.png">    </p:cNvPr>
          <p:cNvPicPr>
            <a:picLocks noChangeAspect="1"/>
          </p:cNvPicPr>
          <p:nvPr/>
        </p:nvPicPr>
        <p:blipFill>
          <a:blip r:embed="rId1"/>
          <a:stretch>
            <a:fillRect/>
          </a:stretch>
        </p:blipFill>
        <p:spPr>
          <a:xfrm>
            <a:off x="3657600" y="5120640"/>
            <a:ext cx="256032" cy="256032"/>
          </a:xfrm>
          <a:prstGeom prst="rect">
            <a:avLst/>
          </a:prstGeom>
        </p:spPr>
      </p:pic>
      <p:sp>
        <p:nvSpPr>
          <p:cNvPr id="35" name="Text 32"/>
          <p:cNvSpPr/>
          <p:nvPr/>
        </p:nvSpPr>
        <p:spPr>
          <a:xfrm>
            <a:off x="4005072" y="4855464"/>
            <a:ext cx="2743200" cy="786384"/>
          </a:xfrm>
          <a:prstGeom prst="rect">
            <a:avLst/>
          </a:prstGeom>
          <a:noFill/>
          <a:ln/>
        </p:spPr>
        <p:txBody>
          <a:bodyPr wrap="square" lIns="0" tIns="0" rIns="0" bIns="0" rtlCol="0" anchor="ctr"/>
          <a:lstStyle/>
          <a:p>
            <a:pPr indent="0" marL="0">
              <a:buNone/>
            </a:pPr>
            <a:r>
              <a:rPr lang="en-US" sz="1350" b="1" dirty="0">
                <a:solidFill>
                  <a:srgbClr val="F87171"/>
                </a:solidFill>
                <a:latin typeface="Calibri" pitchFamily="34" charset="0"/>
                <a:ea typeface="Calibri" pitchFamily="34" charset="-122"/>
                <a:cs typeface="Calibri" pitchFamily="34" charset="-120"/>
              </a:rPr>
              <a:t>Fehlerbehandlung erwartet</a:t>
            </a:r>
            <a:endParaRPr lang="en-US" sz="1350" dirty="0"/>
          </a:p>
        </p:txBody>
      </p:sp>
      <p:sp>
        <p:nvSpPr>
          <p:cNvPr id="36" name="Shape 33"/>
          <p:cNvSpPr/>
          <p:nvPr/>
        </p:nvSpPr>
        <p:spPr>
          <a:xfrm>
            <a:off x="7223760" y="2057400"/>
            <a:ext cx="4416552" cy="1737360"/>
          </a:xfrm>
          <a:prstGeom prst="roundRect">
            <a:avLst>
              <a:gd name="adj" fmla="val 4737"/>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pic>
        <p:nvPicPr>
          <p:cNvPr id="37" name="Image 1" descr="/tmp/claude-0/-home-user-Test-Scatterpoint/4a189312-3458-5f65-a7f5-9710b6e532c7/scratchpad/icons/alertAmber.png">    </p:cNvPr>
          <p:cNvPicPr>
            <a:picLocks noChangeAspect="1"/>
          </p:cNvPicPr>
          <p:nvPr/>
        </p:nvPicPr>
        <p:blipFill>
          <a:blip r:embed="rId2"/>
          <a:stretch>
            <a:fillRect/>
          </a:stretch>
        </p:blipFill>
        <p:spPr>
          <a:xfrm>
            <a:off x="7498080" y="2331720"/>
            <a:ext cx="384048" cy="384048"/>
          </a:xfrm>
          <a:prstGeom prst="rect">
            <a:avLst/>
          </a:prstGeom>
        </p:spPr>
      </p:pic>
      <p:sp>
        <p:nvSpPr>
          <p:cNvPr id="38" name="Text 34"/>
          <p:cNvSpPr/>
          <p:nvPr/>
        </p:nvSpPr>
        <p:spPr>
          <a:xfrm>
            <a:off x="8046720" y="2286000"/>
            <a:ext cx="3364992" cy="50292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Nicht nur den Normalfall testen</a:t>
            </a:r>
            <a:endParaRPr lang="en-US" sz="1500" dirty="0"/>
          </a:p>
        </p:txBody>
      </p:sp>
      <p:sp>
        <p:nvSpPr>
          <p:cNvPr id="39" name="Text 35"/>
          <p:cNvSpPr/>
          <p:nvPr/>
        </p:nvSpPr>
        <p:spPr>
          <a:xfrm>
            <a:off x="7498080" y="2880360"/>
            <a:ext cx="3867912"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Die meisten Fehler passieren an den Rändern: bei 0, negativen Werten und ungültigen Eingaben.</a:t>
            </a:r>
            <a:endParaRPr lang="en-US" sz="1200" dirty="0"/>
          </a:p>
        </p:txBody>
      </p:sp>
      <p:sp>
        <p:nvSpPr>
          <p:cNvPr id="40" name="Shape 36"/>
          <p:cNvSpPr/>
          <p:nvPr/>
        </p:nvSpPr>
        <p:spPr>
          <a:xfrm>
            <a:off x="7223760" y="3977640"/>
            <a:ext cx="4416552" cy="1737360"/>
          </a:xfrm>
          <a:prstGeom prst="roundRect">
            <a:avLst>
              <a:gd name="adj" fmla="val 4737"/>
            </a:avLst>
          </a:prstGeom>
          <a:solidFill>
            <a:srgbClr val="16202F"/>
          </a:solidFill>
          <a:ln w="12700">
            <a:solidFill>
              <a:srgbClr val="F87171">
                <a:alpha val="60000"/>
              </a:srgbClr>
            </a:solidFill>
            <a:prstDash val="solid"/>
          </a:ln>
          <a:effectLst>
            <a:outerShdw sx="100000" sy="100000" kx="0" ky="0" algn="bl" rotWithShape="0" blurRad="101600" dist="38100" dir="5400000">
              <a:srgbClr val="000000">
                <a:alpha val="30000"/>
              </a:srgbClr>
            </a:outerShdw>
          </a:effectLst>
        </p:spPr>
      </p:sp>
      <p:sp>
        <p:nvSpPr>
          <p:cNvPr id="41" name="Text 37"/>
          <p:cNvSpPr/>
          <p:nvPr/>
        </p:nvSpPr>
        <p:spPr>
          <a:xfrm>
            <a:off x="7498080" y="4224528"/>
            <a:ext cx="3867912" cy="365760"/>
          </a:xfrm>
          <a:prstGeom prst="rect">
            <a:avLst/>
          </a:prstGeom>
          <a:noFill/>
          <a:ln/>
        </p:spPr>
        <p:txBody>
          <a:bodyPr wrap="square" lIns="0" tIns="0" rIns="0" bIns="0" rtlCol="0" anchor="ctr"/>
          <a:lstStyle/>
          <a:p>
            <a:pPr indent="0" marL="0">
              <a:buNone/>
            </a:pPr>
            <a:r>
              <a:rPr lang="en-US" sz="1600" b="1" dirty="0">
                <a:solidFill>
                  <a:srgbClr val="F87171"/>
                </a:solidFill>
                <a:latin typeface="Courier New" pitchFamily="34" charset="0"/>
                <a:ea typeface="Courier New" pitchFamily="34" charset="-122"/>
                <a:cs typeface="Courier New" pitchFamily="34" charset="-120"/>
              </a:rPr>
              <a:t>10 / 0</a:t>
            </a:r>
            <a:endParaRPr lang="en-US" sz="1600" dirty="0"/>
          </a:p>
        </p:txBody>
      </p:sp>
      <p:sp>
        <p:nvSpPr>
          <p:cNvPr id="42" name="Text 38"/>
          <p:cNvSpPr/>
          <p:nvPr/>
        </p:nvSpPr>
        <p:spPr>
          <a:xfrm>
            <a:off x="7498080" y="4645152"/>
            <a:ext cx="3867912" cy="8686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stürzt ohne Behandlung einfach ab. Der Test erzwingt eine saubere, kontrollierte Fehlerbehandlung.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03 · TESTSTUFEN</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Weitere Teststufen: vom Detail zum Ganzen</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Shape 9"/>
          <p:cNvSpPr/>
          <p:nvPr/>
        </p:nvSpPr>
        <p:spPr>
          <a:xfrm>
            <a:off x="5227168"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2" name="Shape 10"/>
          <p:cNvSpPr/>
          <p:nvPr/>
        </p:nvSpPr>
        <p:spPr>
          <a:xfrm>
            <a:off x="5355184" y="6560820"/>
            <a:ext cx="64008" cy="64008"/>
          </a:xfrm>
          <a:prstGeom prst="ellipse">
            <a:avLst/>
          </a:prstGeom>
          <a:solidFill>
            <a:srgbClr val="38BDF8"/>
          </a:solidFill>
          <a:ln/>
        </p:spPr>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71600"/>
            <a:ext cx="11091672" cy="1078992"/>
          </a:xfrm>
          <a:prstGeom prst="roundRect">
            <a:avLst>
              <a:gd name="adj" fmla="val 7627"/>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804672" y="1636776"/>
            <a:ext cx="548640" cy="548640"/>
          </a:xfrm>
          <a:prstGeom prst="ellipse">
            <a:avLst/>
          </a:prstGeom>
          <a:solidFill>
            <a:srgbClr val="0D1420"/>
          </a:solidFill>
          <a:ln w="12700">
            <a:solidFill>
              <a:srgbClr val="2B3B52"/>
            </a:solidFill>
            <a:prstDash val="solid"/>
          </a:ln>
        </p:spPr>
      </p:sp>
      <p:pic>
        <p:nvPicPr>
          <p:cNvPr id="18" name="Image 0" descr="/tmp/claude-0/-home-user-Test-Scatterpoint/4a189312-3458-5f65-a7f5-9710b6e532c7/scratchpad/icons/codeWhite.png">    </p:cNvPr>
          <p:cNvPicPr>
            <a:picLocks noChangeAspect="1"/>
          </p:cNvPicPr>
          <p:nvPr/>
        </p:nvPicPr>
        <p:blipFill>
          <a:blip r:embed="rId1"/>
          <a:stretch>
            <a:fillRect/>
          </a:stretch>
        </p:blipFill>
        <p:spPr>
          <a:xfrm>
            <a:off x="947318" y="1779422"/>
            <a:ext cx="263347" cy="263347"/>
          </a:xfrm>
          <a:prstGeom prst="rect">
            <a:avLst/>
          </a:prstGeom>
        </p:spPr>
      </p:pic>
      <p:sp>
        <p:nvSpPr>
          <p:cNvPr id="19" name="Text 16"/>
          <p:cNvSpPr/>
          <p:nvPr/>
        </p:nvSpPr>
        <p:spPr>
          <a:xfrm>
            <a:off x="1600200" y="1591056"/>
            <a:ext cx="2651760" cy="329184"/>
          </a:xfrm>
          <a:prstGeom prst="rect">
            <a:avLst/>
          </a:prstGeom>
          <a:noFill/>
          <a:ln/>
        </p:spPr>
        <p:txBody>
          <a:bodyPr wrap="square" lIns="0" tIns="0" rIns="0" bIns="0" rtlCol="0" anchor="ctr"/>
          <a:lstStyle/>
          <a:p>
            <a:pPr indent="0" marL="0">
              <a:buNone/>
            </a:pPr>
            <a:r>
              <a:rPr lang="en-US" sz="1650" b="1" dirty="0">
                <a:solidFill>
                  <a:srgbClr val="38BDF8"/>
                </a:solidFill>
                <a:latin typeface="Calibri" pitchFamily="34" charset="0"/>
                <a:ea typeface="Calibri" pitchFamily="34" charset="-122"/>
                <a:cs typeface="Calibri" pitchFamily="34" charset="-120"/>
              </a:rPr>
              <a:t>Unit Test</a:t>
            </a:r>
            <a:endParaRPr lang="en-US" sz="1650" dirty="0"/>
          </a:p>
        </p:txBody>
      </p:sp>
      <p:sp>
        <p:nvSpPr>
          <p:cNvPr id="20" name="Text 17"/>
          <p:cNvSpPr/>
          <p:nvPr/>
        </p:nvSpPr>
        <p:spPr>
          <a:xfrm>
            <a:off x="1600200" y="1938528"/>
            <a:ext cx="329184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einzelne Methode, isoliert</a:t>
            </a:r>
            <a:endParaRPr lang="en-US" sz="1150" dirty="0"/>
          </a:p>
        </p:txBody>
      </p:sp>
      <p:sp>
        <p:nvSpPr>
          <p:cNvPr id="21" name="Shape 18"/>
          <p:cNvSpPr/>
          <p:nvPr/>
        </p:nvSpPr>
        <p:spPr>
          <a:xfrm>
            <a:off x="6382512" y="1655064"/>
            <a:ext cx="4937760" cy="512064"/>
          </a:xfrm>
          <a:prstGeom prst="roundRect">
            <a:avLst>
              <a:gd name="adj" fmla="val 21429"/>
            </a:avLst>
          </a:prstGeom>
          <a:solidFill>
            <a:srgbClr val="0A0F1A"/>
          </a:solidFill>
          <a:ln w="12700">
            <a:solidFill>
              <a:srgbClr val="2B3B52"/>
            </a:solidFill>
            <a:prstDash val="solid"/>
          </a:ln>
        </p:spPr>
      </p:sp>
      <p:sp>
        <p:nvSpPr>
          <p:cNvPr id="22" name="Text 19"/>
          <p:cNvSpPr/>
          <p:nvPr/>
        </p:nvSpPr>
        <p:spPr>
          <a:xfrm>
            <a:off x="6565392" y="1655064"/>
            <a:ext cx="4572000" cy="512064"/>
          </a:xfrm>
          <a:prstGeom prst="rect">
            <a:avLst/>
          </a:prstGeom>
          <a:noFill/>
          <a:ln/>
        </p:spPr>
        <p:txBody>
          <a:bodyPr wrap="square" lIns="0" tIns="0" rIns="0" bIns="0" rtlCol="0" anchor="ctr"/>
          <a:lstStyle/>
          <a:p>
            <a:pPr algn="ctr" indent="0" marL="0">
              <a:buNone/>
            </a:pPr>
            <a:r>
              <a:rPr lang="en-US" sz="1200" dirty="0">
                <a:solidFill>
                  <a:srgbClr val="F1F5F9"/>
                </a:solidFill>
                <a:latin typeface="Courier New" pitchFamily="34" charset="0"/>
                <a:ea typeface="Courier New" pitchFamily="34" charset="-122"/>
                <a:cs typeface="Courier New" pitchFamily="34" charset="-120"/>
              </a:rPr>
              <a:t>Berechnet Addieren() richtig?</a:t>
            </a:r>
            <a:endParaRPr lang="en-US" sz="1200" dirty="0"/>
          </a:p>
        </p:txBody>
      </p:sp>
      <p:sp>
        <p:nvSpPr>
          <p:cNvPr id="23" name="Shape 20"/>
          <p:cNvSpPr/>
          <p:nvPr/>
        </p:nvSpPr>
        <p:spPr>
          <a:xfrm>
            <a:off x="548640" y="2596896"/>
            <a:ext cx="11091672" cy="1078992"/>
          </a:xfrm>
          <a:prstGeom prst="roundRect">
            <a:avLst>
              <a:gd name="adj" fmla="val 7627"/>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4" name="Shape 21"/>
          <p:cNvSpPr/>
          <p:nvPr/>
        </p:nvSpPr>
        <p:spPr>
          <a:xfrm>
            <a:off x="804672" y="2862072"/>
            <a:ext cx="548640" cy="548640"/>
          </a:xfrm>
          <a:prstGeom prst="ellipse">
            <a:avLst/>
          </a:prstGeom>
          <a:solidFill>
            <a:srgbClr val="0D1420"/>
          </a:solidFill>
          <a:ln w="12700">
            <a:solidFill>
              <a:srgbClr val="2B3B52"/>
            </a:solidFill>
            <a:prstDash val="solid"/>
          </a:ln>
        </p:spPr>
      </p:sp>
      <p:pic>
        <p:nvPicPr>
          <p:cNvPr id="25" name="Image 1" descr="/tmp/claude-0/-home-user-Test-Scatterpoint/4a189312-3458-5f65-a7f5-9710b6e532c7/scratchpad/icons/link.png">    </p:cNvPr>
          <p:cNvPicPr>
            <a:picLocks noChangeAspect="1"/>
          </p:cNvPicPr>
          <p:nvPr/>
        </p:nvPicPr>
        <p:blipFill>
          <a:blip r:embed="rId2"/>
          <a:stretch>
            <a:fillRect/>
          </a:stretch>
        </p:blipFill>
        <p:spPr>
          <a:xfrm>
            <a:off x="947318" y="3004718"/>
            <a:ext cx="263347" cy="263347"/>
          </a:xfrm>
          <a:prstGeom prst="rect">
            <a:avLst/>
          </a:prstGeom>
        </p:spPr>
      </p:pic>
      <p:sp>
        <p:nvSpPr>
          <p:cNvPr id="26" name="Text 22"/>
          <p:cNvSpPr/>
          <p:nvPr/>
        </p:nvSpPr>
        <p:spPr>
          <a:xfrm>
            <a:off x="1600200" y="2816352"/>
            <a:ext cx="2651760" cy="329184"/>
          </a:xfrm>
          <a:prstGeom prst="rect">
            <a:avLst/>
          </a:prstGeom>
          <a:noFill/>
          <a:ln/>
        </p:spPr>
        <p:txBody>
          <a:bodyPr wrap="square" lIns="0" tIns="0" rIns="0" bIns="0" rtlCol="0" anchor="ctr"/>
          <a:lstStyle/>
          <a:p>
            <a:pPr indent="0" marL="0">
              <a:buNone/>
            </a:pPr>
            <a:r>
              <a:rPr lang="en-US" sz="1650" b="1" dirty="0">
                <a:solidFill>
                  <a:srgbClr val="38BDF8"/>
                </a:solidFill>
                <a:latin typeface="Calibri" pitchFamily="34" charset="0"/>
                <a:ea typeface="Calibri" pitchFamily="34" charset="-122"/>
                <a:cs typeface="Calibri" pitchFamily="34" charset="-120"/>
              </a:rPr>
              <a:t>Integrationstest</a:t>
            </a:r>
            <a:endParaRPr lang="en-US" sz="1650" dirty="0"/>
          </a:p>
        </p:txBody>
      </p:sp>
      <p:sp>
        <p:nvSpPr>
          <p:cNvPr id="27" name="Text 23"/>
          <p:cNvSpPr/>
          <p:nvPr/>
        </p:nvSpPr>
        <p:spPr>
          <a:xfrm>
            <a:off x="1600200" y="3163824"/>
            <a:ext cx="329184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mehrere Komponenten zusammen</a:t>
            </a:r>
            <a:endParaRPr lang="en-US" sz="1150" dirty="0"/>
          </a:p>
        </p:txBody>
      </p:sp>
      <p:sp>
        <p:nvSpPr>
          <p:cNvPr id="28" name="Shape 24"/>
          <p:cNvSpPr/>
          <p:nvPr/>
        </p:nvSpPr>
        <p:spPr>
          <a:xfrm>
            <a:off x="6382512" y="2880360"/>
            <a:ext cx="4937760" cy="512064"/>
          </a:xfrm>
          <a:prstGeom prst="roundRect">
            <a:avLst>
              <a:gd name="adj" fmla="val 21429"/>
            </a:avLst>
          </a:prstGeom>
          <a:solidFill>
            <a:srgbClr val="0A0F1A"/>
          </a:solidFill>
          <a:ln w="12700">
            <a:solidFill>
              <a:srgbClr val="2B3B52"/>
            </a:solidFill>
            <a:prstDash val="solid"/>
          </a:ln>
        </p:spPr>
      </p:sp>
      <p:sp>
        <p:nvSpPr>
          <p:cNvPr id="29" name="Text 25"/>
          <p:cNvSpPr/>
          <p:nvPr/>
        </p:nvSpPr>
        <p:spPr>
          <a:xfrm>
            <a:off x="6565392" y="2880360"/>
            <a:ext cx="4572000" cy="512064"/>
          </a:xfrm>
          <a:prstGeom prst="rect">
            <a:avLst/>
          </a:prstGeom>
          <a:noFill/>
          <a:ln/>
        </p:spPr>
        <p:txBody>
          <a:bodyPr wrap="square" lIns="0" tIns="0" rIns="0" bIns="0" rtlCol="0" anchor="ctr"/>
          <a:lstStyle/>
          <a:p>
            <a:pPr algn="ctr" indent="0" marL="0">
              <a:buNone/>
            </a:pPr>
            <a:r>
              <a:rPr lang="en-US" sz="1200" dirty="0">
                <a:solidFill>
                  <a:srgbClr val="F1F5F9"/>
                </a:solidFill>
                <a:latin typeface="Courier New" pitchFamily="34" charset="0"/>
                <a:ea typeface="Courier New" pitchFamily="34" charset="-122"/>
                <a:cs typeface="Courier New" pitchFamily="34" charset="-120"/>
              </a:rPr>
              <a:t>Backend  ↔  Datenbank</a:t>
            </a:r>
            <a:endParaRPr lang="en-US" sz="1200" dirty="0"/>
          </a:p>
        </p:txBody>
      </p:sp>
      <p:sp>
        <p:nvSpPr>
          <p:cNvPr id="30" name="Shape 26"/>
          <p:cNvSpPr/>
          <p:nvPr/>
        </p:nvSpPr>
        <p:spPr>
          <a:xfrm>
            <a:off x="548640" y="3822192"/>
            <a:ext cx="11091672" cy="1078992"/>
          </a:xfrm>
          <a:prstGeom prst="roundRect">
            <a:avLst>
              <a:gd name="adj" fmla="val 7627"/>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1" name="Shape 27"/>
          <p:cNvSpPr/>
          <p:nvPr/>
        </p:nvSpPr>
        <p:spPr>
          <a:xfrm>
            <a:off x="804672" y="4087368"/>
            <a:ext cx="548640" cy="548640"/>
          </a:xfrm>
          <a:prstGeom prst="ellipse">
            <a:avLst/>
          </a:prstGeom>
          <a:solidFill>
            <a:srgbClr val="0D1420"/>
          </a:solidFill>
          <a:ln w="12700">
            <a:solidFill>
              <a:srgbClr val="2B3B52"/>
            </a:solidFill>
            <a:prstDash val="solid"/>
          </a:ln>
        </p:spPr>
      </p:sp>
      <p:pic>
        <p:nvPicPr>
          <p:cNvPr id="32" name="Image 2" descr="/tmp/claude-0/-home-user-Test-Scatterpoint/4a189312-3458-5f65-a7f5-9710b6e532c7/scratchpad/icons/monitor.png">    </p:cNvPr>
          <p:cNvPicPr>
            <a:picLocks noChangeAspect="1"/>
          </p:cNvPicPr>
          <p:nvPr/>
        </p:nvPicPr>
        <p:blipFill>
          <a:blip r:embed="rId3"/>
          <a:stretch>
            <a:fillRect/>
          </a:stretch>
        </p:blipFill>
        <p:spPr>
          <a:xfrm>
            <a:off x="947318" y="4230014"/>
            <a:ext cx="263347" cy="263347"/>
          </a:xfrm>
          <a:prstGeom prst="rect">
            <a:avLst/>
          </a:prstGeom>
        </p:spPr>
      </p:pic>
      <p:sp>
        <p:nvSpPr>
          <p:cNvPr id="33" name="Text 28"/>
          <p:cNvSpPr/>
          <p:nvPr/>
        </p:nvSpPr>
        <p:spPr>
          <a:xfrm>
            <a:off x="1600200" y="4041648"/>
            <a:ext cx="2651760" cy="329184"/>
          </a:xfrm>
          <a:prstGeom prst="rect">
            <a:avLst/>
          </a:prstGeom>
          <a:noFill/>
          <a:ln/>
        </p:spPr>
        <p:txBody>
          <a:bodyPr wrap="square" lIns="0" tIns="0" rIns="0" bIns="0" rtlCol="0" anchor="ctr"/>
          <a:lstStyle/>
          <a:p>
            <a:pPr indent="0" marL="0">
              <a:buNone/>
            </a:pPr>
            <a:r>
              <a:rPr lang="en-US" sz="1650" b="1" dirty="0">
                <a:solidFill>
                  <a:srgbClr val="38BDF8"/>
                </a:solidFill>
                <a:latin typeface="Calibri" pitchFamily="34" charset="0"/>
                <a:ea typeface="Calibri" pitchFamily="34" charset="-122"/>
                <a:cs typeface="Calibri" pitchFamily="34" charset="-120"/>
              </a:rPr>
              <a:t>Systemtest</a:t>
            </a:r>
            <a:endParaRPr lang="en-US" sz="1650" dirty="0"/>
          </a:p>
        </p:txBody>
      </p:sp>
      <p:sp>
        <p:nvSpPr>
          <p:cNvPr id="34" name="Text 29"/>
          <p:cNvSpPr/>
          <p:nvPr/>
        </p:nvSpPr>
        <p:spPr>
          <a:xfrm>
            <a:off x="1600200" y="4389120"/>
            <a:ext cx="329184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komplette Anwendung als Ganzes</a:t>
            </a:r>
            <a:endParaRPr lang="en-US" sz="1150" dirty="0"/>
          </a:p>
        </p:txBody>
      </p:sp>
      <p:sp>
        <p:nvSpPr>
          <p:cNvPr id="35" name="Shape 30"/>
          <p:cNvSpPr/>
          <p:nvPr/>
        </p:nvSpPr>
        <p:spPr>
          <a:xfrm>
            <a:off x="6382512" y="4105656"/>
            <a:ext cx="4937760" cy="512064"/>
          </a:xfrm>
          <a:prstGeom prst="roundRect">
            <a:avLst>
              <a:gd name="adj" fmla="val 21429"/>
            </a:avLst>
          </a:prstGeom>
          <a:solidFill>
            <a:srgbClr val="0A0F1A"/>
          </a:solidFill>
          <a:ln w="12700">
            <a:solidFill>
              <a:srgbClr val="2B3B52"/>
            </a:solidFill>
            <a:prstDash val="solid"/>
          </a:ln>
        </p:spPr>
      </p:sp>
      <p:sp>
        <p:nvSpPr>
          <p:cNvPr id="36" name="Text 31"/>
          <p:cNvSpPr/>
          <p:nvPr/>
        </p:nvSpPr>
        <p:spPr>
          <a:xfrm>
            <a:off x="6565392" y="4105656"/>
            <a:ext cx="4572000" cy="512064"/>
          </a:xfrm>
          <a:prstGeom prst="rect">
            <a:avLst/>
          </a:prstGeom>
          <a:noFill/>
          <a:ln/>
        </p:spPr>
        <p:txBody>
          <a:bodyPr wrap="square" lIns="0" tIns="0" rIns="0" bIns="0" rtlCol="0" anchor="ctr"/>
          <a:lstStyle/>
          <a:p>
            <a:pPr algn="ctr" indent="0" marL="0">
              <a:buNone/>
            </a:pPr>
            <a:r>
              <a:rPr lang="en-US" sz="1200" dirty="0">
                <a:solidFill>
                  <a:srgbClr val="F1F5F9"/>
                </a:solidFill>
                <a:latin typeface="Courier New" pitchFamily="34" charset="0"/>
                <a:ea typeface="Courier New" pitchFamily="34" charset="-122"/>
                <a:cs typeface="Courier New" pitchFamily="34" charset="-120"/>
              </a:rPr>
              <a:t>Login → Warenkorb → Bestellung</a:t>
            </a:r>
            <a:endParaRPr lang="en-US" sz="1200" dirty="0"/>
          </a:p>
        </p:txBody>
      </p:sp>
      <p:sp>
        <p:nvSpPr>
          <p:cNvPr id="37" name="Shape 32"/>
          <p:cNvSpPr/>
          <p:nvPr/>
        </p:nvSpPr>
        <p:spPr>
          <a:xfrm>
            <a:off x="548640" y="5047488"/>
            <a:ext cx="11091672" cy="1078992"/>
          </a:xfrm>
          <a:prstGeom prst="roundRect">
            <a:avLst>
              <a:gd name="adj" fmla="val 7627"/>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8" name="Shape 33"/>
          <p:cNvSpPr/>
          <p:nvPr/>
        </p:nvSpPr>
        <p:spPr>
          <a:xfrm>
            <a:off x="804672" y="5312664"/>
            <a:ext cx="548640" cy="548640"/>
          </a:xfrm>
          <a:prstGeom prst="ellipse">
            <a:avLst/>
          </a:prstGeom>
          <a:solidFill>
            <a:srgbClr val="0D1420"/>
          </a:solidFill>
          <a:ln w="12700">
            <a:solidFill>
              <a:srgbClr val="2B3B52"/>
            </a:solidFill>
            <a:prstDash val="solid"/>
          </a:ln>
        </p:spPr>
      </p:sp>
      <p:pic>
        <p:nvPicPr>
          <p:cNvPr id="39" name="Image 3" descr="/tmp/claude-0/-home-user-Test-Scatterpoint/4a189312-3458-5f65-a7f5-9710b6e532c7/scratchpad/icons/user.png">    </p:cNvPr>
          <p:cNvPicPr>
            <a:picLocks noChangeAspect="1"/>
          </p:cNvPicPr>
          <p:nvPr/>
        </p:nvPicPr>
        <p:blipFill>
          <a:blip r:embed="rId4"/>
          <a:stretch>
            <a:fillRect/>
          </a:stretch>
        </p:blipFill>
        <p:spPr>
          <a:xfrm>
            <a:off x="947318" y="5455310"/>
            <a:ext cx="263347" cy="263347"/>
          </a:xfrm>
          <a:prstGeom prst="rect">
            <a:avLst/>
          </a:prstGeom>
        </p:spPr>
      </p:pic>
      <p:sp>
        <p:nvSpPr>
          <p:cNvPr id="40" name="Text 34"/>
          <p:cNvSpPr/>
          <p:nvPr/>
        </p:nvSpPr>
        <p:spPr>
          <a:xfrm>
            <a:off x="1600200" y="5266944"/>
            <a:ext cx="2651760" cy="329184"/>
          </a:xfrm>
          <a:prstGeom prst="rect">
            <a:avLst/>
          </a:prstGeom>
          <a:noFill/>
          <a:ln/>
        </p:spPr>
        <p:txBody>
          <a:bodyPr wrap="square" lIns="0" tIns="0" rIns="0" bIns="0" rtlCol="0" anchor="ctr"/>
          <a:lstStyle/>
          <a:p>
            <a:pPr indent="0" marL="0">
              <a:buNone/>
            </a:pPr>
            <a:r>
              <a:rPr lang="en-US" sz="1650" b="1" dirty="0">
                <a:solidFill>
                  <a:srgbClr val="38BDF8"/>
                </a:solidFill>
                <a:latin typeface="Calibri" pitchFamily="34" charset="0"/>
                <a:ea typeface="Calibri" pitchFamily="34" charset="-122"/>
                <a:cs typeface="Calibri" pitchFamily="34" charset="-120"/>
              </a:rPr>
              <a:t>Abnahmetest</a:t>
            </a:r>
            <a:endParaRPr lang="en-US" sz="1650" dirty="0"/>
          </a:p>
        </p:txBody>
      </p:sp>
      <p:sp>
        <p:nvSpPr>
          <p:cNvPr id="41" name="Text 35"/>
          <p:cNvSpPr/>
          <p:nvPr/>
        </p:nvSpPr>
        <p:spPr>
          <a:xfrm>
            <a:off x="1600200" y="5614416"/>
            <a:ext cx="329184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fachliche Sicht des Kunden</a:t>
            </a:r>
            <a:endParaRPr lang="en-US" sz="1150" dirty="0"/>
          </a:p>
        </p:txBody>
      </p:sp>
      <p:sp>
        <p:nvSpPr>
          <p:cNvPr id="42" name="Shape 36"/>
          <p:cNvSpPr/>
          <p:nvPr/>
        </p:nvSpPr>
        <p:spPr>
          <a:xfrm>
            <a:off x="6382512" y="5330952"/>
            <a:ext cx="4937760" cy="512064"/>
          </a:xfrm>
          <a:prstGeom prst="roundRect">
            <a:avLst>
              <a:gd name="adj" fmla="val 21429"/>
            </a:avLst>
          </a:prstGeom>
          <a:solidFill>
            <a:srgbClr val="0A0F1A"/>
          </a:solidFill>
          <a:ln w="12700">
            <a:solidFill>
              <a:srgbClr val="2B3B52"/>
            </a:solidFill>
            <a:prstDash val="solid"/>
          </a:ln>
        </p:spPr>
      </p:sp>
      <p:sp>
        <p:nvSpPr>
          <p:cNvPr id="43" name="Text 37"/>
          <p:cNvSpPr/>
          <p:nvPr/>
        </p:nvSpPr>
        <p:spPr>
          <a:xfrm>
            <a:off x="6565392" y="5330952"/>
            <a:ext cx="4572000" cy="512064"/>
          </a:xfrm>
          <a:prstGeom prst="rect">
            <a:avLst/>
          </a:prstGeom>
          <a:noFill/>
          <a:ln/>
        </p:spPr>
        <p:txBody>
          <a:bodyPr wrap="square" lIns="0" tIns="0" rIns="0" bIns="0" rtlCol="0" anchor="ctr"/>
          <a:lstStyle/>
          <a:p>
            <a:pPr algn="ctr" indent="0" marL="0">
              <a:buNone/>
            </a:pPr>
            <a:r>
              <a:rPr lang="en-US" sz="1200" dirty="0">
                <a:solidFill>
                  <a:srgbClr val="F1F5F9"/>
                </a:solidFill>
                <a:latin typeface="Courier New" pitchFamily="34" charset="0"/>
                <a:ea typeface="Courier New" pitchFamily="34" charset="-122"/>
                <a:cs typeface="Courier New" pitchFamily="34" charset="-120"/>
              </a:rPr>
              <a:t>Kann der Kunde wie vereinbart bestellen?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03 · TESTSTUFEN</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Teststufen im Vergleich</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Shape 9"/>
          <p:cNvSpPr/>
          <p:nvPr/>
        </p:nvSpPr>
        <p:spPr>
          <a:xfrm>
            <a:off x="5227168"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2" name="Shape 10"/>
          <p:cNvSpPr/>
          <p:nvPr/>
        </p:nvSpPr>
        <p:spPr>
          <a:xfrm>
            <a:off x="5355184" y="6560820"/>
            <a:ext cx="64008" cy="64008"/>
          </a:xfrm>
          <a:prstGeom prst="ellipse">
            <a:avLst/>
          </a:prstGeom>
          <a:solidFill>
            <a:srgbClr val="38BDF8"/>
          </a:solidFill>
          <a:ln/>
        </p:spPr>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417320"/>
            <a:ext cx="11091672" cy="548640"/>
          </a:xfrm>
          <a:prstGeom prst="roundRect">
            <a:avLst>
              <a:gd name="adj" fmla="val 13333"/>
            </a:avLst>
          </a:prstGeom>
          <a:solidFill>
            <a:srgbClr val="38BDF8">
              <a:alpha val="15000"/>
            </a:srgbClr>
          </a:solidFill>
          <a:ln w="12700">
            <a:solidFill>
              <a:srgbClr val="38BDF8">
                <a:alpha val="45000"/>
              </a:srgbClr>
            </a:solidFill>
            <a:prstDash val="solid"/>
          </a:ln>
        </p:spPr>
      </p:sp>
      <p:sp>
        <p:nvSpPr>
          <p:cNvPr id="17" name="Text 15"/>
          <p:cNvSpPr/>
          <p:nvPr/>
        </p:nvSpPr>
        <p:spPr>
          <a:xfrm>
            <a:off x="804672" y="1417320"/>
            <a:ext cx="2377440" cy="548640"/>
          </a:xfrm>
          <a:prstGeom prst="rect">
            <a:avLst/>
          </a:prstGeom>
          <a:noFill/>
          <a:ln/>
        </p:spPr>
        <p:txBody>
          <a:bodyPr wrap="square" lIns="0" tIns="0" rIns="0" bIns="0" rtlCol="0" anchor="ctr"/>
          <a:lstStyle/>
          <a:p>
            <a:pPr indent="0" marL="0">
              <a:buNone/>
            </a:pPr>
            <a:r>
              <a:rPr lang="en-US" sz="1200" b="1" spc="150" kern="0" dirty="0">
                <a:solidFill>
                  <a:srgbClr val="38BDF8"/>
                </a:solidFill>
                <a:latin typeface="Calibri" pitchFamily="34" charset="0"/>
                <a:ea typeface="Calibri" pitchFamily="34" charset="-122"/>
                <a:cs typeface="Calibri" pitchFamily="34" charset="-120"/>
              </a:rPr>
              <a:t>TESTSTUFE</a:t>
            </a:r>
            <a:endParaRPr lang="en-US" sz="1200" dirty="0"/>
          </a:p>
        </p:txBody>
      </p:sp>
      <p:sp>
        <p:nvSpPr>
          <p:cNvPr id="18" name="Text 16"/>
          <p:cNvSpPr/>
          <p:nvPr/>
        </p:nvSpPr>
        <p:spPr>
          <a:xfrm>
            <a:off x="3547872" y="1417320"/>
            <a:ext cx="1920240" cy="548640"/>
          </a:xfrm>
          <a:prstGeom prst="rect">
            <a:avLst/>
          </a:prstGeom>
          <a:noFill/>
          <a:ln/>
        </p:spPr>
        <p:txBody>
          <a:bodyPr wrap="square" lIns="0" tIns="0" rIns="0" bIns="0" rtlCol="0" anchor="ctr"/>
          <a:lstStyle/>
          <a:p>
            <a:pPr indent="0" marL="0">
              <a:buNone/>
            </a:pPr>
            <a:r>
              <a:rPr lang="en-US" sz="1200" b="1" spc="150" kern="0" dirty="0">
                <a:solidFill>
                  <a:srgbClr val="38BDF8"/>
                </a:solidFill>
                <a:latin typeface="Calibri" pitchFamily="34" charset="0"/>
                <a:ea typeface="Calibri" pitchFamily="34" charset="-122"/>
                <a:cs typeface="Calibri" pitchFamily="34" charset="-120"/>
              </a:rPr>
              <a:t>TESTUMFANG</a:t>
            </a:r>
            <a:endParaRPr lang="en-US" sz="1200" dirty="0"/>
          </a:p>
        </p:txBody>
      </p:sp>
      <p:sp>
        <p:nvSpPr>
          <p:cNvPr id="19" name="Text 17"/>
          <p:cNvSpPr/>
          <p:nvPr/>
        </p:nvSpPr>
        <p:spPr>
          <a:xfrm>
            <a:off x="5833872" y="1417320"/>
            <a:ext cx="2496312" cy="548640"/>
          </a:xfrm>
          <a:prstGeom prst="rect">
            <a:avLst/>
          </a:prstGeom>
          <a:noFill/>
          <a:ln/>
        </p:spPr>
        <p:txBody>
          <a:bodyPr wrap="square" lIns="0" tIns="0" rIns="0" bIns="0" rtlCol="0" anchor="ctr"/>
          <a:lstStyle/>
          <a:p>
            <a:pPr indent="0" marL="0">
              <a:buNone/>
            </a:pPr>
            <a:r>
              <a:rPr lang="en-US" sz="1200" b="1" spc="150" kern="0" dirty="0">
                <a:solidFill>
                  <a:srgbClr val="38BDF8"/>
                </a:solidFill>
                <a:latin typeface="Calibri" pitchFamily="34" charset="0"/>
                <a:ea typeface="Calibri" pitchFamily="34" charset="-122"/>
                <a:cs typeface="Calibri" pitchFamily="34" charset="-120"/>
              </a:rPr>
              <a:t>GESCHWINDIGKEIT</a:t>
            </a:r>
            <a:endParaRPr lang="en-US" sz="1200" dirty="0"/>
          </a:p>
        </p:txBody>
      </p:sp>
      <p:sp>
        <p:nvSpPr>
          <p:cNvPr id="20" name="Text 18"/>
          <p:cNvSpPr/>
          <p:nvPr/>
        </p:nvSpPr>
        <p:spPr>
          <a:xfrm>
            <a:off x="8695944" y="1417320"/>
            <a:ext cx="2834640" cy="548640"/>
          </a:xfrm>
          <a:prstGeom prst="rect">
            <a:avLst/>
          </a:prstGeom>
          <a:noFill/>
          <a:ln/>
        </p:spPr>
        <p:txBody>
          <a:bodyPr wrap="square" lIns="0" tIns="0" rIns="0" bIns="0" rtlCol="0" anchor="ctr"/>
          <a:lstStyle/>
          <a:p>
            <a:pPr indent="0" marL="0">
              <a:buNone/>
            </a:pPr>
            <a:r>
              <a:rPr lang="en-US" sz="1200" b="1" spc="150" kern="0" dirty="0">
                <a:solidFill>
                  <a:srgbClr val="38BDF8"/>
                </a:solidFill>
                <a:latin typeface="Calibri" pitchFamily="34" charset="0"/>
                <a:ea typeface="Calibri" pitchFamily="34" charset="-122"/>
                <a:cs typeface="Calibri" pitchFamily="34" charset="-120"/>
              </a:rPr>
              <a:t>BEISPIEL</a:t>
            </a:r>
            <a:endParaRPr lang="en-US" sz="1200" dirty="0"/>
          </a:p>
        </p:txBody>
      </p:sp>
      <p:sp>
        <p:nvSpPr>
          <p:cNvPr id="21" name="Shape 19"/>
          <p:cNvSpPr/>
          <p:nvPr/>
        </p:nvSpPr>
        <p:spPr>
          <a:xfrm>
            <a:off x="548640" y="2103120"/>
            <a:ext cx="11091672"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2" name="Text 20"/>
          <p:cNvSpPr/>
          <p:nvPr/>
        </p:nvSpPr>
        <p:spPr>
          <a:xfrm>
            <a:off x="804672" y="2103120"/>
            <a:ext cx="2377440" cy="9144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Unit Test</a:t>
            </a:r>
            <a:endParaRPr lang="en-US" sz="1500" dirty="0"/>
          </a:p>
        </p:txBody>
      </p:sp>
      <p:sp>
        <p:nvSpPr>
          <p:cNvPr id="23" name="Text 21"/>
          <p:cNvSpPr/>
          <p:nvPr/>
        </p:nvSpPr>
        <p:spPr>
          <a:xfrm>
            <a:off x="3547872" y="2103120"/>
            <a:ext cx="192024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klein</a:t>
            </a:r>
            <a:endParaRPr lang="en-US" sz="1300" dirty="0"/>
          </a:p>
        </p:txBody>
      </p:sp>
      <p:sp>
        <p:nvSpPr>
          <p:cNvPr id="24" name="Text 22"/>
          <p:cNvSpPr/>
          <p:nvPr/>
        </p:nvSpPr>
        <p:spPr>
          <a:xfrm>
            <a:off x="5833872" y="2231136"/>
            <a:ext cx="2496312" cy="29260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sehr schnell</a:t>
            </a:r>
            <a:endParaRPr lang="en-US" sz="1300" dirty="0"/>
          </a:p>
        </p:txBody>
      </p:sp>
      <p:sp>
        <p:nvSpPr>
          <p:cNvPr id="25" name="Shape 23"/>
          <p:cNvSpPr/>
          <p:nvPr/>
        </p:nvSpPr>
        <p:spPr>
          <a:xfrm>
            <a:off x="5852160" y="2606040"/>
            <a:ext cx="237744" cy="118872"/>
          </a:xfrm>
          <a:prstGeom prst="roundRect">
            <a:avLst>
              <a:gd name="adj" fmla="val 30769"/>
            </a:avLst>
          </a:prstGeom>
          <a:solidFill>
            <a:srgbClr val="38BDF8"/>
          </a:solidFill>
          <a:ln/>
        </p:spPr>
      </p:sp>
      <p:sp>
        <p:nvSpPr>
          <p:cNvPr id="26" name="Shape 24"/>
          <p:cNvSpPr/>
          <p:nvPr/>
        </p:nvSpPr>
        <p:spPr>
          <a:xfrm>
            <a:off x="6163056" y="2606040"/>
            <a:ext cx="237744" cy="118872"/>
          </a:xfrm>
          <a:prstGeom prst="roundRect">
            <a:avLst>
              <a:gd name="adj" fmla="val 30769"/>
            </a:avLst>
          </a:prstGeom>
          <a:solidFill>
            <a:srgbClr val="38BDF8"/>
          </a:solidFill>
          <a:ln/>
        </p:spPr>
      </p:sp>
      <p:sp>
        <p:nvSpPr>
          <p:cNvPr id="27" name="Shape 25"/>
          <p:cNvSpPr/>
          <p:nvPr/>
        </p:nvSpPr>
        <p:spPr>
          <a:xfrm>
            <a:off x="6473952" y="2606040"/>
            <a:ext cx="237744" cy="118872"/>
          </a:xfrm>
          <a:prstGeom prst="roundRect">
            <a:avLst>
              <a:gd name="adj" fmla="val 30769"/>
            </a:avLst>
          </a:prstGeom>
          <a:solidFill>
            <a:srgbClr val="38BDF8"/>
          </a:solidFill>
          <a:ln/>
        </p:spPr>
      </p:sp>
      <p:sp>
        <p:nvSpPr>
          <p:cNvPr id="28" name="Shape 26"/>
          <p:cNvSpPr/>
          <p:nvPr/>
        </p:nvSpPr>
        <p:spPr>
          <a:xfrm>
            <a:off x="6784848" y="2606040"/>
            <a:ext cx="237744" cy="118872"/>
          </a:xfrm>
          <a:prstGeom prst="roundRect">
            <a:avLst>
              <a:gd name="adj" fmla="val 30769"/>
            </a:avLst>
          </a:prstGeom>
          <a:solidFill>
            <a:srgbClr val="38BDF8"/>
          </a:solidFill>
          <a:ln/>
        </p:spPr>
      </p:sp>
      <p:sp>
        <p:nvSpPr>
          <p:cNvPr id="29" name="Text 27"/>
          <p:cNvSpPr/>
          <p:nvPr/>
        </p:nvSpPr>
        <p:spPr>
          <a:xfrm>
            <a:off x="8695944" y="2103120"/>
            <a:ext cx="278892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einzelne Methode</a:t>
            </a:r>
            <a:endParaRPr lang="en-US" sz="1300" dirty="0"/>
          </a:p>
        </p:txBody>
      </p:sp>
      <p:sp>
        <p:nvSpPr>
          <p:cNvPr id="30" name="Shape 28"/>
          <p:cNvSpPr/>
          <p:nvPr/>
        </p:nvSpPr>
        <p:spPr>
          <a:xfrm>
            <a:off x="548640" y="3127248"/>
            <a:ext cx="11091672" cy="914400"/>
          </a:xfrm>
          <a:prstGeom prst="roundRect">
            <a:avLst>
              <a:gd name="adj" fmla="val 9000"/>
            </a:avLst>
          </a:prstGeom>
          <a:solidFill>
            <a:srgbClr val="1B2A3D"/>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1" name="Text 29"/>
          <p:cNvSpPr/>
          <p:nvPr/>
        </p:nvSpPr>
        <p:spPr>
          <a:xfrm>
            <a:off x="804672" y="3127248"/>
            <a:ext cx="2377440" cy="9144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Integrationstest</a:t>
            </a:r>
            <a:endParaRPr lang="en-US" sz="1500" dirty="0"/>
          </a:p>
        </p:txBody>
      </p:sp>
      <p:sp>
        <p:nvSpPr>
          <p:cNvPr id="32" name="Text 30"/>
          <p:cNvSpPr/>
          <p:nvPr/>
        </p:nvSpPr>
        <p:spPr>
          <a:xfrm>
            <a:off x="3547872" y="3127248"/>
            <a:ext cx="192024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mittel</a:t>
            </a:r>
            <a:endParaRPr lang="en-US" sz="1300" dirty="0"/>
          </a:p>
        </p:txBody>
      </p:sp>
      <p:sp>
        <p:nvSpPr>
          <p:cNvPr id="33" name="Text 31"/>
          <p:cNvSpPr/>
          <p:nvPr/>
        </p:nvSpPr>
        <p:spPr>
          <a:xfrm>
            <a:off x="5833872" y="3255264"/>
            <a:ext cx="2496312" cy="29260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schnell bis mittel</a:t>
            </a:r>
            <a:endParaRPr lang="en-US" sz="1300" dirty="0"/>
          </a:p>
        </p:txBody>
      </p:sp>
      <p:sp>
        <p:nvSpPr>
          <p:cNvPr id="34" name="Shape 32"/>
          <p:cNvSpPr/>
          <p:nvPr/>
        </p:nvSpPr>
        <p:spPr>
          <a:xfrm>
            <a:off x="5852160" y="3630168"/>
            <a:ext cx="237744" cy="118872"/>
          </a:xfrm>
          <a:prstGeom prst="roundRect">
            <a:avLst>
              <a:gd name="adj" fmla="val 30769"/>
            </a:avLst>
          </a:prstGeom>
          <a:solidFill>
            <a:srgbClr val="38BDF8"/>
          </a:solidFill>
          <a:ln/>
        </p:spPr>
      </p:sp>
      <p:sp>
        <p:nvSpPr>
          <p:cNvPr id="35" name="Shape 33"/>
          <p:cNvSpPr/>
          <p:nvPr/>
        </p:nvSpPr>
        <p:spPr>
          <a:xfrm>
            <a:off x="6163056" y="3630168"/>
            <a:ext cx="237744" cy="118872"/>
          </a:xfrm>
          <a:prstGeom prst="roundRect">
            <a:avLst>
              <a:gd name="adj" fmla="val 30769"/>
            </a:avLst>
          </a:prstGeom>
          <a:solidFill>
            <a:srgbClr val="38BDF8"/>
          </a:solidFill>
          <a:ln/>
        </p:spPr>
      </p:sp>
      <p:sp>
        <p:nvSpPr>
          <p:cNvPr id="36" name="Shape 34"/>
          <p:cNvSpPr/>
          <p:nvPr/>
        </p:nvSpPr>
        <p:spPr>
          <a:xfrm>
            <a:off x="6473952" y="3630168"/>
            <a:ext cx="237744" cy="118872"/>
          </a:xfrm>
          <a:prstGeom prst="roundRect">
            <a:avLst>
              <a:gd name="adj" fmla="val 30769"/>
            </a:avLst>
          </a:prstGeom>
          <a:solidFill>
            <a:srgbClr val="38BDF8"/>
          </a:solidFill>
          <a:ln/>
        </p:spPr>
      </p:sp>
      <p:sp>
        <p:nvSpPr>
          <p:cNvPr id="37" name="Shape 35"/>
          <p:cNvSpPr/>
          <p:nvPr/>
        </p:nvSpPr>
        <p:spPr>
          <a:xfrm>
            <a:off x="6784848" y="3630168"/>
            <a:ext cx="237744" cy="118872"/>
          </a:xfrm>
          <a:prstGeom prst="roundRect">
            <a:avLst>
              <a:gd name="adj" fmla="val 30769"/>
            </a:avLst>
          </a:prstGeom>
          <a:solidFill>
            <a:srgbClr val="3A4A60"/>
          </a:solidFill>
          <a:ln/>
        </p:spPr>
      </p:sp>
      <p:sp>
        <p:nvSpPr>
          <p:cNvPr id="38" name="Text 36"/>
          <p:cNvSpPr/>
          <p:nvPr/>
        </p:nvSpPr>
        <p:spPr>
          <a:xfrm>
            <a:off x="8695944" y="3127248"/>
            <a:ext cx="278892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Backend + Datenbank</a:t>
            </a:r>
            <a:endParaRPr lang="en-US" sz="1300" dirty="0"/>
          </a:p>
        </p:txBody>
      </p:sp>
      <p:sp>
        <p:nvSpPr>
          <p:cNvPr id="39" name="Shape 37"/>
          <p:cNvSpPr/>
          <p:nvPr/>
        </p:nvSpPr>
        <p:spPr>
          <a:xfrm>
            <a:off x="548640" y="4151376"/>
            <a:ext cx="11091672"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40" name="Text 38"/>
          <p:cNvSpPr/>
          <p:nvPr/>
        </p:nvSpPr>
        <p:spPr>
          <a:xfrm>
            <a:off x="804672" y="4151376"/>
            <a:ext cx="2377440" cy="9144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Systemtest</a:t>
            </a:r>
            <a:endParaRPr lang="en-US" sz="1500" dirty="0"/>
          </a:p>
        </p:txBody>
      </p:sp>
      <p:sp>
        <p:nvSpPr>
          <p:cNvPr id="41" name="Text 39"/>
          <p:cNvSpPr/>
          <p:nvPr/>
        </p:nvSpPr>
        <p:spPr>
          <a:xfrm>
            <a:off x="3547872" y="4151376"/>
            <a:ext cx="192024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groß</a:t>
            </a:r>
            <a:endParaRPr lang="en-US" sz="1300" dirty="0"/>
          </a:p>
        </p:txBody>
      </p:sp>
      <p:sp>
        <p:nvSpPr>
          <p:cNvPr id="42" name="Text 40"/>
          <p:cNvSpPr/>
          <p:nvPr/>
        </p:nvSpPr>
        <p:spPr>
          <a:xfrm>
            <a:off x="5833872" y="4279392"/>
            <a:ext cx="2496312" cy="29260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langsamer</a:t>
            </a:r>
            <a:endParaRPr lang="en-US" sz="1300" dirty="0"/>
          </a:p>
        </p:txBody>
      </p:sp>
      <p:sp>
        <p:nvSpPr>
          <p:cNvPr id="43" name="Shape 41"/>
          <p:cNvSpPr/>
          <p:nvPr/>
        </p:nvSpPr>
        <p:spPr>
          <a:xfrm>
            <a:off x="5852160" y="4654296"/>
            <a:ext cx="237744" cy="118872"/>
          </a:xfrm>
          <a:prstGeom prst="roundRect">
            <a:avLst>
              <a:gd name="adj" fmla="val 30769"/>
            </a:avLst>
          </a:prstGeom>
          <a:solidFill>
            <a:srgbClr val="38BDF8"/>
          </a:solidFill>
          <a:ln/>
        </p:spPr>
      </p:sp>
      <p:sp>
        <p:nvSpPr>
          <p:cNvPr id="44" name="Shape 42"/>
          <p:cNvSpPr/>
          <p:nvPr/>
        </p:nvSpPr>
        <p:spPr>
          <a:xfrm>
            <a:off x="6163056" y="4654296"/>
            <a:ext cx="237744" cy="118872"/>
          </a:xfrm>
          <a:prstGeom prst="roundRect">
            <a:avLst>
              <a:gd name="adj" fmla="val 30769"/>
            </a:avLst>
          </a:prstGeom>
          <a:solidFill>
            <a:srgbClr val="38BDF8"/>
          </a:solidFill>
          <a:ln/>
        </p:spPr>
      </p:sp>
      <p:sp>
        <p:nvSpPr>
          <p:cNvPr id="45" name="Shape 43"/>
          <p:cNvSpPr/>
          <p:nvPr/>
        </p:nvSpPr>
        <p:spPr>
          <a:xfrm>
            <a:off x="6473952" y="4654296"/>
            <a:ext cx="237744" cy="118872"/>
          </a:xfrm>
          <a:prstGeom prst="roundRect">
            <a:avLst>
              <a:gd name="adj" fmla="val 30769"/>
            </a:avLst>
          </a:prstGeom>
          <a:solidFill>
            <a:srgbClr val="3A4A60"/>
          </a:solidFill>
          <a:ln/>
        </p:spPr>
      </p:sp>
      <p:sp>
        <p:nvSpPr>
          <p:cNvPr id="46" name="Shape 44"/>
          <p:cNvSpPr/>
          <p:nvPr/>
        </p:nvSpPr>
        <p:spPr>
          <a:xfrm>
            <a:off x="6784848" y="4654296"/>
            <a:ext cx="237744" cy="118872"/>
          </a:xfrm>
          <a:prstGeom prst="roundRect">
            <a:avLst>
              <a:gd name="adj" fmla="val 30769"/>
            </a:avLst>
          </a:prstGeom>
          <a:solidFill>
            <a:srgbClr val="3A4A60"/>
          </a:solidFill>
          <a:ln/>
        </p:spPr>
      </p:sp>
      <p:sp>
        <p:nvSpPr>
          <p:cNvPr id="47" name="Text 45"/>
          <p:cNvSpPr/>
          <p:nvPr/>
        </p:nvSpPr>
        <p:spPr>
          <a:xfrm>
            <a:off x="8695944" y="4151376"/>
            <a:ext cx="278892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komplette Anwendung</a:t>
            </a:r>
            <a:endParaRPr lang="en-US" sz="1300" dirty="0"/>
          </a:p>
        </p:txBody>
      </p:sp>
      <p:sp>
        <p:nvSpPr>
          <p:cNvPr id="48" name="Shape 46"/>
          <p:cNvSpPr/>
          <p:nvPr/>
        </p:nvSpPr>
        <p:spPr>
          <a:xfrm>
            <a:off x="548640" y="5175504"/>
            <a:ext cx="11091672" cy="914400"/>
          </a:xfrm>
          <a:prstGeom prst="roundRect">
            <a:avLst>
              <a:gd name="adj" fmla="val 9000"/>
            </a:avLst>
          </a:prstGeom>
          <a:solidFill>
            <a:srgbClr val="1B2A3D"/>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49" name="Text 47"/>
          <p:cNvSpPr/>
          <p:nvPr/>
        </p:nvSpPr>
        <p:spPr>
          <a:xfrm>
            <a:off x="804672" y="5175504"/>
            <a:ext cx="2377440" cy="914400"/>
          </a:xfrm>
          <a:prstGeom prst="rect">
            <a:avLst/>
          </a:prstGeom>
          <a:noFill/>
          <a:ln/>
        </p:spPr>
        <p:txBody>
          <a:bodyPr wrap="square" lIns="0" tIns="0" rIns="0" bIns="0"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Abnahmetest</a:t>
            </a:r>
            <a:endParaRPr lang="en-US" sz="1500" dirty="0"/>
          </a:p>
        </p:txBody>
      </p:sp>
      <p:sp>
        <p:nvSpPr>
          <p:cNvPr id="50" name="Text 48"/>
          <p:cNvSpPr/>
          <p:nvPr/>
        </p:nvSpPr>
        <p:spPr>
          <a:xfrm>
            <a:off x="3547872" y="5175504"/>
            <a:ext cx="192024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fachliche Sicht</a:t>
            </a:r>
            <a:endParaRPr lang="en-US" sz="1300" dirty="0"/>
          </a:p>
        </p:txBody>
      </p:sp>
      <p:sp>
        <p:nvSpPr>
          <p:cNvPr id="51" name="Text 49"/>
          <p:cNvSpPr/>
          <p:nvPr/>
        </p:nvSpPr>
        <p:spPr>
          <a:xfrm>
            <a:off x="5833872" y="5303520"/>
            <a:ext cx="2496312" cy="29260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unterschiedlich</a:t>
            </a:r>
            <a:endParaRPr lang="en-US" sz="1300" dirty="0"/>
          </a:p>
        </p:txBody>
      </p:sp>
      <p:sp>
        <p:nvSpPr>
          <p:cNvPr id="52" name="Shape 50"/>
          <p:cNvSpPr/>
          <p:nvPr/>
        </p:nvSpPr>
        <p:spPr>
          <a:xfrm>
            <a:off x="5852160" y="5678424"/>
            <a:ext cx="237744" cy="118872"/>
          </a:xfrm>
          <a:prstGeom prst="roundRect">
            <a:avLst>
              <a:gd name="adj" fmla="val 30769"/>
            </a:avLst>
          </a:prstGeom>
          <a:solidFill>
            <a:srgbClr val="3A4A60">
              <a:alpha val="60000"/>
            </a:srgbClr>
          </a:solidFill>
          <a:ln/>
        </p:spPr>
      </p:sp>
      <p:sp>
        <p:nvSpPr>
          <p:cNvPr id="53" name="Shape 51"/>
          <p:cNvSpPr/>
          <p:nvPr/>
        </p:nvSpPr>
        <p:spPr>
          <a:xfrm>
            <a:off x="6163056" y="5678424"/>
            <a:ext cx="237744" cy="118872"/>
          </a:xfrm>
          <a:prstGeom prst="roundRect">
            <a:avLst>
              <a:gd name="adj" fmla="val 30769"/>
            </a:avLst>
          </a:prstGeom>
          <a:solidFill>
            <a:srgbClr val="3A4A60">
              <a:alpha val="60000"/>
            </a:srgbClr>
          </a:solidFill>
          <a:ln/>
        </p:spPr>
      </p:sp>
      <p:sp>
        <p:nvSpPr>
          <p:cNvPr id="54" name="Shape 52"/>
          <p:cNvSpPr/>
          <p:nvPr/>
        </p:nvSpPr>
        <p:spPr>
          <a:xfrm>
            <a:off x="6473952" y="5678424"/>
            <a:ext cx="237744" cy="118872"/>
          </a:xfrm>
          <a:prstGeom prst="roundRect">
            <a:avLst>
              <a:gd name="adj" fmla="val 30769"/>
            </a:avLst>
          </a:prstGeom>
          <a:solidFill>
            <a:srgbClr val="3A4A60">
              <a:alpha val="60000"/>
            </a:srgbClr>
          </a:solidFill>
          <a:ln/>
        </p:spPr>
      </p:sp>
      <p:sp>
        <p:nvSpPr>
          <p:cNvPr id="55" name="Shape 53"/>
          <p:cNvSpPr/>
          <p:nvPr/>
        </p:nvSpPr>
        <p:spPr>
          <a:xfrm>
            <a:off x="6784848" y="5678424"/>
            <a:ext cx="237744" cy="118872"/>
          </a:xfrm>
          <a:prstGeom prst="roundRect">
            <a:avLst>
              <a:gd name="adj" fmla="val 30769"/>
            </a:avLst>
          </a:prstGeom>
          <a:solidFill>
            <a:srgbClr val="3A4A60">
              <a:alpha val="60000"/>
            </a:srgbClr>
          </a:solidFill>
          <a:ln/>
        </p:spPr>
      </p:sp>
      <p:sp>
        <p:nvSpPr>
          <p:cNvPr id="56" name="Text 54"/>
          <p:cNvSpPr/>
          <p:nvPr/>
        </p:nvSpPr>
        <p:spPr>
          <a:xfrm>
            <a:off x="7150608" y="5605272"/>
            <a:ext cx="1216152" cy="274320"/>
          </a:xfrm>
          <a:prstGeom prst="rect">
            <a:avLst/>
          </a:prstGeom>
          <a:noFill/>
          <a:ln/>
        </p:spPr>
        <p:txBody>
          <a:bodyPr wrap="square" lIns="0" tIns="0" rIns="0" bIns="0" rtlCol="0" anchor="ctr"/>
          <a:lstStyle/>
          <a:p>
            <a:pPr indent="0" marL="0">
              <a:buNone/>
            </a:pPr>
            <a:r>
              <a:rPr lang="en-US" sz="950" i="1" dirty="0">
                <a:solidFill>
                  <a:srgbClr val="5A6B82"/>
                </a:solidFill>
                <a:latin typeface="Calibri" pitchFamily="34" charset="0"/>
                <a:ea typeface="Calibri" pitchFamily="34" charset="-122"/>
                <a:cs typeface="Calibri" pitchFamily="34" charset="-120"/>
              </a:rPr>
              <a:t>je nach Verfahren</a:t>
            </a:r>
            <a:endParaRPr lang="en-US" sz="950" dirty="0"/>
          </a:p>
        </p:txBody>
      </p:sp>
      <p:sp>
        <p:nvSpPr>
          <p:cNvPr id="57" name="Text 55"/>
          <p:cNvSpPr/>
          <p:nvPr/>
        </p:nvSpPr>
        <p:spPr>
          <a:xfrm>
            <a:off x="8695944" y="5175504"/>
            <a:ext cx="278892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Anforderungen des Kunden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03 · TESTSTUFEN</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Die Testpyramide</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Shape 9"/>
          <p:cNvSpPr/>
          <p:nvPr/>
        </p:nvSpPr>
        <p:spPr>
          <a:xfrm>
            <a:off x="5227168"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2" name="Shape 10"/>
          <p:cNvSpPr/>
          <p:nvPr/>
        </p:nvSpPr>
        <p:spPr>
          <a:xfrm>
            <a:off x="5355184" y="6560820"/>
            <a:ext cx="64008" cy="64008"/>
          </a:xfrm>
          <a:prstGeom prst="ellipse">
            <a:avLst/>
          </a:prstGeom>
          <a:solidFill>
            <a:srgbClr val="38BDF8"/>
          </a:solidFill>
          <a:ln/>
        </p:spPr>
      </p:sp>
      <p:sp>
        <p:nvSpPr>
          <p:cNvPr id="13" name="Text 11"/>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03 Teststufen</a:t>
            </a:r>
            <a:endParaRPr lang="en-US" sz="950" dirty="0"/>
          </a:p>
        </p:txBody>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2194560" y="1600200"/>
            <a:ext cx="2651760" cy="1143000"/>
          </a:xfrm>
          <a:prstGeom prst="roundRect">
            <a:avLst>
              <a:gd name="adj" fmla="val 8000"/>
            </a:avLst>
          </a:prstGeom>
          <a:solidFill>
            <a:srgbClr val="1E3A5F"/>
          </a:solidFill>
          <a:ln w="15875">
            <a:solidFill>
              <a:srgbClr val="2B3B52"/>
            </a:solidFill>
            <a:prstDash val="solid"/>
          </a:ln>
          <a:effectLst>
            <a:outerShdw sx="100000" sy="100000" kx="0" ky="0" algn="bl" rotWithShape="0" blurRad="101600" dist="38100" dir="5400000">
              <a:srgbClr val="000000">
                <a:alpha val="30000"/>
              </a:srgbClr>
            </a:outerShdw>
          </a:effectLst>
        </p:spPr>
      </p:sp>
      <p:sp>
        <p:nvSpPr>
          <p:cNvPr id="17" name="Text 15"/>
          <p:cNvSpPr/>
          <p:nvPr/>
        </p:nvSpPr>
        <p:spPr>
          <a:xfrm>
            <a:off x="2286000" y="1600200"/>
            <a:ext cx="2468880" cy="1143000"/>
          </a:xfrm>
          <a:prstGeom prst="rect">
            <a:avLst/>
          </a:prstGeom>
          <a:noFill/>
          <a:ln/>
        </p:spPr>
        <p:txBody>
          <a:bodyPr wrap="square" lIns="0" tIns="0" rIns="0" bIns="0" rtlCol="0" anchor="ctr"/>
          <a:lstStyle/>
          <a:p>
            <a:pPr algn="ctr" indent="0" marL="0">
              <a:buNone/>
            </a:pPr>
            <a:r>
              <a:rPr lang="en-US" sz="1300" b="1" dirty="0">
                <a:solidFill>
                  <a:srgbClr val="94A3B8"/>
                </a:solidFill>
                <a:latin typeface="Calibri" pitchFamily="34" charset="0"/>
                <a:ea typeface="Calibri" pitchFamily="34" charset="-122"/>
                <a:cs typeface="Calibri" pitchFamily="34" charset="-120"/>
              </a:rPr>
              <a:t>Wenige System- / E2E-Tests</a:t>
            </a:r>
            <a:endParaRPr lang="en-US" sz="1300" dirty="0"/>
          </a:p>
        </p:txBody>
      </p:sp>
      <p:sp>
        <p:nvSpPr>
          <p:cNvPr id="18" name="Shape 16"/>
          <p:cNvSpPr/>
          <p:nvPr/>
        </p:nvSpPr>
        <p:spPr>
          <a:xfrm>
            <a:off x="1554480" y="2971800"/>
            <a:ext cx="3931920" cy="1143000"/>
          </a:xfrm>
          <a:prstGeom prst="roundRect">
            <a:avLst>
              <a:gd name="adj" fmla="val 8000"/>
            </a:avLst>
          </a:prstGeom>
          <a:solidFill>
            <a:srgbClr val="155E75"/>
          </a:solidFill>
          <a:ln w="15875">
            <a:solidFill>
              <a:srgbClr val="2286A8"/>
            </a:solidFill>
            <a:prstDash val="solid"/>
          </a:ln>
          <a:effectLst>
            <a:outerShdw sx="100000" sy="100000" kx="0" ky="0" algn="bl" rotWithShape="0" blurRad="101600" dist="38100" dir="5400000">
              <a:srgbClr val="000000">
                <a:alpha val="30000"/>
              </a:srgbClr>
            </a:outerShdw>
          </a:effectLst>
        </p:spPr>
      </p:sp>
      <p:sp>
        <p:nvSpPr>
          <p:cNvPr id="19" name="Text 17"/>
          <p:cNvSpPr/>
          <p:nvPr/>
        </p:nvSpPr>
        <p:spPr>
          <a:xfrm>
            <a:off x="1645920" y="2971800"/>
            <a:ext cx="3749040" cy="1143000"/>
          </a:xfrm>
          <a:prstGeom prst="rect">
            <a:avLst/>
          </a:prstGeom>
          <a:noFill/>
          <a:ln/>
        </p:spPr>
        <p:txBody>
          <a:bodyPr wrap="square" lIns="0" tIns="0" rIns="0" bIns="0" rtlCol="0" anchor="ctr"/>
          <a:lstStyle/>
          <a:p>
            <a:pPr algn="ctr" indent="0" marL="0">
              <a:buNone/>
            </a:pPr>
            <a:r>
              <a:rPr lang="en-US" sz="1300" b="1" dirty="0">
                <a:solidFill>
                  <a:srgbClr val="D7EDF5"/>
                </a:solidFill>
                <a:latin typeface="Calibri" pitchFamily="34" charset="0"/>
                <a:ea typeface="Calibri" pitchFamily="34" charset="-122"/>
                <a:cs typeface="Calibri" pitchFamily="34" charset="-120"/>
              </a:rPr>
              <a:t>Weniger Integrationstests</a:t>
            </a:r>
            <a:endParaRPr lang="en-US" sz="1300" dirty="0"/>
          </a:p>
        </p:txBody>
      </p:sp>
      <p:sp>
        <p:nvSpPr>
          <p:cNvPr id="20" name="Shape 18"/>
          <p:cNvSpPr/>
          <p:nvPr/>
        </p:nvSpPr>
        <p:spPr>
          <a:xfrm>
            <a:off x="960120" y="4343400"/>
            <a:ext cx="5120640" cy="1143000"/>
          </a:xfrm>
          <a:prstGeom prst="roundRect">
            <a:avLst>
              <a:gd name="adj" fmla="val 8000"/>
            </a:avLst>
          </a:prstGeom>
          <a:solidFill>
            <a:srgbClr val="0E7490"/>
          </a:solidFill>
          <a:ln w="15875">
            <a:solidFill>
              <a:srgbClr val="38BDF8"/>
            </a:solidFill>
            <a:prstDash val="solid"/>
          </a:ln>
          <a:effectLst>
            <a:outerShdw sx="100000" sy="100000" kx="0" ky="0" algn="bl" rotWithShape="0" blurRad="101600" dist="38100" dir="5400000">
              <a:srgbClr val="000000">
                <a:alpha val="30000"/>
              </a:srgbClr>
            </a:outerShdw>
          </a:effectLst>
        </p:spPr>
      </p:sp>
      <p:sp>
        <p:nvSpPr>
          <p:cNvPr id="21" name="Text 19"/>
          <p:cNvSpPr/>
          <p:nvPr/>
        </p:nvSpPr>
        <p:spPr>
          <a:xfrm>
            <a:off x="1051560" y="4343400"/>
            <a:ext cx="4937760" cy="11430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Viele Unit Tests</a:t>
            </a:r>
            <a:endParaRPr lang="en-US" sz="1600" dirty="0"/>
          </a:p>
        </p:txBody>
      </p:sp>
      <p:sp>
        <p:nvSpPr>
          <p:cNvPr id="22" name="Text 20"/>
          <p:cNvSpPr/>
          <p:nvPr/>
        </p:nvSpPr>
        <p:spPr>
          <a:xfrm rot="16200000">
            <a:off x="-137160" y="2606040"/>
            <a:ext cx="1188720" cy="2743200"/>
          </a:xfrm>
          <a:prstGeom prst="rect">
            <a:avLst/>
          </a:prstGeom>
          <a:noFill/>
          <a:ln/>
        </p:spPr>
        <p:txBody>
          <a:bodyPr wrap="square" lIns="0" tIns="0" rIns="0" bIns="0" rtlCol="0" anchor="ctr"/>
          <a:lstStyle/>
          <a:p>
            <a:pPr algn="ctr" indent="0" marL="0">
              <a:buNone/>
            </a:pPr>
            <a:r>
              <a:rPr lang="en-US" sz="1050" dirty="0">
                <a:solidFill>
                  <a:srgbClr val="5A6B82"/>
                </a:solidFill>
                <a:latin typeface="Calibri" pitchFamily="34" charset="0"/>
                <a:ea typeface="Calibri" pitchFamily="34" charset="-122"/>
                <a:cs typeface="Calibri" pitchFamily="34" charset="-120"/>
              </a:rPr>
              <a:t>Aufwand &amp; Dauer</a:t>
            </a:r>
            <a:endParaRPr lang="en-US" sz="1050" dirty="0"/>
          </a:p>
        </p:txBody>
      </p:sp>
      <p:sp>
        <p:nvSpPr>
          <p:cNvPr id="23" name="Shape 21"/>
          <p:cNvSpPr/>
          <p:nvPr/>
        </p:nvSpPr>
        <p:spPr>
          <a:xfrm>
            <a:off x="347472" y="1783080"/>
            <a:ext cx="219456" cy="594360"/>
          </a:xfrm>
          <a:prstGeom prst="upArrow">
            <a:avLst/>
          </a:prstGeom>
          <a:solidFill>
            <a:srgbClr val="3A4A60"/>
          </a:solidFill>
          <a:ln/>
        </p:spPr>
      </p:sp>
      <p:sp>
        <p:nvSpPr>
          <p:cNvPr id="24" name="Text 22"/>
          <p:cNvSpPr/>
          <p:nvPr/>
        </p:nvSpPr>
        <p:spPr>
          <a:xfrm rot="5400000">
            <a:off x="5806440" y="1737360"/>
            <a:ext cx="1188720" cy="2651760"/>
          </a:xfrm>
          <a:prstGeom prst="rect">
            <a:avLst/>
          </a:prstGeom>
          <a:noFill/>
          <a:ln/>
        </p:spPr>
        <p:txBody>
          <a:bodyPr wrap="square" lIns="0" tIns="0" rIns="0" bIns="0" rtlCol="0" anchor="ctr"/>
          <a:lstStyle/>
          <a:p>
            <a:pPr algn="ctr" indent="0" marL="0">
              <a:buNone/>
            </a:pPr>
            <a:r>
              <a:rPr lang="en-US" sz="1050" dirty="0">
                <a:solidFill>
                  <a:srgbClr val="5A6B82"/>
                </a:solidFill>
                <a:latin typeface="Calibri" pitchFamily="34" charset="0"/>
                <a:ea typeface="Calibri" pitchFamily="34" charset="-122"/>
                <a:cs typeface="Calibri" pitchFamily="34" charset="-120"/>
              </a:rPr>
              <a:t>Anzahl &amp; Tempo</a:t>
            </a:r>
            <a:endParaRPr lang="en-US" sz="1050" dirty="0"/>
          </a:p>
        </p:txBody>
      </p:sp>
      <p:sp>
        <p:nvSpPr>
          <p:cNvPr id="25" name="Shape 23"/>
          <p:cNvSpPr/>
          <p:nvPr/>
        </p:nvSpPr>
        <p:spPr>
          <a:xfrm>
            <a:off x="6291072" y="4480560"/>
            <a:ext cx="219456" cy="594360"/>
          </a:xfrm>
          <a:prstGeom prst="downArrow">
            <a:avLst/>
          </a:prstGeom>
          <a:solidFill>
            <a:srgbClr val="3A4A60"/>
          </a:solidFill>
          <a:ln/>
        </p:spPr>
      </p:sp>
      <p:sp>
        <p:nvSpPr>
          <p:cNvPr id="26" name="Shape 24"/>
          <p:cNvSpPr/>
          <p:nvPr/>
        </p:nvSpPr>
        <p:spPr>
          <a:xfrm>
            <a:off x="7452360" y="1600200"/>
            <a:ext cx="4160520" cy="1783080"/>
          </a:xfrm>
          <a:prstGeom prst="roundRect">
            <a:avLst>
              <a:gd name="adj" fmla="val 4615"/>
            </a:avLst>
          </a:prstGeom>
          <a:solidFill>
            <a:srgbClr val="16202F"/>
          </a:solidFill>
          <a:ln w="12700">
            <a:solidFill>
              <a:srgbClr val="38BDF8">
                <a:alpha val="60000"/>
              </a:srgbClr>
            </a:solidFill>
            <a:prstDash val="solid"/>
          </a:ln>
          <a:effectLst>
            <a:outerShdw sx="100000" sy="100000" kx="0" ky="0" algn="bl" rotWithShape="0" blurRad="101600" dist="38100" dir="5400000">
              <a:srgbClr val="000000">
                <a:alpha val="30000"/>
              </a:srgbClr>
            </a:outerShdw>
          </a:effectLst>
        </p:spPr>
      </p:sp>
      <p:sp>
        <p:nvSpPr>
          <p:cNvPr id="27" name="Text 25"/>
          <p:cNvSpPr/>
          <p:nvPr/>
        </p:nvSpPr>
        <p:spPr>
          <a:xfrm>
            <a:off x="7726680" y="1810512"/>
            <a:ext cx="3611880" cy="320040"/>
          </a:xfrm>
          <a:prstGeom prst="rect">
            <a:avLst/>
          </a:prstGeom>
          <a:noFill/>
          <a:ln/>
        </p:spPr>
        <p:txBody>
          <a:bodyPr wrap="square" lIns="0" tIns="0" rIns="0" bIns="0" rtlCol="0" anchor="ctr"/>
          <a:lstStyle/>
          <a:p>
            <a:pPr indent="0" marL="0">
              <a:buNone/>
            </a:pPr>
            <a:r>
              <a:rPr lang="en-US" sz="1450" b="1" dirty="0">
                <a:solidFill>
                  <a:srgbClr val="38BDF8"/>
                </a:solidFill>
                <a:latin typeface="Calibri" pitchFamily="34" charset="0"/>
                <a:ea typeface="Calibri" pitchFamily="34" charset="-122"/>
                <a:cs typeface="Calibri" pitchFamily="34" charset="-120"/>
              </a:rPr>
              <a:t>Unit Tests (unten)</a:t>
            </a:r>
            <a:endParaRPr lang="en-US" sz="1450" dirty="0"/>
          </a:p>
        </p:txBody>
      </p:sp>
      <p:sp>
        <p:nvSpPr>
          <p:cNvPr id="28" name="Text 26"/>
          <p:cNvSpPr/>
          <p:nvPr/>
        </p:nvSpPr>
        <p:spPr>
          <a:xfrm>
            <a:off x="7772400" y="2194560"/>
            <a:ext cx="3520440" cy="10515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schnell</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günstig</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leicht automatisierbar</a:t>
            </a:r>
            <a:endParaRPr lang="en-US" sz="1250" dirty="0"/>
          </a:p>
        </p:txBody>
      </p:sp>
      <p:sp>
        <p:nvSpPr>
          <p:cNvPr id="29" name="Shape 27"/>
          <p:cNvSpPr/>
          <p:nvPr/>
        </p:nvSpPr>
        <p:spPr>
          <a:xfrm>
            <a:off x="7452360" y="3611880"/>
            <a:ext cx="4160520" cy="1783080"/>
          </a:xfrm>
          <a:prstGeom prst="roundRect">
            <a:avLst>
              <a:gd name="adj" fmla="val 4615"/>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0" name="Text 28"/>
          <p:cNvSpPr/>
          <p:nvPr/>
        </p:nvSpPr>
        <p:spPr>
          <a:xfrm>
            <a:off x="7726680" y="3822192"/>
            <a:ext cx="3611880" cy="320040"/>
          </a:xfrm>
          <a:prstGeom prst="rect">
            <a:avLst/>
          </a:prstGeom>
          <a:noFill/>
          <a:ln/>
        </p:spPr>
        <p:txBody>
          <a:bodyPr wrap="square" lIns="0" tIns="0" rIns="0" bIns="0" rtlCol="0" anchor="ctr"/>
          <a:lstStyle/>
          <a:p>
            <a:pPr indent="0" marL="0">
              <a:buNone/>
            </a:pPr>
            <a:r>
              <a:rPr lang="en-US" sz="1450" b="1" dirty="0">
                <a:solidFill>
                  <a:srgbClr val="F1F5F9"/>
                </a:solidFill>
                <a:latin typeface="Calibri" pitchFamily="34" charset="0"/>
                <a:ea typeface="Calibri" pitchFamily="34" charset="-122"/>
                <a:cs typeface="Calibri" pitchFamily="34" charset="-120"/>
              </a:rPr>
              <a:t>System- / E2E-Tests (oben)</a:t>
            </a:r>
            <a:endParaRPr lang="en-US" sz="1450" dirty="0"/>
          </a:p>
        </p:txBody>
      </p:sp>
      <p:sp>
        <p:nvSpPr>
          <p:cNvPr id="31" name="Text 29"/>
          <p:cNvSpPr/>
          <p:nvPr/>
        </p:nvSpPr>
        <p:spPr>
          <a:xfrm>
            <a:off x="7772400" y="4206240"/>
            <a:ext cx="3520440" cy="10515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94A3B8"/>
                </a:solidFill>
                <a:latin typeface="Calibri" pitchFamily="34" charset="0"/>
                <a:ea typeface="Calibri" pitchFamily="34" charset="-122"/>
                <a:cs typeface="Calibri" pitchFamily="34" charset="-120"/>
              </a:rPr>
              <a:t>komplexer</a:t>
            </a:r>
            <a:endParaRPr lang="en-US" sz="1250" dirty="0"/>
          </a:p>
          <a:p>
            <a:pPr marL="342900" indent="-342900">
              <a:spcAft>
                <a:spcPts val="600"/>
              </a:spcAft>
              <a:buSzPct val="100000"/>
              <a:buChar char="•"/>
            </a:pPr>
            <a:r>
              <a:rPr lang="en-US" sz="1250" dirty="0">
                <a:solidFill>
                  <a:srgbClr val="94A3B8"/>
                </a:solidFill>
                <a:latin typeface="Calibri" pitchFamily="34" charset="0"/>
                <a:ea typeface="Calibri" pitchFamily="34" charset="-122"/>
                <a:cs typeface="Calibri" pitchFamily="34" charset="-120"/>
              </a:rPr>
              <a:t>langsamer</a:t>
            </a:r>
            <a:endParaRPr lang="en-US" sz="1250" dirty="0"/>
          </a:p>
          <a:p>
            <a:pPr marL="342900" indent="-342900">
              <a:spcAft>
                <a:spcPts val="600"/>
              </a:spcAft>
              <a:buSzPct val="100000"/>
              <a:buChar char="•"/>
            </a:pPr>
            <a:r>
              <a:rPr lang="en-US" sz="1250" dirty="0">
                <a:solidFill>
                  <a:srgbClr val="94A3B8"/>
                </a:solidFill>
                <a:latin typeface="Calibri" pitchFamily="34" charset="0"/>
                <a:ea typeface="Calibri" pitchFamily="34" charset="-122"/>
                <a:cs typeface="Calibri" pitchFamily="34" charset="-120"/>
              </a:rPr>
              <a:t>aufwendiger zu pflegen</a:t>
            </a:r>
            <a:endParaRPr lang="en-US" sz="1250" dirty="0"/>
          </a:p>
        </p:txBody>
      </p:sp>
      <p:sp>
        <p:nvSpPr>
          <p:cNvPr id="32" name="Text 30"/>
          <p:cNvSpPr/>
          <p:nvPr/>
        </p:nvSpPr>
        <p:spPr>
          <a:xfrm>
            <a:off x="1097280" y="5715000"/>
            <a:ext cx="10058400" cy="365760"/>
          </a:xfrm>
          <a:prstGeom prst="rect">
            <a:avLst/>
          </a:prstGeom>
          <a:noFill/>
          <a:ln/>
        </p:spPr>
        <p:txBody>
          <a:bodyPr wrap="square" lIns="0" tIns="0" rIns="0" bIns="0" rtlCol="0" anchor="ctr"/>
          <a:lstStyle/>
          <a:p>
            <a:pPr algn="ctr" indent="0" marL="0">
              <a:buNone/>
            </a:pPr>
            <a:r>
              <a:rPr lang="en-US" sz="1400" b="1" i="1" dirty="0">
                <a:solidFill>
                  <a:srgbClr val="38BDF8"/>
                </a:solidFill>
                <a:latin typeface="Calibri" pitchFamily="34" charset="0"/>
                <a:ea typeface="Calibri" pitchFamily="34" charset="-122"/>
                <a:cs typeface="Calibri" pitchFamily="34" charset="-120"/>
              </a:rPr>
              <a:t>Deshalb gilt: viele kleine Tests, wenige große.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04 · DEBUGGING</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Was ist Debugging?</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Text 9"/>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03 Teststufen</a:t>
            </a:r>
            <a:endParaRPr lang="en-US" sz="950" dirty="0"/>
          </a:p>
        </p:txBody>
      </p:sp>
      <p:sp>
        <p:nvSpPr>
          <p:cNvPr id="12" name="Shape 10"/>
          <p:cNvSpPr/>
          <p:nvPr/>
        </p:nvSpPr>
        <p:spPr>
          <a:xfrm>
            <a:off x="7464339"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3" name="Shape 11"/>
          <p:cNvSpPr/>
          <p:nvPr/>
        </p:nvSpPr>
        <p:spPr>
          <a:xfrm>
            <a:off x="7592355" y="6560820"/>
            <a:ext cx="64008" cy="64008"/>
          </a:xfrm>
          <a:prstGeom prst="ellipse">
            <a:avLst/>
          </a:prstGeom>
          <a:solidFill>
            <a:srgbClr val="38BDF8"/>
          </a:solidFill>
          <a:ln/>
        </p:spPr>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71600"/>
            <a:ext cx="5074920" cy="2148840"/>
          </a:xfrm>
          <a:prstGeom prst="roundRect">
            <a:avLst>
              <a:gd name="adj" fmla="val 3830"/>
            </a:avLst>
          </a:prstGeom>
          <a:solidFill>
            <a:srgbClr val="16202F"/>
          </a:solidFill>
          <a:ln w="15875">
            <a:solidFill>
              <a:srgbClr val="38BDF8">
                <a:alpha val="65000"/>
              </a:srgbClr>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822960" y="1627632"/>
            <a:ext cx="548640" cy="548640"/>
          </a:xfrm>
          <a:prstGeom prst="ellipse">
            <a:avLst/>
          </a:prstGeom>
          <a:solidFill>
            <a:srgbClr val="0D1420"/>
          </a:solidFill>
          <a:ln w="12700">
            <a:solidFill>
              <a:srgbClr val="2B3B52"/>
            </a:solidFill>
            <a:prstDash val="solid"/>
          </a:ln>
        </p:spPr>
      </p:sp>
      <p:pic>
        <p:nvPicPr>
          <p:cNvPr id="18" name="Image 0" descr="/tmp/claude-0/-home-user-Test-Scatterpoint/4a189312-3458-5f65-a7f5-9710b6e532c7/scratchpad/icons/checkCyan.png">    </p:cNvPr>
          <p:cNvPicPr>
            <a:picLocks noChangeAspect="1"/>
          </p:cNvPicPr>
          <p:nvPr/>
        </p:nvPicPr>
        <p:blipFill>
          <a:blip r:embed="rId1"/>
          <a:stretch>
            <a:fillRect/>
          </a:stretch>
        </p:blipFill>
        <p:spPr>
          <a:xfrm>
            <a:off x="965606" y="1770278"/>
            <a:ext cx="263347" cy="263347"/>
          </a:xfrm>
          <a:prstGeom prst="rect">
            <a:avLst/>
          </a:prstGeom>
        </p:spPr>
      </p:pic>
      <p:sp>
        <p:nvSpPr>
          <p:cNvPr id="19" name="Text 16"/>
          <p:cNvSpPr/>
          <p:nvPr/>
        </p:nvSpPr>
        <p:spPr>
          <a:xfrm>
            <a:off x="1536192" y="1700784"/>
            <a:ext cx="3200400" cy="411480"/>
          </a:xfrm>
          <a:prstGeom prst="rect">
            <a:avLst/>
          </a:prstGeom>
          <a:noFill/>
          <a:ln/>
        </p:spPr>
        <p:txBody>
          <a:bodyPr wrap="square" lIns="0" tIns="0" rIns="0" bIns="0" rtlCol="0" anchor="ctr"/>
          <a:lstStyle/>
          <a:p>
            <a:pPr indent="0" marL="0">
              <a:buNone/>
            </a:pPr>
            <a:r>
              <a:rPr lang="en-US" sz="1900" b="1" dirty="0">
                <a:solidFill>
                  <a:srgbClr val="38BDF8"/>
                </a:solidFill>
                <a:latin typeface="Calibri" pitchFamily="34" charset="0"/>
                <a:ea typeface="Calibri" pitchFamily="34" charset="-122"/>
                <a:cs typeface="Calibri" pitchFamily="34" charset="-120"/>
              </a:rPr>
              <a:t>Testing</a:t>
            </a:r>
            <a:endParaRPr lang="en-US" sz="1900" dirty="0"/>
          </a:p>
        </p:txBody>
      </p:sp>
      <p:sp>
        <p:nvSpPr>
          <p:cNvPr id="20" name="Text 17"/>
          <p:cNvSpPr/>
          <p:nvPr/>
        </p:nvSpPr>
        <p:spPr>
          <a:xfrm>
            <a:off x="822960" y="2395728"/>
            <a:ext cx="4526280" cy="384048"/>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Gibt es einen Fehler?</a:t>
            </a:r>
            <a:endParaRPr lang="en-US" sz="1700" dirty="0"/>
          </a:p>
        </p:txBody>
      </p:sp>
      <p:sp>
        <p:nvSpPr>
          <p:cNvPr id="21" name="Text 18"/>
          <p:cNvSpPr/>
          <p:nvPr/>
        </p:nvSpPr>
        <p:spPr>
          <a:xfrm>
            <a:off x="822960" y="2834640"/>
            <a:ext cx="45262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stellt fest, DASS etwas nicht stimmt</a:t>
            </a:r>
            <a:endParaRPr lang="en-US" sz="1200" dirty="0"/>
          </a:p>
        </p:txBody>
      </p:sp>
      <p:sp>
        <p:nvSpPr>
          <p:cNvPr id="22" name="Shape 19"/>
          <p:cNvSpPr/>
          <p:nvPr/>
        </p:nvSpPr>
        <p:spPr>
          <a:xfrm>
            <a:off x="6565392" y="1371600"/>
            <a:ext cx="5074920" cy="2148840"/>
          </a:xfrm>
          <a:prstGeom prst="roundRect">
            <a:avLst>
              <a:gd name="adj" fmla="val 3830"/>
            </a:avLst>
          </a:prstGeom>
          <a:solidFill>
            <a:srgbClr val="16202F"/>
          </a:solidFill>
          <a:ln w="15875">
            <a:solidFill>
              <a:srgbClr val="4ADE80">
                <a:alpha val="65000"/>
              </a:srgbClr>
            </a:solidFill>
            <a:prstDash val="solid"/>
          </a:ln>
          <a:effectLst>
            <a:outerShdw sx="100000" sy="100000" kx="0" ky="0" algn="bl" rotWithShape="0" blurRad="101600" dist="38100" dir="5400000">
              <a:srgbClr val="000000">
                <a:alpha val="30000"/>
              </a:srgbClr>
            </a:outerShdw>
          </a:effectLst>
        </p:spPr>
      </p:sp>
      <p:sp>
        <p:nvSpPr>
          <p:cNvPr id="23" name="Shape 20"/>
          <p:cNvSpPr/>
          <p:nvPr/>
        </p:nvSpPr>
        <p:spPr>
          <a:xfrm>
            <a:off x="6839712" y="1627632"/>
            <a:ext cx="548640" cy="548640"/>
          </a:xfrm>
          <a:prstGeom prst="ellipse">
            <a:avLst/>
          </a:prstGeom>
          <a:solidFill>
            <a:srgbClr val="0D1420"/>
          </a:solidFill>
          <a:ln w="12700">
            <a:solidFill>
              <a:srgbClr val="2B3B52"/>
            </a:solidFill>
            <a:prstDash val="solid"/>
          </a:ln>
        </p:spPr>
      </p:sp>
      <p:pic>
        <p:nvPicPr>
          <p:cNvPr id="24" name="Image 1" descr="/tmp/claude-0/-home-user-Test-Scatterpoint/4a189312-3458-5f65-a7f5-9710b6e532c7/scratchpad/icons/searchGreen.png">    </p:cNvPr>
          <p:cNvPicPr>
            <a:picLocks noChangeAspect="1"/>
          </p:cNvPicPr>
          <p:nvPr/>
        </p:nvPicPr>
        <p:blipFill>
          <a:blip r:embed="rId2"/>
          <a:stretch>
            <a:fillRect/>
          </a:stretch>
        </p:blipFill>
        <p:spPr>
          <a:xfrm>
            <a:off x="6982358" y="1770278"/>
            <a:ext cx="263347" cy="263347"/>
          </a:xfrm>
          <a:prstGeom prst="rect">
            <a:avLst/>
          </a:prstGeom>
        </p:spPr>
      </p:pic>
      <p:sp>
        <p:nvSpPr>
          <p:cNvPr id="25" name="Text 21"/>
          <p:cNvSpPr/>
          <p:nvPr/>
        </p:nvSpPr>
        <p:spPr>
          <a:xfrm>
            <a:off x="7552944" y="1700784"/>
            <a:ext cx="3200400" cy="411480"/>
          </a:xfrm>
          <a:prstGeom prst="rect">
            <a:avLst/>
          </a:prstGeom>
          <a:noFill/>
          <a:ln/>
        </p:spPr>
        <p:txBody>
          <a:bodyPr wrap="square" lIns="0" tIns="0" rIns="0" bIns="0" rtlCol="0" anchor="ctr"/>
          <a:lstStyle/>
          <a:p>
            <a:pPr indent="0" marL="0">
              <a:buNone/>
            </a:pPr>
            <a:r>
              <a:rPr lang="en-US" sz="1900" b="1" dirty="0">
                <a:solidFill>
                  <a:srgbClr val="4ADE80"/>
                </a:solidFill>
                <a:latin typeface="Calibri" pitchFamily="34" charset="0"/>
                <a:ea typeface="Calibri" pitchFamily="34" charset="-122"/>
                <a:cs typeface="Calibri" pitchFamily="34" charset="-120"/>
              </a:rPr>
              <a:t>Debugging</a:t>
            </a:r>
            <a:endParaRPr lang="en-US" sz="1900" dirty="0"/>
          </a:p>
        </p:txBody>
      </p:sp>
      <p:sp>
        <p:nvSpPr>
          <p:cNvPr id="26" name="Text 22"/>
          <p:cNvSpPr/>
          <p:nvPr/>
        </p:nvSpPr>
        <p:spPr>
          <a:xfrm>
            <a:off x="6839712" y="2395728"/>
            <a:ext cx="4526280" cy="384048"/>
          </a:xfrm>
          <a:prstGeom prst="rect">
            <a:avLst/>
          </a:prstGeom>
          <a:noFill/>
          <a:ln/>
        </p:spPr>
        <p:txBody>
          <a:bodyPr wrap="square" lIns="0" tIns="0" rIns="0" bIns="0" rtlCol="0" anchor="ctr"/>
          <a:lstStyle/>
          <a:p>
            <a:pPr indent="0" marL="0">
              <a:buNone/>
            </a:pPr>
            <a:r>
              <a:rPr lang="en-US" sz="1700" b="1" dirty="0">
                <a:solidFill>
                  <a:srgbClr val="F1F5F9"/>
                </a:solidFill>
                <a:latin typeface="Calibri" pitchFamily="34" charset="0"/>
                <a:ea typeface="Calibri" pitchFamily="34" charset="-122"/>
                <a:cs typeface="Calibri" pitchFamily="34" charset="-120"/>
              </a:rPr>
              <a:t>Wo ist der Fehler – und warum?</a:t>
            </a:r>
            <a:endParaRPr lang="en-US" sz="1700" dirty="0"/>
          </a:p>
        </p:txBody>
      </p:sp>
      <p:sp>
        <p:nvSpPr>
          <p:cNvPr id="27" name="Text 23"/>
          <p:cNvSpPr/>
          <p:nvPr/>
        </p:nvSpPr>
        <p:spPr>
          <a:xfrm>
            <a:off x="6839712" y="2834640"/>
            <a:ext cx="45262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findet Ort und Ursache des Fehlers</a:t>
            </a:r>
            <a:endParaRPr lang="en-US" sz="1200" dirty="0"/>
          </a:p>
        </p:txBody>
      </p:sp>
      <p:sp>
        <p:nvSpPr>
          <p:cNvPr id="28" name="Shape 24"/>
          <p:cNvSpPr/>
          <p:nvPr/>
        </p:nvSpPr>
        <p:spPr>
          <a:xfrm>
            <a:off x="5769864" y="2116836"/>
            <a:ext cx="658368" cy="658368"/>
          </a:xfrm>
          <a:prstGeom prst="ellipse">
            <a:avLst/>
          </a:prstGeom>
          <a:solidFill>
            <a:srgbClr val="0D1420"/>
          </a:solidFill>
          <a:ln w="19050">
            <a:solidFill>
              <a:srgbClr val="2B3B52"/>
            </a:solidFill>
            <a:prstDash val="solid"/>
          </a:ln>
        </p:spPr>
      </p:sp>
      <p:sp>
        <p:nvSpPr>
          <p:cNvPr id="29" name="Text 25"/>
          <p:cNvSpPr/>
          <p:nvPr/>
        </p:nvSpPr>
        <p:spPr>
          <a:xfrm>
            <a:off x="5769864" y="2116836"/>
            <a:ext cx="658368" cy="658368"/>
          </a:xfrm>
          <a:prstGeom prst="rect">
            <a:avLst/>
          </a:prstGeom>
          <a:noFill/>
          <a:ln/>
        </p:spPr>
        <p:txBody>
          <a:bodyPr wrap="square" lIns="0" tIns="0" rIns="0" bIns="0" rtlCol="0" anchor="ctr"/>
          <a:lstStyle/>
          <a:p>
            <a:pPr algn="ctr" indent="0" marL="0">
              <a:buNone/>
            </a:pPr>
            <a:r>
              <a:rPr lang="en-US" sz="1500" b="1" i="1" dirty="0">
                <a:solidFill>
                  <a:srgbClr val="94A3B8"/>
                </a:solidFill>
                <a:latin typeface="Calibri" pitchFamily="34" charset="0"/>
                <a:ea typeface="Calibri" pitchFamily="34" charset="-122"/>
                <a:cs typeface="Calibri" pitchFamily="34" charset="-120"/>
              </a:rPr>
              <a:t>vs</a:t>
            </a:r>
            <a:endParaRPr lang="en-US" sz="1500" dirty="0"/>
          </a:p>
        </p:txBody>
      </p:sp>
      <p:sp>
        <p:nvSpPr>
          <p:cNvPr id="30" name="Shape 26"/>
          <p:cNvSpPr/>
          <p:nvPr/>
        </p:nvSpPr>
        <p:spPr>
          <a:xfrm>
            <a:off x="548640" y="3977640"/>
            <a:ext cx="11091672" cy="1965960"/>
          </a:xfrm>
          <a:prstGeom prst="roundRect">
            <a:avLst>
              <a:gd name="adj" fmla="val 4186"/>
            </a:avLst>
          </a:prstGeom>
          <a:solidFill>
            <a:srgbClr val="0A0F1A"/>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1" name="Text 27"/>
          <p:cNvSpPr/>
          <p:nvPr/>
        </p:nvSpPr>
        <p:spPr>
          <a:xfrm>
            <a:off x="1097280" y="4297680"/>
            <a:ext cx="2377440" cy="27432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Test erwartet</a:t>
            </a:r>
            <a:endParaRPr lang="en-US" sz="1200" dirty="0"/>
          </a:p>
        </p:txBody>
      </p:sp>
      <p:sp>
        <p:nvSpPr>
          <p:cNvPr id="32" name="Text 28"/>
          <p:cNvSpPr/>
          <p:nvPr/>
        </p:nvSpPr>
        <p:spPr>
          <a:xfrm>
            <a:off x="1097280" y="4617720"/>
            <a:ext cx="2377440" cy="777240"/>
          </a:xfrm>
          <a:prstGeom prst="rect">
            <a:avLst/>
          </a:prstGeom>
          <a:noFill/>
          <a:ln/>
        </p:spPr>
        <p:txBody>
          <a:bodyPr wrap="square" lIns="0" tIns="0" rIns="0" bIns="0" rtlCol="0" anchor="ctr"/>
          <a:lstStyle/>
          <a:p>
            <a:pPr algn="ctr" indent="0" marL="0">
              <a:buNone/>
            </a:pPr>
            <a:r>
              <a:rPr lang="en-US" sz="4000" b="1" dirty="0">
                <a:solidFill>
                  <a:srgbClr val="4ADE80"/>
                </a:solidFill>
                <a:latin typeface="Courier New" pitchFamily="34" charset="0"/>
                <a:ea typeface="Courier New" pitchFamily="34" charset="-122"/>
                <a:cs typeface="Courier New" pitchFamily="34" charset="-120"/>
              </a:rPr>
              <a:t>15</a:t>
            </a:r>
            <a:endParaRPr lang="en-US" sz="4000" dirty="0"/>
          </a:p>
        </p:txBody>
      </p:sp>
      <p:sp>
        <p:nvSpPr>
          <p:cNvPr id="33" name="Text 29"/>
          <p:cNvSpPr/>
          <p:nvPr/>
        </p:nvSpPr>
        <p:spPr>
          <a:xfrm>
            <a:off x="3611880" y="4480560"/>
            <a:ext cx="822960" cy="1005840"/>
          </a:xfrm>
          <a:prstGeom prst="rect">
            <a:avLst/>
          </a:prstGeom>
          <a:noFill/>
          <a:ln/>
        </p:spPr>
        <p:txBody>
          <a:bodyPr wrap="square" lIns="0" tIns="0" rIns="0" bIns="0" rtlCol="0" anchor="ctr"/>
          <a:lstStyle/>
          <a:p>
            <a:pPr algn="ctr" indent="0" marL="0">
              <a:buNone/>
            </a:pPr>
            <a:r>
              <a:rPr lang="en-US" sz="3400" b="1" dirty="0">
                <a:solidFill>
                  <a:srgbClr val="5A6B82"/>
                </a:solidFill>
                <a:latin typeface="Calibri" pitchFamily="34" charset="0"/>
                <a:ea typeface="Calibri" pitchFamily="34" charset="-122"/>
                <a:cs typeface="Calibri" pitchFamily="34" charset="-120"/>
              </a:rPr>
              <a:t>≠</a:t>
            </a:r>
            <a:endParaRPr lang="en-US" sz="3400" dirty="0"/>
          </a:p>
        </p:txBody>
      </p:sp>
      <p:sp>
        <p:nvSpPr>
          <p:cNvPr id="34" name="Text 30"/>
          <p:cNvSpPr/>
          <p:nvPr/>
        </p:nvSpPr>
        <p:spPr>
          <a:xfrm>
            <a:off x="4526280" y="4297680"/>
            <a:ext cx="2377440" cy="27432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tatsächliches Ergebnis</a:t>
            </a:r>
            <a:endParaRPr lang="en-US" sz="1200" dirty="0"/>
          </a:p>
        </p:txBody>
      </p:sp>
      <p:sp>
        <p:nvSpPr>
          <p:cNvPr id="35" name="Text 31"/>
          <p:cNvSpPr/>
          <p:nvPr/>
        </p:nvSpPr>
        <p:spPr>
          <a:xfrm>
            <a:off x="4526280" y="4617720"/>
            <a:ext cx="2377440" cy="777240"/>
          </a:xfrm>
          <a:prstGeom prst="rect">
            <a:avLst/>
          </a:prstGeom>
          <a:noFill/>
          <a:ln/>
        </p:spPr>
        <p:txBody>
          <a:bodyPr wrap="square" lIns="0" tIns="0" rIns="0" bIns="0" rtlCol="0" anchor="ctr"/>
          <a:lstStyle/>
          <a:p>
            <a:pPr algn="ctr" indent="0" marL="0">
              <a:buNone/>
            </a:pPr>
            <a:r>
              <a:rPr lang="en-US" sz="4000" b="1" dirty="0">
                <a:solidFill>
                  <a:srgbClr val="F87171"/>
                </a:solidFill>
                <a:latin typeface="Courier New" pitchFamily="34" charset="0"/>
                <a:ea typeface="Courier New" pitchFamily="34" charset="-122"/>
                <a:cs typeface="Courier New" pitchFamily="34" charset="-120"/>
              </a:rPr>
              <a:t>10</a:t>
            </a:r>
            <a:endParaRPr lang="en-US" sz="4000" dirty="0"/>
          </a:p>
        </p:txBody>
      </p:sp>
      <p:sp>
        <p:nvSpPr>
          <p:cNvPr id="36" name="Shape 32"/>
          <p:cNvSpPr/>
          <p:nvPr/>
        </p:nvSpPr>
        <p:spPr>
          <a:xfrm>
            <a:off x="7132320" y="4814316"/>
            <a:ext cx="411480" cy="292608"/>
          </a:xfrm>
          <a:prstGeom prst="rightArrow">
            <a:avLst/>
          </a:prstGeom>
          <a:solidFill>
            <a:srgbClr val="5A6B82"/>
          </a:solidFill>
          <a:ln/>
        </p:spPr>
      </p:sp>
      <p:sp>
        <p:nvSpPr>
          <p:cNvPr id="37" name="Text 33"/>
          <p:cNvSpPr/>
          <p:nvPr/>
        </p:nvSpPr>
        <p:spPr>
          <a:xfrm>
            <a:off x="7772400" y="4297680"/>
            <a:ext cx="3566160" cy="1325880"/>
          </a:xfrm>
          <a:prstGeom prst="rect">
            <a:avLst/>
          </a:prstGeom>
          <a:noFill/>
          <a:ln/>
        </p:spPr>
        <p:txBody>
          <a:bodyPr wrap="square" lIns="0" tIns="0" rIns="0" bIns="0" rtlCol="0" anchor="ctr"/>
          <a:lstStyle/>
          <a:p>
            <a:pPr indent="0" marL="0">
              <a:lnSpc>
                <a:spcPct val="135000"/>
              </a:lnSpc>
              <a:buNone/>
            </a:pPr>
            <a:r>
              <a:rPr lang="en-US" sz="1500" dirty="0">
                <a:solidFill>
                  <a:srgbClr val="94A3B8"/>
                </a:solidFill>
                <a:latin typeface="Calibri" pitchFamily="34" charset="0"/>
                <a:ea typeface="Calibri" pitchFamily="34" charset="-122"/>
                <a:cs typeface="Calibri" pitchFamily="34" charset="-120"/>
              </a:rPr>
              <a:t>Der Test sagt: </a:t>
            </a:r>
            <a:pPr indent="0" marL="0">
              <a:lnSpc>
                <a:spcPct val="135000"/>
              </a:lnSpc>
              <a:buNone/>
            </a:pPr>
            <a:r>
              <a:rPr lang="en-US" sz="1500" b="1" dirty="0">
                <a:solidFill>
                  <a:srgbClr val="F1F5F9"/>
                </a:solidFill>
                <a:latin typeface="Calibri" pitchFamily="34" charset="0"/>
                <a:ea typeface="Calibri" pitchFamily="34" charset="-122"/>
                <a:cs typeface="Calibri" pitchFamily="34" charset="-120"/>
              </a:rPr>
              <a:t>„Etwas ist falsch.“</a:t>
            </a:r>
            <a:endParaRPr lang="en-US" sz="1500" dirty="0"/>
          </a:p>
          <a:p>
            <a:pPr indent="0" marL="0">
              <a:lnSpc>
                <a:spcPct val="135000"/>
              </a:lnSpc>
              <a:buNone/>
            </a:pPr>
            <a:r>
              <a:rPr lang="en-US" sz="1500" dirty="0">
                <a:solidFill>
                  <a:srgbClr val="94A3B8"/>
                </a:solidFill>
                <a:latin typeface="Calibri" pitchFamily="34" charset="0"/>
                <a:ea typeface="Calibri" pitchFamily="34" charset="-122"/>
                <a:cs typeface="Calibri" pitchFamily="34" charset="-120"/>
              </a:rPr>
              <a:t>Debugging fragt: </a:t>
            </a:r>
            <a:pPr indent="0" marL="0">
              <a:lnSpc>
                <a:spcPct val="135000"/>
              </a:lnSpc>
              <a:buNone/>
            </a:pPr>
            <a:r>
              <a:rPr lang="en-US" sz="1500" b="1" dirty="0">
                <a:solidFill>
                  <a:srgbClr val="4ADE80"/>
                </a:solidFill>
                <a:latin typeface="Calibri" pitchFamily="34" charset="0"/>
                <a:ea typeface="Calibri" pitchFamily="34" charset="-122"/>
                <a:cs typeface="Calibri" pitchFamily="34" charset="-120"/>
              </a:rPr>
              <a:t>„Warum?“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04 · DEBUGGING</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Debugging-Werkzeuge</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Text 9"/>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03 Teststufen</a:t>
            </a:r>
            <a:endParaRPr lang="en-US" sz="950" dirty="0"/>
          </a:p>
        </p:txBody>
      </p:sp>
      <p:sp>
        <p:nvSpPr>
          <p:cNvPr id="12" name="Shape 10"/>
          <p:cNvSpPr/>
          <p:nvPr/>
        </p:nvSpPr>
        <p:spPr>
          <a:xfrm>
            <a:off x="7464339"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3" name="Shape 11"/>
          <p:cNvSpPr/>
          <p:nvPr/>
        </p:nvSpPr>
        <p:spPr>
          <a:xfrm>
            <a:off x="7592355" y="6560820"/>
            <a:ext cx="64008" cy="64008"/>
          </a:xfrm>
          <a:prstGeom prst="ellipse">
            <a:avLst/>
          </a:prstGeom>
          <a:solidFill>
            <a:srgbClr val="38BDF8"/>
          </a:solidFill>
          <a:ln/>
        </p:spPr>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71600"/>
            <a:ext cx="5760720" cy="3200400"/>
          </a:xfrm>
          <a:prstGeom prst="roundRect">
            <a:avLst>
              <a:gd name="adj" fmla="val 2571"/>
            </a:avLst>
          </a:prstGeom>
          <a:solidFill>
            <a:srgbClr val="0A0F1A"/>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731520" y="1517904"/>
            <a:ext cx="82296" cy="82296"/>
          </a:xfrm>
          <a:prstGeom prst="ellipse">
            <a:avLst/>
          </a:prstGeom>
          <a:solidFill>
            <a:srgbClr val="FF5F56"/>
          </a:solidFill>
          <a:ln/>
        </p:spPr>
      </p:sp>
      <p:sp>
        <p:nvSpPr>
          <p:cNvPr id="18" name="Shape 16"/>
          <p:cNvSpPr/>
          <p:nvPr/>
        </p:nvSpPr>
        <p:spPr>
          <a:xfrm>
            <a:off x="877824" y="1517904"/>
            <a:ext cx="82296" cy="82296"/>
          </a:xfrm>
          <a:prstGeom prst="ellipse">
            <a:avLst/>
          </a:prstGeom>
          <a:solidFill>
            <a:srgbClr val="FFBD2E"/>
          </a:solidFill>
          <a:ln/>
        </p:spPr>
      </p:sp>
      <p:sp>
        <p:nvSpPr>
          <p:cNvPr id="19" name="Shape 17"/>
          <p:cNvSpPr/>
          <p:nvPr/>
        </p:nvSpPr>
        <p:spPr>
          <a:xfrm>
            <a:off x="1024128" y="1517904"/>
            <a:ext cx="82296" cy="82296"/>
          </a:xfrm>
          <a:prstGeom prst="ellipse">
            <a:avLst/>
          </a:prstGeom>
          <a:solidFill>
            <a:srgbClr val="27C93F"/>
          </a:solidFill>
          <a:ln/>
        </p:spPr>
      </p:sp>
      <p:sp>
        <p:nvSpPr>
          <p:cNvPr id="20" name="Text 18"/>
          <p:cNvSpPr/>
          <p:nvPr/>
        </p:nvSpPr>
        <p:spPr>
          <a:xfrm>
            <a:off x="1234440" y="1426464"/>
            <a:ext cx="4846320" cy="274320"/>
          </a:xfrm>
          <a:prstGeom prst="rect">
            <a:avLst/>
          </a:prstGeom>
          <a:noFill/>
          <a:ln/>
        </p:spPr>
        <p:txBody>
          <a:bodyPr wrap="square" lIns="0" tIns="0" rIns="0" bIns="0" rtlCol="0" anchor="ctr"/>
          <a:lstStyle/>
          <a:p>
            <a:pPr indent="0" marL="0">
              <a:buNone/>
            </a:pPr>
            <a:r>
              <a:rPr lang="en-US" sz="1000" dirty="0">
                <a:solidFill>
                  <a:srgbClr val="5A6B82"/>
                </a:solidFill>
                <a:latin typeface="Courier New" pitchFamily="34" charset="0"/>
                <a:ea typeface="Courier New" pitchFamily="34" charset="-122"/>
                <a:cs typeface="Courier New" pitchFamily="34" charset="-120"/>
              </a:rPr>
              <a:t>Bestellung.cs  —  Debugger</a:t>
            </a:r>
            <a:endParaRPr lang="en-US" sz="1000" dirty="0"/>
          </a:p>
        </p:txBody>
      </p:sp>
      <p:sp>
        <p:nvSpPr>
          <p:cNvPr id="21" name="Shape 19"/>
          <p:cNvSpPr/>
          <p:nvPr/>
        </p:nvSpPr>
        <p:spPr>
          <a:xfrm>
            <a:off x="548640" y="1755648"/>
            <a:ext cx="5760720" cy="0"/>
          </a:xfrm>
          <a:prstGeom prst="line">
            <a:avLst/>
          </a:prstGeom>
          <a:noFill/>
          <a:ln w="9525">
            <a:solidFill>
              <a:srgbClr val="2B3B52"/>
            </a:solidFill>
            <a:prstDash val="solid"/>
          </a:ln>
        </p:spPr>
      </p:sp>
      <p:sp>
        <p:nvSpPr>
          <p:cNvPr id="22" name="Shape 20"/>
          <p:cNvSpPr/>
          <p:nvPr/>
        </p:nvSpPr>
        <p:spPr>
          <a:xfrm>
            <a:off x="676656" y="2894076"/>
            <a:ext cx="5504688" cy="310896"/>
          </a:xfrm>
          <a:prstGeom prst="roundRect">
            <a:avLst>
              <a:gd name="adj" fmla="val 14706"/>
            </a:avLst>
          </a:prstGeom>
          <a:solidFill>
            <a:srgbClr val="FBBF24">
              <a:alpha val="14000"/>
            </a:srgbClr>
          </a:solidFill>
          <a:ln w="12700">
            <a:solidFill>
              <a:srgbClr val="FBBF24">
                <a:alpha val="40000"/>
              </a:srgbClr>
            </a:solidFill>
            <a:prstDash val="solid"/>
          </a:ln>
        </p:spPr>
      </p:sp>
      <p:sp>
        <p:nvSpPr>
          <p:cNvPr id="23" name="Shape 21"/>
          <p:cNvSpPr/>
          <p:nvPr/>
        </p:nvSpPr>
        <p:spPr>
          <a:xfrm>
            <a:off x="768096" y="2971800"/>
            <a:ext cx="155448" cy="155448"/>
          </a:xfrm>
          <a:prstGeom prst="ellipse">
            <a:avLst/>
          </a:prstGeom>
          <a:solidFill>
            <a:srgbClr val="E51400"/>
          </a:solidFill>
          <a:ln w="12700">
            <a:solidFill>
              <a:srgbClr val="FF6B5B"/>
            </a:solidFill>
            <a:prstDash val="solid"/>
          </a:ln>
        </p:spPr>
      </p:sp>
      <p:sp>
        <p:nvSpPr>
          <p:cNvPr id="24" name="Text 22"/>
          <p:cNvSpPr/>
          <p:nvPr/>
        </p:nvSpPr>
        <p:spPr>
          <a:xfrm>
            <a:off x="1051560" y="1938528"/>
            <a:ext cx="4983480" cy="2103120"/>
          </a:xfrm>
          <a:prstGeom prst="rect">
            <a:avLst/>
          </a:prstGeom>
          <a:noFill/>
          <a:ln/>
        </p:spPr>
        <p:txBody>
          <a:bodyPr wrap="square" lIns="0" tIns="0" rIns="0" bIns="0" rtlCol="0" anchor="t"/>
          <a:lstStyle/>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1  </a:t>
            </a:r>
            <a:pPr indent="0" marL="0">
              <a:lnSpc>
                <a:spcPts val="2600"/>
              </a:lnSpc>
              <a:buNone/>
            </a:pPr>
            <a:r>
              <a:rPr lang="en-US" sz="1300" dirty="0">
                <a:solidFill>
                  <a:srgbClr val="569CD6"/>
                </a:solidFill>
                <a:latin typeface="Courier New" pitchFamily="34" charset="0"/>
                <a:ea typeface="Courier New" pitchFamily="34" charset="-122"/>
                <a:cs typeface="Courier New" pitchFamily="34" charset="-120"/>
              </a:rPr>
              <a:t>int</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preis = </a:t>
            </a:r>
            <a:pPr indent="0" marL="0">
              <a:lnSpc>
                <a:spcPts val="2600"/>
              </a:lnSpc>
              <a:buNone/>
            </a:pPr>
            <a:r>
              <a:rPr lang="en-US" sz="1300" dirty="0">
                <a:solidFill>
                  <a:srgbClr val="B5CEA8"/>
                </a:solidFill>
                <a:latin typeface="Courier New" pitchFamily="34" charset="0"/>
                <a:ea typeface="Courier New" pitchFamily="34" charset="-122"/>
                <a:cs typeface="Courier New" pitchFamily="34" charset="-120"/>
              </a:rPr>
              <a:t>10</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2  </a:t>
            </a:r>
            <a:pPr indent="0" marL="0">
              <a:lnSpc>
                <a:spcPts val="2600"/>
              </a:lnSpc>
              <a:buNone/>
            </a:pPr>
            <a:r>
              <a:rPr lang="en-US" sz="1300" dirty="0">
                <a:solidFill>
                  <a:srgbClr val="569CD6"/>
                </a:solidFill>
                <a:latin typeface="Courier New" pitchFamily="34" charset="0"/>
                <a:ea typeface="Courier New" pitchFamily="34" charset="-122"/>
                <a:cs typeface="Courier New" pitchFamily="34" charset="-120"/>
              </a:rPr>
              <a:t>int</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menge = </a:t>
            </a:r>
            <a:pPr indent="0" marL="0">
              <a:lnSpc>
                <a:spcPts val="2600"/>
              </a:lnSpc>
              <a:buNone/>
            </a:pPr>
            <a:r>
              <a:rPr lang="en-US" sz="1300" dirty="0">
                <a:solidFill>
                  <a:srgbClr val="B5CEA8"/>
                </a:solidFill>
                <a:latin typeface="Courier New" pitchFamily="34" charset="0"/>
                <a:ea typeface="Courier New" pitchFamily="34" charset="-122"/>
                <a:cs typeface="Courier New" pitchFamily="34" charset="-120"/>
              </a:rPr>
              <a:t>3</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3  </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4  </a:t>
            </a:r>
            <a:pPr indent="0" marL="0">
              <a:lnSpc>
                <a:spcPts val="2600"/>
              </a:lnSpc>
              <a:buNone/>
            </a:pPr>
            <a:r>
              <a:rPr lang="en-US" sz="1300" dirty="0">
                <a:solidFill>
                  <a:srgbClr val="569CD6"/>
                </a:solidFill>
                <a:latin typeface="Courier New" pitchFamily="34" charset="0"/>
                <a:ea typeface="Courier New" pitchFamily="34" charset="-122"/>
                <a:cs typeface="Courier New" pitchFamily="34" charset="-120"/>
              </a:rPr>
              <a:t>int</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gesamt = preis * menge;</a:t>
            </a:r>
            <a:endParaRPr lang="en-US" sz="1300" dirty="0"/>
          </a:p>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5  </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ts val="2600"/>
              </a:lnSpc>
              <a:buNone/>
            </a:pPr>
            <a:r>
              <a:rPr lang="en-US" sz="1300" dirty="0">
                <a:solidFill>
                  <a:srgbClr val="3E4E66"/>
                </a:solidFill>
                <a:latin typeface="Courier New" pitchFamily="34" charset="0"/>
                <a:ea typeface="Courier New" pitchFamily="34" charset="-122"/>
                <a:cs typeface="Courier New" pitchFamily="34" charset="-120"/>
              </a:rPr>
              <a:t>6  </a:t>
            </a:r>
            <a:pPr indent="0" marL="0">
              <a:lnSpc>
                <a:spcPts val="2600"/>
              </a:lnSpc>
              <a:buNone/>
            </a:pPr>
            <a:r>
              <a:rPr lang="en-US" sz="1300" dirty="0">
                <a:solidFill>
                  <a:srgbClr val="569CD6"/>
                </a:solidFill>
                <a:latin typeface="Courier New" pitchFamily="34" charset="0"/>
                <a:ea typeface="Courier New" pitchFamily="34" charset="-122"/>
                <a:cs typeface="Courier New" pitchFamily="34" charset="-120"/>
              </a:rPr>
              <a:t>return</a:t>
            </a:r>
            <a:pPr indent="0" marL="0">
              <a:lnSpc>
                <a:spcPts val="2600"/>
              </a:lnSpc>
              <a:buNone/>
            </a:pPr>
            <a:r>
              <a:rPr lang="en-US" sz="1300" dirty="0">
                <a:solidFill>
                  <a:srgbClr val="E6EDF3"/>
                </a:solidFill>
                <a:latin typeface="Courier New" pitchFamily="34" charset="0"/>
                <a:ea typeface="Courier New" pitchFamily="34" charset="-122"/>
                <a:cs typeface="Courier New" pitchFamily="34" charset="-120"/>
              </a:rPr>
              <a:t> gesamt;</a:t>
            </a:r>
            <a:endParaRPr lang="en-US" sz="1300" dirty="0"/>
          </a:p>
        </p:txBody>
      </p:sp>
      <p:sp>
        <p:nvSpPr>
          <p:cNvPr id="25" name="Text 23"/>
          <p:cNvSpPr/>
          <p:nvPr/>
        </p:nvSpPr>
        <p:spPr>
          <a:xfrm>
            <a:off x="1051560" y="4114800"/>
            <a:ext cx="4983480" cy="274320"/>
          </a:xfrm>
          <a:prstGeom prst="rect">
            <a:avLst/>
          </a:prstGeom>
          <a:noFill/>
          <a:ln/>
        </p:spPr>
        <p:txBody>
          <a:bodyPr wrap="square" lIns="0" tIns="0" rIns="0" bIns="0" rtlCol="0" anchor="ctr"/>
          <a:lstStyle/>
          <a:p>
            <a:pPr indent="0" marL="0">
              <a:buNone/>
            </a:pPr>
            <a:r>
              <a:rPr lang="en-US" sz="1100" i="1" dirty="0">
                <a:solidFill>
                  <a:srgbClr val="FBBF24"/>
                </a:solidFill>
                <a:latin typeface="Calibri" pitchFamily="34" charset="0"/>
                <a:ea typeface="Calibri" pitchFamily="34" charset="-122"/>
                <a:cs typeface="Calibri" pitchFamily="34" charset="-120"/>
              </a:rPr>
              <a:t>▶ Breakpoint: Ausführung hält hier an</a:t>
            </a:r>
            <a:endParaRPr lang="en-US" sz="1100" dirty="0"/>
          </a:p>
        </p:txBody>
      </p:sp>
      <p:sp>
        <p:nvSpPr>
          <p:cNvPr id="26" name="Shape 24"/>
          <p:cNvSpPr/>
          <p:nvPr/>
        </p:nvSpPr>
        <p:spPr>
          <a:xfrm>
            <a:off x="548640" y="4800600"/>
            <a:ext cx="5760720" cy="960120"/>
          </a:xfrm>
          <a:prstGeom prst="roundRect">
            <a:avLst>
              <a:gd name="adj" fmla="val 8571"/>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7" name="Text 25"/>
          <p:cNvSpPr/>
          <p:nvPr/>
        </p:nvSpPr>
        <p:spPr>
          <a:xfrm>
            <a:off x="822960" y="4937760"/>
            <a:ext cx="1828800" cy="256032"/>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WATCH</a:t>
            </a:r>
            <a:endParaRPr lang="en-US" sz="1000" dirty="0"/>
          </a:p>
        </p:txBody>
      </p:sp>
      <p:sp>
        <p:nvSpPr>
          <p:cNvPr id="28" name="Text 26"/>
          <p:cNvSpPr/>
          <p:nvPr/>
        </p:nvSpPr>
        <p:spPr>
          <a:xfrm>
            <a:off x="822960" y="5193792"/>
            <a:ext cx="5212080" cy="320040"/>
          </a:xfrm>
          <a:prstGeom prst="rect">
            <a:avLst/>
          </a:prstGeom>
          <a:noFill/>
          <a:ln/>
        </p:spPr>
        <p:txBody>
          <a:bodyPr wrap="square" lIns="0" tIns="0" rIns="0" bIns="0" rtlCol="0" anchor="ctr"/>
          <a:lstStyle/>
          <a:p>
            <a:pPr indent="0" marL="0">
              <a:buNone/>
            </a:pPr>
            <a:r>
              <a:rPr lang="en-US" sz="1300" dirty="0">
                <a:solidFill>
                  <a:srgbClr val="F1F5F9"/>
                </a:solidFill>
                <a:latin typeface="Courier New" pitchFamily="34" charset="0"/>
                <a:ea typeface="Courier New" pitchFamily="34" charset="-122"/>
                <a:cs typeface="Courier New" pitchFamily="34" charset="-120"/>
              </a:rPr>
              <a:t>preis </a:t>
            </a:r>
            <a:pPr indent="0" marL="0">
              <a:buNone/>
            </a:pPr>
            <a:r>
              <a:rPr lang="en-US" sz="1300" dirty="0">
                <a:solidFill>
                  <a:srgbClr val="B5CEA8"/>
                </a:solidFill>
                <a:latin typeface="Courier New" pitchFamily="34" charset="0"/>
                <a:ea typeface="Courier New" pitchFamily="34" charset="-122"/>
                <a:cs typeface="Courier New" pitchFamily="34" charset="-120"/>
              </a:rPr>
              <a:t>= 10</a:t>
            </a:r>
            <a:pPr indent="0" marL="0">
              <a:buNone/>
            </a:pPr>
            <a:r>
              <a:rPr lang="en-US" sz="1300" dirty="0">
                <a:solidFill>
                  <a:srgbClr val="F1F5F9"/>
                </a:solidFill>
                <a:latin typeface="Courier New" pitchFamily="34" charset="0"/>
                <a:ea typeface="Courier New" pitchFamily="34" charset="-122"/>
                <a:cs typeface="Courier New" pitchFamily="34" charset="-120"/>
              </a:rPr>
              <a:t>     menge </a:t>
            </a:r>
            <a:pPr indent="0" marL="0">
              <a:buNone/>
            </a:pPr>
            <a:r>
              <a:rPr lang="en-US" sz="1300" dirty="0">
                <a:solidFill>
                  <a:srgbClr val="B5CEA8"/>
                </a:solidFill>
                <a:latin typeface="Courier New" pitchFamily="34" charset="0"/>
                <a:ea typeface="Courier New" pitchFamily="34" charset="-122"/>
                <a:cs typeface="Courier New" pitchFamily="34" charset="-120"/>
              </a:rPr>
              <a:t>= 3</a:t>
            </a:r>
            <a:pPr indent="0" marL="0">
              <a:buNone/>
            </a:pPr>
            <a:r>
              <a:rPr lang="en-US" sz="1300" dirty="0">
                <a:solidFill>
                  <a:srgbClr val="F1F5F9"/>
                </a:solidFill>
                <a:latin typeface="Courier New" pitchFamily="34" charset="0"/>
                <a:ea typeface="Courier New" pitchFamily="34" charset="-122"/>
                <a:cs typeface="Courier New" pitchFamily="34" charset="-120"/>
              </a:rPr>
              <a:t>     gesamt </a:t>
            </a:r>
            <a:pPr indent="0" marL="0">
              <a:buNone/>
            </a:pPr>
            <a:r>
              <a:rPr lang="en-US" sz="1300" dirty="0">
                <a:solidFill>
                  <a:srgbClr val="FBBF24"/>
                </a:solidFill>
                <a:latin typeface="Courier New" pitchFamily="34" charset="0"/>
                <a:ea typeface="Courier New" pitchFamily="34" charset="-122"/>
                <a:cs typeface="Courier New" pitchFamily="34" charset="-120"/>
              </a:rPr>
              <a:t>= ?</a:t>
            </a:r>
            <a:endParaRPr lang="en-US" sz="1300" dirty="0"/>
          </a:p>
        </p:txBody>
      </p:sp>
      <p:sp>
        <p:nvSpPr>
          <p:cNvPr id="29" name="Shape 27"/>
          <p:cNvSpPr/>
          <p:nvPr/>
        </p:nvSpPr>
        <p:spPr>
          <a:xfrm>
            <a:off x="6675120" y="1371600"/>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0" name="Shape 28"/>
          <p:cNvSpPr/>
          <p:nvPr/>
        </p:nvSpPr>
        <p:spPr>
          <a:xfrm>
            <a:off x="6821424" y="1508760"/>
            <a:ext cx="438912" cy="438912"/>
          </a:xfrm>
          <a:prstGeom prst="ellipse">
            <a:avLst/>
          </a:prstGeom>
          <a:solidFill>
            <a:srgbClr val="0D1420"/>
          </a:solidFill>
          <a:ln w="12700">
            <a:solidFill>
              <a:srgbClr val="2B3B52"/>
            </a:solidFill>
            <a:prstDash val="solid"/>
          </a:ln>
        </p:spPr>
      </p:sp>
      <p:pic>
        <p:nvPicPr>
          <p:cNvPr id="31" name="Image 0" descr="/tmp/claude-0/-home-user-Test-Scatterpoint/4a189312-3458-5f65-a7f5-9710b6e532c7/scratchpad/icons/play.png">    </p:cNvPr>
          <p:cNvPicPr>
            <a:picLocks noChangeAspect="1"/>
          </p:cNvPicPr>
          <p:nvPr/>
        </p:nvPicPr>
        <p:blipFill>
          <a:blip r:embed="rId1"/>
          <a:stretch>
            <a:fillRect/>
          </a:stretch>
        </p:blipFill>
        <p:spPr>
          <a:xfrm>
            <a:off x="6935541" y="1622877"/>
            <a:ext cx="210678" cy="210678"/>
          </a:xfrm>
          <a:prstGeom prst="rect">
            <a:avLst/>
          </a:prstGeom>
        </p:spPr>
      </p:pic>
      <p:sp>
        <p:nvSpPr>
          <p:cNvPr id="32" name="Text 29"/>
          <p:cNvSpPr/>
          <p:nvPr/>
        </p:nvSpPr>
        <p:spPr>
          <a:xfrm>
            <a:off x="7424928" y="1453896"/>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Breakpoint</a:t>
            </a:r>
            <a:endParaRPr lang="en-US" sz="1350" dirty="0"/>
          </a:p>
        </p:txBody>
      </p:sp>
      <p:sp>
        <p:nvSpPr>
          <p:cNvPr id="33" name="Text 30"/>
          <p:cNvSpPr/>
          <p:nvPr/>
        </p:nvSpPr>
        <p:spPr>
          <a:xfrm>
            <a:off x="7424928" y="1746504"/>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Programm hält an der markierten Zeile an</a:t>
            </a:r>
            <a:endParaRPr lang="en-US" sz="1050" dirty="0"/>
          </a:p>
        </p:txBody>
      </p:sp>
      <p:sp>
        <p:nvSpPr>
          <p:cNvPr id="34" name="Shape 31"/>
          <p:cNvSpPr/>
          <p:nvPr/>
        </p:nvSpPr>
        <p:spPr>
          <a:xfrm>
            <a:off x="6675120" y="2185416"/>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5" name="Shape 32"/>
          <p:cNvSpPr/>
          <p:nvPr/>
        </p:nvSpPr>
        <p:spPr>
          <a:xfrm>
            <a:off x="6821424" y="2322576"/>
            <a:ext cx="438912" cy="438912"/>
          </a:xfrm>
          <a:prstGeom prst="ellipse">
            <a:avLst/>
          </a:prstGeom>
          <a:solidFill>
            <a:srgbClr val="0D1420"/>
          </a:solidFill>
          <a:ln w="12700">
            <a:solidFill>
              <a:srgbClr val="2B3B52"/>
            </a:solidFill>
            <a:prstDash val="solid"/>
          </a:ln>
        </p:spPr>
      </p:sp>
      <p:pic>
        <p:nvPicPr>
          <p:cNvPr id="36" name="Image 1" descr="/tmp/claude-0/-home-user-Test-Scatterpoint/4a189312-3458-5f65-a7f5-9710b6e532c7/scratchpad/icons/stepInto.png">    </p:cNvPr>
          <p:cNvPicPr>
            <a:picLocks noChangeAspect="1"/>
          </p:cNvPicPr>
          <p:nvPr/>
        </p:nvPicPr>
        <p:blipFill>
          <a:blip r:embed="rId2"/>
          <a:stretch>
            <a:fillRect/>
          </a:stretch>
        </p:blipFill>
        <p:spPr>
          <a:xfrm>
            <a:off x="6935541" y="2436693"/>
            <a:ext cx="210678" cy="210678"/>
          </a:xfrm>
          <a:prstGeom prst="rect">
            <a:avLst/>
          </a:prstGeom>
        </p:spPr>
      </p:pic>
      <p:sp>
        <p:nvSpPr>
          <p:cNvPr id="37" name="Text 33"/>
          <p:cNvSpPr/>
          <p:nvPr/>
        </p:nvSpPr>
        <p:spPr>
          <a:xfrm>
            <a:off x="7424928" y="2267712"/>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Step Into</a:t>
            </a:r>
            <a:endParaRPr lang="en-US" sz="1350" dirty="0"/>
          </a:p>
        </p:txBody>
      </p:sp>
      <p:sp>
        <p:nvSpPr>
          <p:cNvPr id="38" name="Text 34"/>
          <p:cNvSpPr/>
          <p:nvPr/>
        </p:nvSpPr>
        <p:spPr>
          <a:xfrm>
            <a:off x="7424928" y="2560320"/>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in eine aufgerufene Methode hineinspringen</a:t>
            </a:r>
            <a:endParaRPr lang="en-US" sz="1050" dirty="0"/>
          </a:p>
        </p:txBody>
      </p:sp>
      <p:sp>
        <p:nvSpPr>
          <p:cNvPr id="39" name="Shape 35"/>
          <p:cNvSpPr/>
          <p:nvPr/>
        </p:nvSpPr>
        <p:spPr>
          <a:xfrm>
            <a:off x="6675120" y="2999232"/>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40" name="Shape 36"/>
          <p:cNvSpPr/>
          <p:nvPr/>
        </p:nvSpPr>
        <p:spPr>
          <a:xfrm>
            <a:off x="6821424" y="3136392"/>
            <a:ext cx="438912" cy="438912"/>
          </a:xfrm>
          <a:prstGeom prst="ellipse">
            <a:avLst/>
          </a:prstGeom>
          <a:solidFill>
            <a:srgbClr val="0D1420"/>
          </a:solidFill>
          <a:ln w="12700">
            <a:solidFill>
              <a:srgbClr val="2B3B52"/>
            </a:solidFill>
            <a:prstDash val="solid"/>
          </a:ln>
        </p:spPr>
      </p:sp>
      <p:pic>
        <p:nvPicPr>
          <p:cNvPr id="41" name="Image 2" descr="/tmp/claude-0/-home-user-Test-Scatterpoint/4a189312-3458-5f65-a7f5-9710b6e532c7/scratchpad/icons/stepOver.png">    </p:cNvPr>
          <p:cNvPicPr>
            <a:picLocks noChangeAspect="1"/>
          </p:cNvPicPr>
          <p:nvPr/>
        </p:nvPicPr>
        <p:blipFill>
          <a:blip r:embed="rId3"/>
          <a:stretch>
            <a:fillRect/>
          </a:stretch>
        </p:blipFill>
        <p:spPr>
          <a:xfrm>
            <a:off x="6935541" y="3250509"/>
            <a:ext cx="210678" cy="210678"/>
          </a:xfrm>
          <a:prstGeom prst="rect">
            <a:avLst/>
          </a:prstGeom>
        </p:spPr>
      </p:pic>
      <p:sp>
        <p:nvSpPr>
          <p:cNvPr id="42" name="Text 37"/>
          <p:cNvSpPr/>
          <p:nvPr/>
        </p:nvSpPr>
        <p:spPr>
          <a:xfrm>
            <a:off x="7424928" y="3081528"/>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Step Over</a:t>
            </a:r>
            <a:endParaRPr lang="en-US" sz="1350" dirty="0"/>
          </a:p>
        </p:txBody>
      </p:sp>
      <p:sp>
        <p:nvSpPr>
          <p:cNvPr id="43" name="Text 38"/>
          <p:cNvSpPr/>
          <p:nvPr/>
        </p:nvSpPr>
        <p:spPr>
          <a:xfrm>
            <a:off x="7424928" y="3374136"/>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Zeile ausführen, ohne in Methoden zu springen</a:t>
            </a:r>
            <a:endParaRPr lang="en-US" sz="1050" dirty="0"/>
          </a:p>
        </p:txBody>
      </p:sp>
      <p:sp>
        <p:nvSpPr>
          <p:cNvPr id="44" name="Shape 39"/>
          <p:cNvSpPr/>
          <p:nvPr/>
        </p:nvSpPr>
        <p:spPr>
          <a:xfrm>
            <a:off x="6675120" y="3813048"/>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45" name="Shape 40"/>
          <p:cNvSpPr/>
          <p:nvPr/>
        </p:nvSpPr>
        <p:spPr>
          <a:xfrm>
            <a:off x="6821424" y="3950208"/>
            <a:ext cx="438912" cy="438912"/>
          </a:xfrm>
          <a:prstGeom prst="ellipse">
            <a:avLst/>
          </a:prstGeom>
          <a:solidFill>
            <a:srgbClr val="0D1420"/>
          </a:solidFill>
          <a:ln w="12700">
            <a:solidFill>
              <a:srgbClr val="2B3B52"/>
            </a:solidFill>
            <a:prstDash val="solid"/>
          </a:ln>
        </p:spPr>
      </p:sp>
      <p:pic>
        <p:nvPicPr>
          <p:cNvPr id="46" name="Image 3" descr="/tmp/claude-0/-home-user-Test-Scatterpoint/4a189312-3458-5f65-a7f5-9710b6e532c7/scratchpad/icons/stepOut.png">    </p:cNvPr>
          <p:cNvPicPr>
            <a:picLocks noChangeAspect="1"/>
          </p:cNvPicPr>
          <p:nvPr/>
        </p:nvPicPr>
        <p:blipFill>
          <a:blip r:embed="rId4"/>
          <a:stretch>
            <a:fillRect/>
          </a:stretch>
        </p:blipFill>
        <p:spPr>
          <a:xfrm>
            <a:off x="6935541" y="4064325"/>
            <a:ext cx="210678" cy="210678"/>
          </a:xfrm>
          <a:prstGeom prst="rect">
            <a:avLst/>
          </a:prstGeom>
        </p:spPr>
      </p:pic>
      <p:sp>
        <p:nvSpPr>
          <p:cNvPr id="47" name="Text 41"/>
          <p:cNvSpPr/>
          <p:nvPr/>
        </p:nvSpPr>
        <p:spPr>
          <a:xfrm>
            <a:off x="7424928" y="3895344"/>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Step Out</a:t>
            </a:r>
            <a:endParaRPr lang="en-US" sz="1350" dirty="0"/>
          </a:p>
        </p:txBody>
      </p:sp>
      <p:sp>
        <p:nvSpPr>
          <p:cNvPr id="48" name="Text 42"/>
          <p:cNvSpPr/>
          <p:nvPr/>
        </p:nvSpPr>
        <p:spPr>
          <a:xfrm>
            <a:off x="7424928" y="4187952"/>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die aktuelle Methode verlassen</a:t>
            </a:r>
            <a:endParaRPr lang="en-US" sz="1050" dirty="0"/>
          </a:p>
        </p:txBody>
      </p:sp>
      <p:sp>
        <p:nvSpPr>
          <p:cNvPr id="49" name="Shape 43"/>
          <p:cNvSpPr/>
          <p:nvPr/>
        </p:nvSpPr>
        <p:spPr>
          <a:xfrm>
            <a:off x="6675120" y="4626864"/>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50" name="Shape 44"/>
          <p:cNvSpPr/>
          <p:nvPr/>
        </p:nvSpPr>
        <p:spPr>
          <a:xfrm>
            <a:off x="6821424" y="4764024"/>
            <a:ext cx="438912" cy="438912"/>
          </a:xfrm>
          <a:prstGeom prst="ellipse">
            <a:avLst/>
          </a:prstGeom>
          <a:solidFill>
            <a:srgbClr val="0D1420"/>
          </a:solidFill>
          <a:ln w="12700">
            <a:solidFill>
              <a:srgbClr val="2B3B52"/>
            </a:solidFill>
            <a:prstDash val="solid"/>
          </a:ln>
        </p:spPr>
      </p:sp>
      <p:pic>
        <p:nvPicPr>
          <p:cNvPr id="51" name="Image 4" descr="/tmp/claude-0/-home-user-Test-Scatterpoint/4a189312-3458-5f65-a7f5-9710b6e532c7/scratchpad/icons/eye.png">    </p:cNvPr>
          <p:cNvPicPr>
            <a:picLocks noChangeAspect="1"/>
          </p:cNvPicPr>
          <p:nvPr/>
        </p:nvPicPr>
        <p:blipFill>
          <a:blip r:embed="rId5"/>
          <a:stretch>
            <a:fillRect/>
          </a:stretch>
        </p:blipFill>
        <p:spPr>
          <a:xfrm>
            <a:off x="6935541" y="4878141"/>
            <a:ext cx="210678" cy="210678"/>
          </a:xfrm>
          <a:prstGeom prst="rect">
            <a:avLst/>
          </a:prstGeom>
        </p:spPr>
      </p:pic>
      <p:sp>
        <p:nvSpPr>
          <p:cNvPr id="52" name="Text 45"/>
          <p:cNvSpPr/>
          <p:nvPr/>
        </p:nvSpPr>
        <p:spPr>
          <a:xfrm>
            <a:off x="7424928" y="4709160"/>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Watch</a:t>
            </a:r>
            <a:endParaRPr lang="en-US" sz="1350" dirty="0"/>
          </a:p>
        </p:txBody>
      </p:sp>
      <p:sp>
        <p:nvSpPr>
          <p:cNvPr id="53" name="Text 46"/>
          <p:cNvSpPr/>
          <p:nvPr/>
        </p:nvSpPr>
        <p:spPr>
          <a:xfrm>
            <a:off x="7424928" y="5001768"/>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Variablenwerte live beobachten</a:t>
            </a:r>
            <a:endParaRPr lang="en-US" sz="1050" dirty="0"/>
          </a:p>
        </p:txBody>
      </p:sp>
      <p:sp>
        <p:nvSpPr>
          <p:cNvPr id="54" name="Shape 47"/>
          <p:cNvSpPr/>
          <p:nvPr/>
        </p:nvSpPr>
        <p:spPr>
          <a:xfrm>
            <a:off x="6675120" y="5440680"/>
            <a:ext cx="4965192" cy="713232"/>
          </a:xfrm>
          <a:prstGeom prst="roundRect">
            <a:avLst>
              <a:gd name="adj" fmla="val 1153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55" name="Shape 48"/>
          <p:cNvSpPr/>
          <p:nvPr/>
        </p:nvSpPr>
        <p:spPr>
          <a:xfrm>
            <a:off x="6821424" y="5577840"/>
            <a:ext cx="438912" cy="438912"/>
          </a:xfrm>
          <a:prstGeom prst="ellipse">
            <a:avLst/>
          </a:prstGeom>
          <a:solidFill>
            <a:srgbClr val="0D1420"/>
          </a:solidFill>
          <a:ln w="12700">
            <a:solidFill>
              <a:srgbClr val="2B3B52"/>
            </a:solidFill>
            <a:prstDash val="solid"/>
          </a:ln>
        </p:spPr>
      </p:sp>
      <p:pic>
        <p:nvPicPr>
          <p:cNvPr id="56" name="Image 5" descr="/tmp/claude-0/-home-user-Test-Scatterpoint/4a189312-3458-5f65-a7f5-9710b6e532c7/scratchpad/icons/layers.png">    </p:cNvPr>
          <p:cNvPicPr>
            <a:picLocks noChangeAspect="1"/>
          </p:cNvPicPr>
          <p:nvPr/>
        </p:nvPicPr>
        <p:blipFill>
          <a:blip r:embed="rId6"/>
          <a:stretch>
            <a:fillRect/>
          </a:stretch>
        </p:blipFill>
        <p:spPr>
          <a:xfrm>
            <a:off x="6935541" y="5691957"/>
            <a:ext cx="210678" cy="210678"/>
          </a:xfrm>
          <a:prstGeom prst="rect">
            <a:avLst/>
          </a:prstGeom>
        </p:spPr>
      </p:pic>
      <p:sp>
        <p:nvSpPr>
          <p:cNvPr id="57" name="Text 49"/>
          <p:cNvSpPr/>
          <p:nvPr/>
        </p:nvSpPr>
        <p:spPr>
          <a:xfrm>
            <a:off x="7424928" y="5522976"/>
            <a:ext cx="4050792" cy="274320"/>
          </a:xfrm>
          <a:prstGeom prst="rect">
            <a:avLst/>
          </a:prstGeom>
          <a:noFill/>
          <a:ln/>
        </p:spPr>
        <p:txBody>
          <a:bodyPr wrap="square" lIns="0" tIns="0" rIns="0" bIns="0" rtlCol="0" anchor="ctr"/>
          <a:lstStyle/>
          <a:p>
            <a:pPr indent="0" marL="0">
              <a:buNone/>
            </a:pPr>
            <a:r>
              <a:rPr lang="en-US" sz="1350" b="1" dirty="0">
                <a:solidFill>
                  <a:srgbClr val="38BDF8"/>
                </a:solidFill>
                <a:latin typeface="Calibri" pitchFamily="34" charset="0"/>
                <a:ea typeface="Calibri" pitchFamily="34" charset="-122"/>
                <a:cs typeface="Calibri" pitchFamily="34" charset="-120"/>
              </a:rPr>
              <a:t>Call Stack</a:t>
            </a:r>
            <a:endParaRPr lang="en-US" sz="1350" dirty="0"/>
          </a:p>
        </p:txBody>
      </p:sp>
      <p:sp>
        <p:nvSpPr>
          <p:cNvPr id="58" name="Text 50"/>
          <p:cNvSpPr/>
          <p:nvPr/>
        </p:nvSpPr>
        <p:spPr>
          <a:xfrm>
            <a:off x="7424928" y="5815584"/>
            <a:ext cx="4050792"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die Kette der Methodenaufrufe nachvollziehen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04 · DEBUGGING</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Tests und Debugging arbeiten zusammen</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Text 9"/>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03 Teststufen</a:t>
            </a:r>
            <a:endParaRPr lang="en-US" sz="950" dirty="0"/>
          </a:p>
        </p:txBody>
      </p:sp>
      <p:sp>
        <p:nvSpPr>
          <p:cNvPr id="12" name="Shape 10"/>
          <p:cNvSpPr/>
          <p:nvPr/>
        </p:nvSpPr>
        <p:spPr>
          <a:xfrm>
            <a:off x="7464339"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3" name="Shape 11"/>
          <p:cNvSpPr/>
          <p:nvPr/>
        </p:nvSpPr>
        <p:spPr>
          <a:xfrm>
            <a:off x="7592355" y="6560820"/>
            <a:ext cx="64008" cy="64008"/>
          </a:xfrm>
          <a:prstGeom prst="ellipse">
            <a:avLst/>
          </a:prstGeom>
          <a:solidFill>
            <a:srgbClr val="38BDF8"/>
          </a:solidFill>
          <a:ln/>
        </p:spPr>
      </p:sp>
      <p:sp>
        <p:nvSpPr>
          <p:cNvPr id="14" name="Text 12"/>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04 Debugging</a:t>
            </a:r>
            <a:endParaRPr lang="en-US" sz="950" dirty="0"/>
          </a:p>
        </p:txBody>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dirty="0">
                <a:solidFill>
                  <a:srgbClr val="4E5D74"/>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463040"/>
            <a:ext cx="2514600"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Text 15"/>
          <p:cNvSpPr/>
          <p:nvPr/>
        </p:nvSpPr>
        <p:spPr>
          <a:xfrm>
            <a:off x="640080" y="1463040"/>
            <a:ext cx="2331720" cy="91440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Code schreiben</a:t>
            </a:r>
            <a:endParaRPr lang="en-US" sz="1400" dirty="0"/>
          </a:p>
        </p:txBody>
      </p:sp>
      <p:sp>
        <p:nvSpPr>
          <p:cNvPr id="18" name="Shape 16"/>
          <p:cNvSpPr/>
          <p:nvPr/>
        </p:nvSpPr>
        <p:spPr>
          <a:xfrm>
            <a:off x="3095244" y="1810512"/>
            <a:ext cx="237744" cy="219456"/>
          </a:xfrm>
          <a:prstGeom prst="rightArrow">
            <a:avLst/>
          </a:prstGeom>
          <a:solidFill>
            <a:srgbClr val="5A6B82"/>
          </a:solidFill>
          <a:ln/>
        </p:spPr>
      </p:sp>
      <p:sp>
        <p:nvSpPr>
          <p:cNvPr id="19" name="Shape 17"/>
          <p:cNvSpPr/>
          <p:nvPr/>
        </p:nvSpPr>
        <p:spPr>
          <a:xfrm>
            <a:off x="3364992" y="1463040"/>
            <a:ext cx="2514600"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0" name="Text 18"/>
          <p:cNvSpPr/>
          <p:nvPr/>
        </p:nvSpPr>
        <p:spPr>
          <a:xfrm>
            <a:off x="3456432" y="1463040"/>
            <a:ext cx="2331720" cy="91440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Tests ausführen</a:t>
            </a:r>
            <a:endParaRPr lang="en-US" sz="1400" dirty="0"/>
          </a:p>
        </p:txBody>
      </p:sp>
      <p:sp>
        <p:nvSpPr>
          <p:cNvPr id="21" name="Shape 19"/>
          <p:cNvSpPr/>
          <p:nvPr/>
        </p:nvSpPr>
        <p:spPr>
          <a:xfrm>
            <a:off x="5911596" y="1810512"/>
            <a:ext cx="237744" cy="219456"/>
          </a:xfrm>
          <a:prstGeom prst="rightArrow">
            <a:avLst/>
          </a:prstGeom>
          <a:solidFill>
            <a:srgbClr val="5A6B82"/>
          </a:solidFill>
          <a:ln/>
        </p:spPr>
      </p:sp>
      <p:sp>
        <p:nvSpPr>
          <p:cNvPr id="22" name="Shape 20"/>
          <p:cNvSpPr/>
          <p:nvPr/>
        </p:nvSpPr>
        <p:spPr>
          <a:xfrm>
            <a:off x="6181344" y="1463040"/>
            <a:ext cx="2514600" cy="914400"/>
          </a:xfrm>
          <a:prstGeom prst="roundRect">
            <a:avLst>
              <a:gd name="adj" fmla="val 9000"/>
            </a:avLst>
          </a:prstGeom>
          <a:solidFill>
            <a:srgbClr val="16202F"/>
          </a:solidFill>
          <a:ln w="12700">
            <a:solidFill>
              <a:srgbClr val="F87171">
                <a:alpha val="65000"/>
              </a:srgbClr>
            </a:solidFill>
            <a:prstDash val="solid"/>
          </a:ln>
          <a:effectLst>
            <a:outerShdw sx="100000" sy="100000" kx="0" ky="0" algn="bl" rotWithShape="0" blurRad="101600" dist="38100" dir="5400000">
              <a:srgbClr val="000000">
                <a:alpha val="30000"/>
              </a:srgbClr>
            </a:outerShdw>
          </a:effectLst>
        </p:spPr>
      </p:sp>
      <p:sp>
        <p:nvSpPr>
          <p:cNvPr id="23" name="Text 21"/>
          <p:cNvSpPr/>
          <p:nvPr/>
        </p:nvSpPr>
        <p:spPr>
          <a:xfrm>
            <a:off x="6272784" y="1463040"/>
            <a:ext cx="2331720" cy="914400"/>
          </a:xfrm>
          <a:prstGeom prst="rect">
            <a:avLst/>
          </a:prstGeom>
          <a:noFill/>
          <a:ln/>
        </p:spPr>
        <p:txBody>
          <a:bodyPr wrap="square" lIns="0" tIns="0" rIns="0" bIns="0" rtlCol="0" anchor="ctr"/>
          <a:lstStyle/>
          <a:p>
            <a:pPr algn="ctr" indent="0" marL="0">
              <a:buNone/>
            </a:pPr>
            <a:r>
              <a:rPr lang="en-US" sz="1400" b="1" dirty="0">
                <a:solidFill>
                  <a:srgbClr val="F87171"/>
                </a:solidFill>
                <a:latin typeface="Calibri" pitchFamily="34" charset="0"/>
                <a:ea typeface="Calibri" pitchFamily="34" charset="-122"/>
                <a:cs typeface="Calibri" pitchFamily="34" charset="-120"/>
              </a:rPr>
              <a:t>Test schlägt fehl  ✗</a:t>
            </a:r>
            <a:endParaRPr lang="en-US" sz="1400" dirty="0"/>
          </a:p>
        </p:txBody>
      </p:sp>
      <p:sp>
        <p:nvSpPr>
          <p:cNvPr id="24" name="Shape 22"/>
          <p:cNvSpPr/>
          <p:nvPr/>
        </p:nvSpPr>
        <p:spPr>
          <a:xfrm>
            <a:off x="8727948" y="1810512"/>
            <a:ext cx="237744" cy="219456"/>
          </a:xfrm>
          <a:prstGeom prst="rightArrow">
            <a:avLst/>
          </a:prstGeom>
          <a:solidFill>
            <a:srgbClr val="5A6B82"/>
          </a:solidFill>
          <a:ln/>
        </p:spPr>
      </p:sp>
      <p:sp>
        <p:nvSpPr>
          <p:cNvPr id="25" name="Shape 23"/>
          <p:cNvSpPr/>
          <p:nvPr/>
        </p:nvSpPr>
        <p:spPr>
          <a:xfrm>
            <a:off x="8997696" y="1463040"/>
            <a:ext cx="2514600" cy="914400"/>
          </a:xfrm>
          <a:prstGeom prst="roundRect">
            <a:avLst>
              <a:gd name="adj" fmla="val 9000"/>
            </a:avLst>
          </a:prstGeom>
          <a:solidFill>
            <a:srgbClr val="16202F"/>
          </a:solidFill>
          <a:ln w="12700">
            <a:solidFill>
              <a:srgbClr val="38BDF8">
                <a:alpha val="65000"/>
              </a:srgbClr>
            </a:solidFill>
            <a:prstDash val="solid"/>
          </a:ln>
          <a:effectLst>
            <a:outerShdw sx="100000" sy="100000" kx="0" ky="0" algn="bl" rotWithShape="0" blurRad="101600" dist="38100" dir="5400000">
              <a:srgbClr val="000000">
                <a:alpha val="30000"/>
              </a:srgbClr>
            </a:outerShdw>
          </a:effectLst>
        </p:spPr>
      </p:sp>
      <p:sp>
        <p:nvSpPr>
          <p:cNvPr id="26" name="Text 24"/>
          <p:cNvSpPr/>
          <p:nvPr/>
        </p:nvSpPr>
        <p:spPr>
          <a:xfrm>
            <a:off x="9089136" y="1463040"/>
            <a:ext cx="2331720" cy="914400"/>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Debugging</a:t>
            </a:r>
            <a:endParaRPr lang="en-US" sz="1400" dirty="0"/>
          </a:p>
        </p:txBody>
      </p:sp>
      <p:sp>
        <p:nvSpPr>
          <p:cNvPr id="27" name="Shape 25"/>
          <p:cNvSpPr/>
          <p:nvPr/>
        </p:nvSpPr>
        <p:spPr>
          <a:xfrm>
            <a:off x="548640" y="3063240"/>
            <a:ext cx="2514600" cy="914400"/>
          </a:xfrm>
          <a:prstGeom prst="roundRect">
            <a:avLst>
              <a:gd name="adj" fmla="val 9000"/>
            </a:avLst>
          </a:prstGeom>
          <a:solidFill>
            <a:srgbClr val="16202F"/>
          </a:solidFill>
          <a:ln w="12700">
            <a:solidFill>
              <a:srgbClr val="4ADE80">
                <a:alpha val="65000"/>
              </a:srgbClr>
            </a:solidFill>
            <a:prstDash val="solid"/>
          </a:ln>
          <a:effectLst>
            <a:outerShdw sx="100000" sy="100000" kx="0" ky="0" algn="bl" rotWithShape="0" blurRad="101600" dist="38100" dir="5400000">
              <a:srgbClr val="000000">
                <a:alpha val="30000"/>
              </a:srgbClr>
            </a:outerShdw>
          </a:effectLst>
        </p:spPr>
      </p:sp>
      <p:sp>
        <p:nvSpPr>
          <p:cNvPr id="28" name="Text 26"/>
          <p:cNvSpPr/>
          <p:nvPr/>
        </p:nvSpPr>
        <p:spPr>
          <a:xfrm>
            <a:off x="640080" y="3063240"/>
            <a:ext cx="2331720" cy="91440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Test erfolgreich  ✓</a:t>
            </a:r>
            <a:endParaRPr lang="en-US" sz="1400" dirty="0"/>
          </a:p>
        </p:txBody>
      </p:sp>
      <p:sp>
        <p:nvSpPr>
          <p:cNvPr id="29" name="Shape 27"/>
          <p:cNvSpPr/>
          <p:nvPr/>
        </p:nvSpPr>
        <p:spPr>
          <a:xfrm>
            <a:off x="3364992" y="3063240"/>
            <a:ext cx="2514600"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0" name="Text 28"/>
          <p:cNvSpPr/>
          <p:nvPr/>
        </p:nvSpPr>
        <p:spPr>
          <a:xfrm>
            <a:off x="3456432" y="3063240"/>
            <a:ext cx="2331720" cy="91440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Test erneut ausführen</a:t>
            </a:r>
            <a:endParaRPr lang="en-US" sz="1400" dirty="0"/>
          </a:p>
        </p:txBody>
      </p:sp>
      <p:sp>
        <p:nvSpPr>
          <p:cNvPr id="31" name="Shape 29"/>
          <p:cNvSpPr/>
          <p:nvPr/>
        </p:nvSpPr>
        <p:spPr>
          <a:xfrm>
            <a:off x="3095244" y="3410712"/>
            <a:ext cx="237744" cy="219456"/>
          </a:xfrm>
          <a:prstGeom prst="leftArrow">
            <a:avLst/>
          </a:prstGeom>
          <a:solidFill>
            <a:srgbClr val="5A6B82"/>
          </a:solidFill>
          <a:ln/>
        </p:spPr>
      </p:sp>
      <p:sp>
        <p:nvSpPr>
          <p:cNvPr id="32" name="Shape 30"/>
          <p:cNvSpPr/>
          <p:nvPr/>
        </p:nvSpPr>
        <p:spPr>
          <a:xfrm>
            <a:off x="6181344" y="3063240"/>
            <a:ext cx="2514600" cy="914400"/>
          </a:xfrm>
          <a:prstGeom prst="roundRect">
            <a:avLst>
              <a:gd name="adj" fmla="val 9000"/>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3" name="Text 31"/>
          <p:cNvSpPr/>
          <p:nvPr/>
        </p:nvSpPr>
        <p:spPr>
          <a:xfrm>
            <a:off x="6272784" y="3063240"/>
            <a:ext cx="2331720" cy="91440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Fehler beheben</a:t>
            </a:r>
            <a:endParaRPr lang="en-US" sz="1400" dirty="0"/>
          </a:p>
        </p:txBody>
      </p:sp>
      <p:sp>
        <p:nvSpPr>
          <p:cNvPr id="34" name="Shape 32"/>
          <p:cNvSpPr/>
          <p:nvPr/>
        </p:nvSpPr>
        <p:spPr>
          <a:xfrm>
            <a:off x="5911596" y="3410712"/>
            <a:ext cx="237744" cy="219456"/>
          </a:xfrm>
          <a:prstGeom prst="leftArrow">
            <a:avLst/>
          </a:prstGeom>
          <a:solidFill>
            <a:srgbClr val="5A6B82"/>
          </a:solidFill>
          <a:ln/>
        </p:spPr>
      </p:sp>
      <p:sp>
        <p:nvSpPr>
          <p:cNvPr id="35" name="Shape 33"/>
          <p:cNvSpPr/>
          <p:nvPr/>
        </p:nvSpPr>
        <p:spPr>
          <a:xfrm>
            <a:off x="8997696" y="3063240"/>
            <a:ext cx="2514600" cy="914400"/>
          </a:xfrm>
          <a:prstGeom prst="roundRect">
            <a:avLst>
              <a:gd name="adj" fmla="val 9000"/>
            </a:avLst>
          </a:prstGeom>
          <a:solidFill>
            <a:srgbClr val="16202F"/>
          </a:solidFill>
          <a:ln w="12700">
            <a:solidFill>
              <a:srgbClr val="38BDF8">
                <a:alpha val="65000"/>
              </a:srgbClr>
            </a:solidFill>
            <a:prstDash val="solid"/>
          </a:ln>
          <a:effectLst>
            <a:outerShdw sx="100000" sy="100000" kx="0" ky="0" algn="bl" rotWithShape="0" blurRad="101600" dist="38100" dir="5400000">
              <a:srgbClr val="000000">
                <a:alpha val="30000"/>
              </a:srgbClr>
            </a:outerShdw>
          </a:effectLst>
        </p:spPr>
      </p:sp>
      <p:sp>
        <p:nvSpPr>
          <p:cNvPr id="36" name="Text 34"/>
          <p:cNvSpPr/>
          <p:nvPr/>
        </p:nvSpPr>
        <p:spPr>
          <a:xfrm>
            <a:off x="9089136" y="3063240"/>
            <a:ext cx="2331720" cy="914400"/>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Fehler finden</a:t>
            </a:r>
            <a:endParaRPr lang="en-US" sz="1400" dirty="0"/>
          </a:p>
        </p:txBody>
      </p:sp>
      <p:sp>
        <p:nvSpPr>
          <p:cNvPr id="37" name="Shape 35"/>
          <p:cNvSpPr/>
          <p:nvPr/>
        </p:nvSpPr>
        <p:spPr>
          <a:xfrm>
            <a:off x="8727948" y="3410712"/>
            <a:ext cx="237744" cy="219456"/>
          </a:xfrm>
          <a:prstGeom prst="leftArrow">
            <a:avLst/>
          </a:prstGeom>
          <a:solidFill>
            <a:srgbClr val="5A6B82"/>
          </a:solidFill>
          <a:ln/>
        </p:spPr>
      </p:sp>
      <p:sp>
        <p:nvSpPr>
          <p:cNvPr id="38" name="Shape 36"/>
          <p:cNvSpPr/>
          <p:nvPr/>
        </p:nvSpPr>
        <p:spPr>
          <a:xfrm>
            <a:off x="10145268" y="2505456"/>
            <a:ext cx="219456" cy="420624"/>
          </a:xfrm>
          <a:prstGeom prst="downArrow">
            <a:avLst/>
          </a:prstGeom>
          <a:solidFill>
            <a:srgbClr val="38BDF8"/>
          </a:solidFill>
          <a:ln/>
        </p:spPr>
      </p:sp>
      <p:sp>
        <p:nvSpPr>
          <p:cNvPr id="39" name="Shape 37"/>
          <p:cNvSpPr/>
          <p:nvPr/>
        </p:nvSpPr>
        <p:spPr>
          <a:xfrm>
            <a:off x="1696212" y="2505456"/>
            <a:ext cx="219456" cy="420624"/>
          </a:xfrm>
          <a:prstGeom prst="upArrow">
            <a:avLst/>
          </a:prstGeom>
          <a:solidFill>
            <a:srgbClr val="4ADE80"/>
          </a:solidFill>
          <a:ln/>
        </p:spPr>
      </p:sp>
      <p:sp>
        <p:nvSpPr>
          <p:cNvPr id="40" name="Text 38"/>
          <p:cNvSpPr/>
          <p:nvPr/>
        </p:nvSpPr>
        <p:spPr>
          <a:xfrm>
            <a:off x="320040" y="4087368"/>
            <a:ext cx="2971800" cy="274320"/>
          </a:xfrm>
          <a:prstGeom prst="rect">
            <a:avLst/>
          </a:prstGeom>
          <a:noFill/>
          <a:ln/>
        </p:spPr>
        <p:txBody>
          <a:bodyPr wrap="square" lIns="0" tIns="0" rIns="0" bIns="0" rtlCol="0" anchor="ctr"/>
          <a:lstStyle/>
          <a:p>
            <a:pPr algn="ctr" indent="0" marL="0">
              <a:buNone/>
            </a:pPr>
            <a:r>
              <a:rPr lang="en-US" sz="1000" i="1" dirty="0">
                <a:solidFill>
                  <a:srgbClr val="5A6B82"/>
                </a:solidFill>
                <a:latin typeface="Calibri" pitchFamily="34" charset="0"/>
                <a:ea typeface="Calibri" pitchFamily="34" charset="-122"/>
                <a:cs typeface="Calibri" pitchFamily="34" charset="-120"/>
              </a:rPr>
              <a:t>und weiter geht’s mit dem nächsten Feature</a:t>
            </a:r>
            <a:endParaRPr lang="en-US" sz="1000" dirty="0"/>
          </a:p>
        </p:txBody>
      </p:sp>
      <p:sp>
        <p:nvSpPr>
          <p:cNvPr id="41" name="Shape 39"/>
          <p:cNvSpPr/>
          <p:nvPr/>
        </p:nvSpPr>
        <p:spPr>
          <a:xfrm>
            <a:off x="1984248" y="4892040"/>
            <a:ext cx="8229600" cy="1097280"/>
          </a:xfrm>
          <a:prstGeom prst="roundRect">
            <a:avLst>
              <a:gd name="adj" fmla="val 7500"/>
            </a:avLst>
          </a:prstGeom>
          <a:solidFill>
            <a:srgbClr val="10283A"/>
          </a:solidFill>
          <a:ln w="19050">
            <a:solidFill>
              <a:srgbClr val="38BDF8">
                <a:alpha val="70000"/>
              </a:srgbClr>
            </a:solidFill>
            <a:prstDash val="solid"/>
          </a:ln>
          <a:effectLst>
            <a:outerShdw sx="100000" sy="100000" kx="0" ky="0" algn="bl" rotWithShape="0" blurRad="101600" dist="38100" dir="5400000">
              <a:srgbClr val="000000">
                <a:alpha val="30000"/>
              </a:srgbClr>
            </a:outerShdw>
          </a:effectLst>
        </p:spPr>
      </p:sp>
      <p:sp>
        <p:nvSpPr>
          <p:cNvPr id="42" name="Text 40"/>
          <p:cNvSpPr/>
          <p:nvPr/>
        </p:nvSpPr>
        <p:spPr>
          <a:xfrm>
            <a:off x="1984248" y="4892040"/>
            <a:ext cx="8229600" cy="1097280"/>
          </a:xfrm>
          <a:prstGeom prst="rect">
            <a:avLst/>
          </a:prstGeom>
          <a:noFill/>
          <a:ln/>
        </p:spPr>
        <p:txBody>
          <a:bodyPr wrap="square" lIns="0" tIns="0" rIns="0" bIns="0" rtlCol="0" anchor="ctr"/>
          <a:lstStyle/>
          <a:p>
            <a:pPr algn="ctr" indent="0" marL="0">
              <a:buNone/>
            </a:pPr>
            <a:r>
              <a:rPr lang="en-US" sz="2000" b="1" dirty="0">
                <a:solidFill>
                  <a:srgbClr val="38BDF8"/>
                </a:solidFill>
                <a:latin typeface="Calibri" pitchFamily="34" charset="0"/>
                <a:ea typeface="Calibri" pitchFamily="34" charset="-122"/>
                <a:cs typeface="Calibri" pitchFamily="34" charset="-120"/>
              </a:rPr>
              <a:t>Tests</a:t>
            </a:r>
            <a:pPr algn="ctr" indent="0" marL="0">
              <a:buNone/>
            </a:pPr>
            <a:r>
              <a:rPr lang="en-US" sz="2000" b="1" dirty="0">
                <a:solidFill>
                  <a:srgbClr val="F1F5F9"/>
                </a:solidFill>
                <a:latin typeface="Calibri" pitchFamily="34" charset="0"/>
                <a:ea typeface="Calibri" pitchFamily="34" charset="-122"/>
                <a:cs typeface="Calibri" pitchFamily="34" charset="-120"/>
              </a:rPr>
              <a:t> finden Probleme.  </a:t>
            </a:r>
            <a:pPr algn="ctr" indent="0" marL="0">
              <a:buNone/>
            </a:pPr>
            <a:r>
              <a:rPr lang="en-US" sz="2000" b="1" dirty="0">
                <a:solidFill>
                  <a:srgbClr val="4ADE80"/>
                </a:solidFill>
                <a:latin typeface="Calibri" pitchFamily="34" charset="0"/>
                <a:ea typeface="Calibri" pitchFamily="34" charset="-122"/>
                <a:cs typeface="Calibri" pitchFamily="34" charset="-120"/>
              </a:rPr>
              <a:t>Debugging</a:t>
            </a:r>
            <a:pPr algn="ctr" indent="0" marL="0">
              <a:buNone/>
            </a:pPr>
            <a:r>
              <a:rPr lang="en-US" sz="2000" b="1" dirty="0">
                <a:solidFill>
                  <a:srgbClr val="F1F5F9"/>
                </a:solidFill>
                <a:latin typeface="Calibri" pitchFamily="34" charset="0"/>
                <a:ea typeface="Calibri" pitchFamily="34" charset="-122"/>
                <a:cs typeface="Calibri" pitchFamily="34" charset="-120"/>
              </a:rPr>
              <a:t> findet die Ursache.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420"/>
        </a:solidFill>
      </p:bgPr>
    </p:bg>
    <p:spTree>
      <p:nvGrpSpPr>
        <p:cNvPr id="1" name=""/>
        <p:cNvGrpSpPr/>
        <p:nvPr/>
      </p:nvGrpSpPr>
      <p:grpSpPr>
        <a:xfrm>
          <a:off x="0" y="0"/>
          <a:ext cx="0" cy="0"/>
          <a:chOff x="0" y="0"/>
          <a:chExt cx="0" cy="0"/>
        </a:xfrm>
      </p:grpSpPr>
      <p:sp>
        <p:nvSpPr>
          <p:cNvPr id="2" name="Text 0"/>
          <p:cNvSpPr/>
          <p:nvPr/>
        </p:nvSpPr>
        <p:spPr>
          <a:xfrm>
            <a:off x="548640" y="274320"/>
            <a:ext cx="7315200" cy="256032"/>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05 · FAZIT</a:t>
            </a:r>
            <a:endParaRPr lang="en-US" sz="1100" dirty="0"/>
          </a:p>
        </p:txBody>
      </p:sp>
      <p:sp>
        <p:nvSpPr>
          <p:cNvPr id="3" name="Text 1"/>
          <p:cNvSpPr/>
          <p:nvPr/>
        </p:nvSpPr>
        <p:spPr>
          <a:xfrm>
            <a:off x="548640" y="530352"/>
            <a:ext cx="10515600" cy="566928"/>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Fazit</a:t>
            </a:r>
            <a:endParaRPr lang="en-US" sz="2700" dirty="0"/>
          </a:p>
        </p:txBody>
      </p:sp>
      <p:sp>
        <p:nvSpPr>
          <p:cNvPr id="4" name="Text 2"/>
          <p:cNvSpPr/>
          <p:nvPr/>
        </p:nvSpPr>
        <p:spPr>
          <a:xfrm>
            <a:off x="11475720" y="201168"/>
            <a:ext cx="411480" cy="27432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2538923" y="6592824"/>
            <a:ext cx="402336" cy="0"/>
          </a:xfrm>
          <a:prstGeom prst="line">
            <a:avLst/>
          </a:prstGeom>
          <a:noFill/>
          <a:ln w="12700">
            <a:solidFill>
              <a:srgbClr val="2B3B52"/>
            </a:solidFill>
            <a:prstDash val="solid"/>
          </a:ln>
        </p:spPr>
      </p:sp>
      <p:sp>
        <p:nvSpPr>
          <p:cNvPr id="6" name="Shape 4"/>
          <p:cNvSpPr/>
          <p:nvPr/>
        </p:nvSpPr>
        <p:spPr>
          <a:xfrm>
            <a:off x="4776094" y="6592824"/>
            <a:ext cx="402336" cy="0"/>
          </a:xfrm>
          <a:prstGeom prst="line">
            <a:avLst/>
          </a:prstGeom>
          <a:noFill/>
          <a:ln w="12700">
            <a:solidFill>
              <a:srgbClr val="2B3B52"/>
            </a:solidFill>
            <a:prstDash val="solid"/>
          </a:ln>
        </p:spPr>
      </p:sp>
      <p:sp>
        <p:nvSpPr>
          <p:cNvPr id="7" name="Shape 5"/>
          <p:cNvSpPr/>
          <p:nvPr/>
        </p:nvSpPr>
        <p:spPr>
          <a:xfrm>
            <a:off x="7013265" y="6592824"/>
            <a:ext cx="402336" cy="0"/>
          </a:xfrm>
          <a:prstGeom prst="line">
            <a:avLst/>
          </a:prstGeom>
          <a:noFill/>
          <a:ln w="12700">
            <a:solidFill>
              <a:srgbClr val="2B3B52"/>
            </a:solidFill>
            <a:prstDash val="solid"/>
          </a:ln>
        </p:spPr>
      </p:sp>
      <p:sp>
        <p:nvSpPr>
          <p:cNvPr id="8" name="Shape 6"/>
          <p:cNvSpPr/>
          <p:nvPr/>
        </p:nvSpPr>
        <p:spPr>
          <a:xfrm>
            <a:off x="9250436" y="6592824"/>
            <a:ext cx="402336" cy="0"/>
          </a:xfrm>
          <a:prstGeom prst="line">
            <a:avLst/>
          </a:prstGeom>
          <a:noFill/>
          <a:ln w="12700">
            <a:solidFill>
              <a:srgbClr val="2B3B52"/>
            </a:solidFill>
            <a:prstDash val="solid"/>
          </a:ln>
        </p:spPr>
      </p:sp>
      <p:sp>
        <p:nvSpPr>
          <p:cNvPr id="9" name="Text 7"/>
          <p:cNvSpPr/>
          <p:nvPr/>
        </p:nvSpPr>
        <p:spPr>
          <a:xfrm>
            <a:off x="502920"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01 Grundlagen</a:t>
            </a:r>
            <a:endParaRPr lang="en-US" sz="950" dirty="0"/>
          </a:p>
        </p:txBody>
      </p:sp>
      <p:sp>
        <p:nvSpPr>
          <p:cNvPr id="10" name="Text 8"/>
          <p:cNvSpPr/>
          <p:nvPr/>
        </p:nvSpPr>
        <p:spPr>
          <a:xfrm>
            <a:off x="2740091"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02 Unit Tests</a:t>
            </a:r>
            <a:endParaRPr lang="en-US" sz="950" dirty="0"/>
          </a:p>
        </p:txBody>
      </p:sp>
      <p:sp>
        <p:nvSpPr>
          <p:cNvPr id="11" name="Text 9"/>
          <p:cNvSpPr/>
          <p:nvPr/>
        </p:nvSpPr>
        <p:spPr>
          <a:xfrm>
            <a:off x="4977262"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03 Teststufen</a:t>
            </a:r>
            <a:endParaRPr lang="en-US" sz="950" dirty="0"/>
          </a:p>
        </p:txBody>
      </p:sp>
      <p:sp>
        <p:nvSpPr>
          <p:cNvPr id="12" name="Text 10"/>
          <p:cNvSpPr/>
          <p:nvPr/>
        </p:nvSpPr>
        <p:spPr>
          <a:xfrm>
            <a:off x="7214433" y="6446520"/>
            <a:ext cx="2237171" cy="292608"/>
          </a:xfrm>
          <a:prstGeom prst="rect">
            <a:avLst/>
          </a:prstGeom>
          <a:noFill/>
          <a:ln/>
        </p:spPr>
        <p:txBody>
          <a:bodyPr wrap="square" lIns="0" tIns="0" rIns="0" bIns="0" rtlCol="0" anchor="ctr"/>
          <a:lstStyle/>
          <a:p>
            <a:pPr algn="ctr" indent="0" marL="0">
              <a:buNone/>
            </a:pPr>
            <a:r>
              <a:rPr lang="en-US" sz="950" dirty="0">
                <a:solidFill>
                  <a:srgbClr val="8FA3BC"/>
                </a:solidFill>
                <a:latin typeface="Calibri" pitchFamily="34" charset="0"/>
                <a:ea typeface="Calibri" pitchFamily="34" charset="-122"/>
                <a:cs typeface="Calibri" pitchFamily="34" charset="-120"/>
              </a:rPr>
              <a:t>04 Debugging</a:t>
            </a:r>
            <a:endParaRPr lang="en-US" sz="950" dirty="0"/>
          </a:p>
        </p:txBody>
      </p:sp>
      <p:sp>
        <p:nvSpPr>
          <p:cNvPr id="13" name="Shape 11"/>
          <p:cNvSpPr/>
          <p:nvPr/>
        </p:nvSpPr>
        <p:spPr>
          <a:xfrm>
            <a:off x="9701510" y="6446520"/>
            <a:ext cx="1737360" cy="292608"/>
          </a:xfrm>
          <a:prstGeom prst="roundRect">
            <a:avLst>
              <a:gd name="adj" fmla="val 50000"/>
            </a:avLst>
          </a:prstGeom>
          <a:solidFill>
            <a:srgbClr val="38BDF8">
              <a:alpha val="12000"/>
            </a:srgbClr>
          </a:solidFill>
          <a:ln w="12700">
            <a:solidFill>
              <a:srgbClr val="38BDF8">
                <a:alpha val="45000"/>
              </a:srgbClr>
            </a:solidFill>
            <a:prstDash val="solid"/>
          </a:ln>
        </p:spPr>
      </p:sp>
      <p:sp>
        <p:nvSpPr>
          <p:cNvPr id="14" name="Shape 12"/>
          <p:cNvSpPr/>
          <p:nvPr/>
        </p:nvSpPr>
        <p:spPr>
          <a:xfrm>
            <a:off x="9829526" y="6560820"/>
            <a:ext cx="64008" cy="64008"/>
          </a:xfrm>
          <a:prstGeom prst="ellipse">
            <a:avLst/>
          </a:prstGeom>
          <a:solidFill>
            <a:srgbClr val="38BDF8"/>
          </a:solidFill>
          <a:ln/>
        </p:spPr>
      </p:sp>
      <p:sp>
        <p:nvSpPr>
          <p:cNvPr id="15" name="Text 13"/>
          <p:cNvSpPr/>
          <p:nvPr/>
        </p:nvSpPr>
        <p:spPr>
          <a:xfrm>
            <a:off x="9451604" y="6446520"/>
            <a:ext cx="2237171" cy="292608"/>
          </a:xfrm>
          <a:prstGeom prst="rect">
            <a:avLst/>
          </a:prstGeom>
          <a:noFill/>
          <a:ln/>
        </p:spPr>
        <p:txBody>
          <a:bodyPr wrap="square" lIns="0" tIns="0" rIns="0" bIns="0"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05 Fazit</a:t>
            </a:r>
            <a:endParaRPr lang="en-US" sz="950" dirty="0"/>
          </a:p>
        </p:txBody>
      </p:sp>
      <p:sp>
        <p:nvSpPr>
          <p:cNvPr id="16" name="Shape 14"/>
          <p:cNvSpPr/>
          <p:nvPr/>
        </p:nvSpPr>
        <p:spPr>
          <a:xfrm>
            <a:off x="548640" y="1371600"/>
            <a:ext cx="5486400" cy="1207008"/>
          </a:xfrm>
          <a:prstGeom prst="roundRect">
            <a:avLst>
              <a:gd name="adj" fmla="val 681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17" name="Shape 15"/>
          <p:cNvSpPr/>
          <p:nvPr/>
        </p:nvSpPr>
        <p:spPr>
          <a:xfrm>
            <a:off x="777240" y="1691640"/>
            <a:ext cx="566928" cy="566928"/>
          </a:xfrm>
          <a:prstGeom prst="ellipse">
            <a:avLst/>
          </a:prstGeom>
          <a:solidFill>
            <a:srgbClr val="0D1420"/>
          </a:solidFill>
          <a:ln w="12700">
            <a:solidFill>
              <a:srgbClr val="2B3B52"/>
            </a:solidFill>
            <a:prstDash val="solid"/>
          </a:ln>
        </p:spPr>
      </p:sp>
      <p:pic>
        <p:nvPicPr>
          <p:cNvPr id="18" name="Image 0" descr="/tmp/claude-0/-home-user-Test-Scatterpoint/4a189312-3458-5f65-a7f5-9710b6e532c7/scratchpad/icons/codeWhite.png">    </p:cNvPr>
          <p:cNvPicPr>
            <a:picLocks noChangeAspect="1"/>
          </p:cNvPicPr>
          <p:nvPr/>
        </p:nvPicPr>
        <p:blipFill>
          <a:blip r:embed="rId1"/>
          <a:stretch>
            <a:fillRect/>
          </a:stretch>
        </p:blipFill>
        <p:spPr>
          <a:xfrm>
            <a:off x="924641" y="1839041"/>
            <a:ext cx="272125" cy="272125"/>
          </a:xfrm>
          <a:prstGeom prst="rect">
            <a:avLst/>
          </a:prstGeom>
        </p:spPr>
      </p:pic>
      <p:sp>
        <p:nvSpPr>
          <p:cNvPr id="19" name="Text 16"/>
          <p:cNvSpPr/>
          <p:nvPr/>
        </p:nvSpPr>
        <p:spPr>
          <a:xfrm>
            <a:off x="1536192" y="1591056"/>
            <a:ext cx="4297680" cy="329184"/>
          </a:xfrm>
          <a:prstGeom prst="rect">
            <a:avLst/>
          </a:prstGeom>
          <a:noFill/>
          <a:ln/>
        </p:spPr>
        <p:txBody>
          <a:bodyPr wrap="square" lIns="0" tIns="0" rIns="0" bIns="0" rtlCol="0" anchor="ctr"/>
          <a:lstStyle/>
          <a:p>
            <a:pPr indent="0" marL="0">
              <a:buNone/>
            </a:pPr>
            <a:r>
              <a:rPr lang="en-US" sz="1650" b="1" dirty="0">
                <a:solidFill>
                  <a:srgbClr val="F1F5F9"/>
                </a:solidFill>
                <a:latin typeface="Calibri" pitchFamily="34" charset="0"/>
                <a:ea typeface="Calibri" pitchFamily="34" charset="-122"/>
                <a:cs typeface="Calibri" pitchFamily="34" charset="-120"/>
              </a:rPr>
              <a:t>Unit Tests</a:t>
            </a:r>
            <a:endParaRPr lang="en-US" sz="1650" dirty="0"/>
          </a:p>
        </p:txBody>
      </p:sp>
      <p:sp>
        <p:nvSpPr>
          <p:cNvPr id="20" name="Text 17"/>
          <p:cNvSpPr/>
          <p:nvPr/>
        </p:nvSpPr>
        <p:spPr>
          <a:xfrm>
            <a:off x="1536192" y="1956816"/>
            <a:ext cx="429768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testen einzelne Funktionen – klein, schnell, isoliert</a:t>
            </a:r>
            <a:endParaRPr lang="en-US" sz="1200" dirty="0"/>
          </a:p>
        </p:txBody>
      </p:sp>
      <p:sp>
        <p:nvSpPr>
          <p:cNvPr id="21" name="Shape 18"/>
          <p:cNvSpPr/>
          <p:nvPr/>
        </p:nvSpPr>
        <p:spPr>
          <a:xfrm>
            <a:off x="6153912" y="1371600"/>
            <a:ext cx="5486400" cy="1207008"/>
          </a:xfrm>
          <a:prstGeom prst="roundRect">
            <a:avLst>
              <a:gd name="adj" fmla="val 681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2" name="Shape 19"/>
          <p:cNvSpPr/>
          <p:nvPr/>
        </p:nvSpPr>
        <p:spPr>
          <a:xfrm>
            <a:off x="6382512" y="1691640"/>
            <a:ext cx="566928" cy="566928"/>
          </a:xfrm>
          <a:prstGeom prst="ellipse">
            <a:avLst/>
          </a:prstGeom>
          <a:solidFill>
            <a:srgbClr val="0D1420"/>
          </a:solidFill>
          <a:ln w="12700">
            <a:solidFill>
              <a:srgbClr val="2B3B52"/>
            </a:solidFill>
            <a:prstDash val="solid"/>
          </a:ln>
        </p:spPr>
      </p:sp>
      <p:pic>
        <p:nvPicPr>
          <p:cNvPr id="23" name="Image 1" descr="/tmp/claude-0/-home-user-Test-Scatterpoint/4a189312-3458-5f65-a7f5-9710b6e532c7/scratchpad/icons/layers.png">    </p:cNvPr>
          <p:cNvPicPr>
            <a:picLocks noChangeAspect="1"/>
          </p:cNvPicPr>
          <p:nvPr/>
        </p:nvPicPr>
        <p:blipFill>
          <a:blip r:embed="rId2"/>
          <a:stretch>
            <a:fillRect/>
          </a:stretch>
        </p:blipFill>
        <p:spPr>
          <a:xfrm>
            <a:off x="6529913" y="1839041"/>
            <a:ext cx="272125" cy="272125"/>
          </a:xfrm>
          <a:prstGeom prst="rect">
            <a:avLst/>
          </a:prstGeom>
        </p:spPr>
      </p:pic>
      <p:sp>
        <p:nvSpPr>
          <p:cNvPr id="24" name="Text 20"/>
          <p:cNvSpPr/>
          <p:nvPr/>
        </p:nvSpPr>
        <p:spPr>
          <a:xfrm>
            <a:off x="7141464" y="1591056"/>
            <a:ext cx="4297680" cy="329184"/>
          </a:xfrm>
          <a:prstGeom prst="rect">
            <a:avLst/>
          </a:prstGeom>
          <a:noFill/>
          <a:ln/>
        </p:spPr>
        <p:txBody>
          <a:bodyPr wrap="square" lIns="0" tIns="0" rIns="0" bIns="0" rtlCol="0" anchor="ctr"/>
          <a:lstStyle/>
          <a:p>
            <a:pPr indent="0" marL="0">
              <a:buNone/>
            </a:pPr>
            <a:r>
              <a:rPr lang="en-US" sz="1650" b="1" dirty="0">
                <a:solidFill>
                  <a:srgbClr val="F1F5F9"/>
                </a:solidFill>
                <a:latin typeface="Calibri" pitchFamily="34" charset="0"/>
                <a:ea typeface="Calibri" pitchFamily="34" charset="-122"/>
                <a:cs typeface="Calibri" pitchFamily="34" charset="-120"/>
              </a:rPr>
              <a:t>Weitere Teststufen</a:t>
            </a:r>
            <a:endParaRPr lang="en-US" sz="1650" dirty="0"/>
          </a:p>
        </p:txBody>
      </p:sp>
      <p:sp>
        <p:nvSpPr>
          <p:cNvPr id="25" name="Text 21"/>
          <p:cNvSpPr/>
          <p:nvPr/>
        </p:nvSpPr>
        <p:spPr>
          <a:xfrm>
            <a:off x="7141464" y="1956816"/>
            <a:ext cx="429768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prüfen immer größere Teile des Systems</a:t>
            </a:r>
            <a:endParaRPr lang="en-US" sz="1200" dirty="0"/>
          </a:p>
        </p:txBody>
      </p:sp>
      <p:sp>
        <p:nvSpPr>
          <p:cNvPr id="26" name="Shape 22"/>
          <p:cNvSpPr/>
          <p:nvPr/>
        </p:nvSpPr>
        <p:spPr>
          <a:xfrm>
            <a:off x="548640" y="2779776"/>
            <a:ext cx="5486400" cy="1207008"/>
          </a:xfrm>
          <a:prstGeom prst="roundRect">
            <a:avLst>
              <a:gd name="adj" fmla="val 681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27" name="Shape 23"/>
          <p:cNvSpPr/>
          <p:nvPr/>
        </p:nvSpPr>
        <p:spPr>
          <a:xfrm>
            <a:off x="777240" y="3099816"/>
            <a:ext cx="566928" cy="566928"/>
          </a:xfrm>
          <a:prstGeom prst="ellipse">
            <a:avLst/>
          </a:prstGeom>
          <a:solidFill>
            <a:srgbClr val="0D1420"/>
          </a:solidFill>
          <a:ln w="12700">
            <a:solidFill>
              <a:srgbClr val="2B3B52"/>
            </a:solidFill>
            <a:prstDash val="solid"/>
          </a:ln>
        </p:spPr>
      </p:sp>
      <p:pic>
        <p:nvPicPr>
          <p:cNvPr id="28" name="Image 2" descr="/tmp/claude-0/-home-user-Test-Scatterpoint/4a189312-3458-5f65-a7f5-9710b6e532c7/scratchpad/icons/shield.png">    </p:cNvPr>
          <p:cNvPicPr>
            <a:picLocks noChangeAspect="1"/>
          </p:cNvPicPr>
          <p:nvPr/>
        </p:nvPicPr>
        <p:blipFill>
          <a:blip r:embed="rId3"/>
          <a:stretch>
            <a:fillRect/>
          </a:stretch>
        </p:blipFill>
        <p:spPr>
          <a:xfrm>
            <a:off x="924641" y="3247217"/>
            <a:ext cx="272125" cy="272125"/>
          </a:xfrm>
          <a:prstGeom prst="rect">
            <a:avLst/>
          </a:prstGeom>
        </p:spPr>
      </p:pic>
      <p:sp>
        <p:nvSpPr>
          <p:cNvPr id="29" name="Text 24"/>
          <p:cNvSpPr/>
          <p:nvPr/>
        </p:nvSpPr>
        <p:spPr>
          <a:xfrm>
            <a:off x="1536192" y="2999232"/>
            <a:ext cx="4297680" cy="329184"/>
          </a:xfrm>
          <a:prstGeom prst="rect">
            <a:avLst/>
          </a:prstGeom>
          <a:noFill/>
          <a:ln/>
        </p:spPr>
        <p:txBody>
          <a:bodyPr wrap="square" lIns="0" tIns="0" rIns="0" bIns="0" rtlCol="0" anchor="ctr"/>
          <a:lstStyle/>
          <a:p>
            <a:pPr indent="0" marL="0">
              <a:buNone/>
            </a:pPr>
            <a:r>
              <a:rPr lang="en-US" sz="1650" b="1" dirty="0">
                <a:solidFill>
                  <a:srgbClr val="F1F5F9"/>
                </a:solidFill>
                <a:latin typeface="Calibri" pitchFamily="34" charset="0"/>
                <a:ea typeface="Calibri" pitchFamily="34" charset="-122"/>
                <a:cs typeface="Calibri" pitchFamily="34" charset="-120"/>
              </a:rPr>
              <a:t>Automatisierte Tests</a:t>
            </a:r>
            <a:endParaRPr lang="en-US" sz="1650" dirty="0"/>
          </a:p>
        </p:txBody>
      </p:sp>
      <p:sp>
        <p:nvSpPr>
          <p:cNvPr id="30" name="Text 25"/>
          <p:cNvSpPr/>
          <p:nvPr/>
        </p:nvSpPr>
        <p:spPr>
          <a:xfrm>
            <a:off x="1536192" y="3364992"/>
            <a:ext cx="429768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schützen dauerhaft vor neuen Fehlern</a:t>
            </a:r>
            <a:endParaRPr lang="en-US" sz="1200" dirty="0"/>
          </a:p>
        </p:txBody>
      </p:sp>
      <p:sp>
        <p:nvSpPr>
          <p:cNvPr id="31" name="Shape 26"/>
          <p:cNvSpPr/>
          <p:nvPr/>
        </p:nvSpPr>
        <p:spPr>
          <a:xfrm>
            <a:off x="6153912" y="2779776"/>
            <a:ext cx="5486400" cy="1207008"/>
          </a:xfrm>
          <a:prstGeom prst="roundRect">
            <a:avLst>
              <a:gd name="adj" fmla="val 6818"/>
            </a:avLst>
          </a:prstGeom>
          <a:solidFill>
            <a:srgbClr val="16202F"/>
          </a:solidFill>
          <a:ln w="12700">
            <a:solidFill>
              <a:srgbClr val="2B3B52"/>
            </a:solidFill>
            <a:prstDash val="solid"/>
          </a:ln>
          <a:effectLst>
            <a:outerShdw sx="100000" sy="100000" kx="0" ky="0" algn="bl" rotWithShape="0" blurRad="101600" dist="38100" dir="5400000">
              <a:srgbClr val="000000">
                <a:alpha val="30000"/>
              </a:srgbClr>
            </a:outerShdw>
          </a:effectLst>
        </p:spPr>
      </p:sp>
      <p:sp>
        <p:nvSpPr>
          <p:cNvPr id="32" name="Shape 27"/>
          <p:cNvSpPr/>
          <p:nvPr/>
        </p:nvSpPr>
        <p:spPr>
          <a:xfrm>
            <a:off x="6382512" y="3099816"/>
            <a:ext cx="566928" cy="566928"/>
          </a:xfrm>
          <a:prstGeom prst="ellipse">
            <a:avLst/>
          </a:prstGeom>
          <a:solidFill>
            <a:srgbClr val="0D1420"/>
          </a:solidFill>
          <a:ln w="12700">
            <a:solidFill>
              <a:srgbClr val="2B3B52"/>
            </a:solidFill>
            <a:prstDash val="solid"/>
          </a:ln>
        </p:spPr>
      </p:sp>
      <p:pic>
        <p:nvPicPr>
          <p:cNvPr id="33" name="Image 3" descr="/tmp/claude-0/-home-user-Test-Scatterpoint/4a189312-3458-5f65-a7f5-9710b6e532c7/scratchpad/icons/search.png">    </p:cNvPr>
          <p:cNvPicPr>
            <a:picLocks noChangeAspect="1"/>
          </p:cNvPicPr>
          <p:nvPr/>
        </p:nvPicPr>
        <p:blipFill>
          <a:blip r:embed="rId4"/>
          <a:stretch>
            <a:fillRect/>
          </a:stretch>
        </p:blipFill>
        <p:spPr>
          <a:xfrm>
            <a:off x="6529913" y="3247217"/>
            <a:ext cx="272125" cy="272125"/>
          </a:xfrm>
          <a:prstGeom prst="rect">
            <a:avLst/>
          </a:prstGeom>
        </p:spPr>
      </p:pic>
      <p:sp>
        <p:nvSpPr>
          <p:cNvPr id="34" name="Text 28"/>
          <p:cNvSpPr/>
          <p:nvPr/>
        </p:nvSpPr>
        <p:spPr>
          <a:xfrm>
            <a:off x="7141464" y="2999232"/>
            <a:ext cx="4297680" cy="329184"/>
          </a:xfrm>
          <a:prstGeom prst="rect">
            <a:avLst/>
          </a:prstGeom>
          <a:noFill/>
          <a:ln/>
        </p:spPr>
        <p:txBody>
          <a:bodyPr wrap="square" lIns="0" tIns="0" rIns="0" bIns="0" rtlCol="0" anchor="ctr"/>
          <a:lstStyle/>
          <a:p>
            <a:pPr indent="0" marL="0">
              <a:buNone/>
            </a:pPr>
            <a:r>
              <a:rPr lang="en-US" sz="1650" b="1" dirty="0">
                <a:solidFill>
                  <a:srgbClr val="F1F5F9"/>
                </a:solidFill>
                <a:latin typeface="Calibri" pitchFamily="34" charset="0"/>
                <a:ea typeface="Calibri" pitchFamily="34" charset="-122"/>
                <a:cs typeface="Calibri" pitchFamily="34" charset="-120"/>
              </a:rPr>
              <a:t>Debugging</a:t>
            </a:r>
            <a:endParaRPr lang="en-US" sz="1650" dirty="0"/>
          </a:p>
        </p:txBody>
      </p:sp>
      <p:sp>
        <p:nvSpPr>
          <p:cNvPr id="35" name="Text 29"/>
          <p:cNvSpPr/>
          <p:nvPr/>
        </p:nvSpPr>
        <p:spPr>
          <a:xfrm>
            <a:off x="7141464" y="3364992"/>
            <a:ext cx="429768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hilft bei der Suche nach der Fehlerursache</a:t>
            </a:r>
            <a:endParaRPr lang="en-US" sz="1200" dirty="0"/>
          </a:p>
        </p:txBody>
      </p:sp>
      <p:sp>
        <p:nvSpPr>
          <p:cNvPr id="36" name="Shape 30"/>
          <p:cNvSpPr/>
          <p:nvPr/>
        </p:nvSpPr>
        <p:spPr>
          <a:xfrm>
            <a:off x="548640" y="4343400"/>
            <a:ext cx="11091672" cy="1234440"/>
          </a:xfrm>
          <a:prstGeom prst="roundRect">
            <a:avLst>
              <a:gd name="adj" fmla="val 6667"/>
            </a:avLst>
          </a:prstGeom>
          <a:solidFill>
            <a:srgbClr val="10283A"/>
          </a:solidFill>
          <a:ln w="19050">
            <a:solidFill>
              <a:srgbClr val="38BDF8">
                <a:alpha val="75000"/>
              </a:srgbClr>
            </a:solidFill>
            <a:prstDash val="solid"/>
          </a:ln>
          <a:effectLst>
            <a:outerShdw sx="100000" sy="100000" kx="0" ky="0" algn="bl" rotWithShape="0" blurRad="101600" dist="38100" dir="5400000">
              <a:srgbClr val="000000">
                <a:alpha val="30000"/>
              </a:srgbClr>
            </a:outerShdw>
          </a:effectLst>
        </p:spPr>
      </p:sp>
      <p:sp>
        <p:nvSpPr>
          <p:cNvPr id="37" name="Text 31"/>
          <p:cNvSpPr/>
          <p:nvPr/>
        </p:nvSpPr>
        <p:spPr>
          <a:xfrm>
            <a:off x="822960" y="4343400"/>
            <a:ext cx="10543032" cy="1234440"/>
          </a:xfrm>
          <a:prstGeom prst="rect">
            <a:avLst/>
          </a:prstGeom>
          <a:noFill/>
          <a:ln/>
        </p:spPr>
        <p:txBody>
          <a:bodyPr wrap="square" lIns="0" tIns="0" rIns="0" bIns="0" rtlCol="0" anchor="ctr"/>
          <a:lstStyle/>
          <a:p>
            <a:pPr algn="ctr" indent="0" marL="0">
              <a:buNone/>
            </a:pPr>
            <a:r>
              <a:rPr lang="en-US" sz="1900" i="1" dirty="0">
                <a:solidFill>
                  <a:srgbClr val="F1F5F9"/>
                </a:solidFill>
                <a:latin typeface="Calibri" pitchFamily="34" charset="0"/>
                <a:ea typeface="Calibri" pitchFamily="34" charset="-122"/>
                <a:cs typeface="Calibri" pitchFamily="34" charset="-120"/>
              </a:rPr>
              <a:t>„Tests zeigen uns, </a:t>
            </a:r>
            <a:pPr algn="ctr" indent="0" marL="0">
              <a:buNone/>
            </a:pPr>
            <a:r>
              <a:rPr lang="en-US" sz="1900" b="1" i="1" dirty="0">
                <a:solidFill>
                  <a:srgbClr val="38BDF8"/>
                </a:solidFill>
                <a:latin typeface="Calibri" pitchFamily="34" charset="0"/>
                <a:ea typeface="Calibri" pitchFamily="34" charset="-122"/>
                <a:cs typeface="Calibri" pitchFamily="34" charset="-120"/>
              </a:rPr>
              <a:t>dass</a:t>
            </a:r>
            <a:pPr algn="ctr" indent="0" marL="0">
              <a:buNone/>
            </a:pPr>
            <a:r>
              <a:rPr lang="en-US" sz="1900" i="1" dirty="0">
                <a:solidFill>
                  <a:srgbClr val="F1F5F9"/>
                </a:solidFill>
                <a:latin typeface="Calibri" pitchFamily="34" charset="0"/>
                <a:ea typeface="Calibri" pitchFamily="34" charset="-122"/>
                <a:cs typeface="Calibri" pitchFamily="34" charset="-120"/>
              </a:rPr>
              <a:t> etwas nicht funktioniert. Debugging hilft uns herauszufinden, </a:t>
            </a:r>
            <a:pPr algn="ctr" indent="0" marL="0">
              <a:buNone/>
            </a:pPr>
            <a:r>
              <a:rPr lang="en-US" sz="1900" b="1" i="1" dirty="0">
                <a:solidFill>
                  <a:srgbClr val="4ADE80"/>
                </a:solidFill>
                <a:latin typeface="Calibri" pitchFamily="34" charset="0"/>
                <a:ea typeface="Calibri" pitchFamily="34" charset="-122"/>
                <a:cs typeface="Calibri" pitchFamily="34" charset="-120"/>
              </a:rPr>
              <a:t>warum</a:t>
            </a:r>
            <a:pPr algn="ctr" indent="0" marL="0">
              <a:buNone/>
            </a:pPr>
            <a:r>
              <a:rPr lang="en-US" sz="1900" i="1" dirty="0">
                <a:solidFill>
                  <a:srgbClr val="F1F5F9"/>
                </a:solidFill>
                <a:latin typeface="Calibri" pitchFamily="34" charset="0"/>
                <a:ea typeface="Calibri" pitchFamily="34" charset="-122"/>
                <a:cs typeface="Calibri" pitchFamily="34" charset="-120"/>
              </a:rPr>
              <a:t>.“</a:t>
            </a:r>
            <a:endParaRPr lang="en-US" sz="1900" dirty="0"/>
          </a:p>
        </p:txBody>
      </p:sp>
      <p:sp>
        <p:nvSpPr>
          <p:cNvPr id="38" name="Text 32"/>
          <p:cNvSpPr/>
          <p:nvPr/>
        </p:nvSpPr>
        <p:spPr>
          <a:xfrm>
            <a:off x="4270248" y="5806440"/>
            <a:ext cx="3657600" cy="411480"/>
          </a:xfrm>
          <a:prstGeom prst="rect">
            <a:avLst/>
          </a:prstGeom>
          <a:noFill/>
          <a:ln/>
        </p:spPr>
        <p:txBody>
          <a:bodyPr wrap="square" lIns="0" tIns="0" rIns="0" bIns="0" rtlCol="0" anchor="ctr"/>
          <a:lstStyle/>
          <a:p>
            <a:pPr algn="ctr" indent="0" marL="0">
              <a:buNone/>
            </a:pPr>
            <a:r>
              <a:rPr lang="en-US" sz="1700" b="1" dirty="0">
                <a:solidFill>
                  <a:srgbClr val="38BDF8"/>
                </a:solidFill>
                <a:latin typeface="Calibri" pitchFamily="34" charset="0"/>
                <a:ea typeface="Calibri" pitchFamily="34" charset="-122"/>
                <a:cs typeface="Calibri" pitchFamily="34" charset="-120"/>
              </a:rPr>
              <a:t>Fragen?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2026-08-13T09:03:54Z</dcterms:created>
  <dcterms:modified xsi:type="dcterms:W3CDTF">2026-08-13T09:03:54Z</dcterms:modified>
</cp:coreProperties>
</file>